
<file path=[Content_Types].xml><?xml version="1.0" encoding="utf-8"?>
<Types xmlns="http://schemas.openxmlformats.org/package/2006/content-types">
  <Default Extension="jpeg" ContentType="image/jpeg"/>
  <Default Extension="jpg" ContentType="image/jpeg"/>
  <Default Extension="MOV" ContentType="video/quicktime"/>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8"/>
  </p:notesMasterIdLst>
  <p:handoutMasterIdLst>
    <p:handoutMasterId r:id="rId19"/>
  </p:handoutMasterIdLst>
  <p:sldIdLst>
    <p:sldId id="317" r:id="rId5"/>
    <p:sldId id="318" r:id="rId6"/>
    <p:sldId id="319" r:id="rId7"/>
    <p:sldId id="320" r:id="rId8"/>
    <p:sldId id="321" r:id="rId9"/>
    <p:sldId id="263" r:id="rId10"/>
    <p:sldId id="325" r:id="rId11"/>
    <p:sldId id="326" r:id="rId12"/>
    <p:sldId id="331" r:id="rId13"/>
    <p:sldId id="327" r:id="rId14"/>
    <p:sldId id="328" r:id="rId15"/>
    <p:sldId id="329" r:id="rId16"/>
    <p:sldId id="33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5405" autoAdjust="0"/>
  </p:normalViewPr>
  <p:slideViewPr>
    <p:cSldViewPr snapToGrid="0">
      <p:cViewPr varScale="1">
        <p:scale>
          <a:sx n="93" d="100"/>
          <a:sy n="93" d="100"/>
        </p:scale>
        <p:origin x="211" y="86"/>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8/20/2026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8/20/2026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txBody>
          <a:bodyPr/>
          <a:lstStyle/>
          <a:p>
            <a:endParaRPr lang="en-UG"/>
          </a:p>
        </p:txBody>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OV"/><Relationship Id="rId1" Type="http://schemas.microsoft.com/office/2007/relationships/media" Target="../media/media1.MOV"/><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p:txBody>
          <a:bodyPr anchor="ctr"/>
          <a:lstStyle/>
          <a:p>
            <a:r>
              <a:rPr lang="en-GB" sz="4000" dirty="0"/>
              <a:t>Daniel Mayombwe Banadda </a:t>
            </a:r>
            <a:endParaRPr lang="en-US" sz="4000" dirty="0"/>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2E23F-6F51-C4A4-5052-47AA076DA5AA}"/>
              </a:ext>
            </a:extLst>
          </p:cNvPr>
          <p:cNvSpPr>
            <a:spLocks noGrp="1"/>
          </p:cNvSpPr>
          <p:nvPr>
            <p:ph type="title"/>
          </p:nvPr>
        </p:nvSpPr>
        <p:spPr>
          <a:xfrm>
            <a:off x="914399" y="914400"/>
            <a:ext cx="8979243" cy="914400"/>
          </a:xfrm>
        </p:spPr>
        <p:txBody>
          <a:bodyPr/>
          <a:lstStyle/>
          <a:p>
            <a:r>
              <a:rPr lang="en-GB" sz="4800" dirty="0"/>
              <a:t>I come from Uganda, Africa</a:t>
            </a:r>
            <a:endParaRPr lang="en-UG" sz="4800" dirty="0"/>
          </a:p>
        </p:txBody>
      </p:sp>
      <p:sp>
        <p:nvSpPr>
          <p:cNvPr id="8" name="Content Placeholder 7">
            <a:extLst>
              <a:ext uri="{FF2B5EF4-FFF2-40B4-BE49-F238E27FC236}">
                <a16:creationId xmlns:a16="http://schemas.microsoft.com/office/drawing/2014/main" id="{85D9CCE5-EDBA-F096-23DF-4F39ED083927}"/>
              </a:ext>
            </a:extLst>
          </p:cNvPr>
          <p:cNvSpPr>
            <a:spLocks noGrp="1"/>
          </p:cNvSpPr>
          <p:nvPr>
            <p:ph sz="quarter" idx="10"/>
          </p:nvPr>
        </p:nvSpPr>
        <p:spPr>
          <a:xfrm>
            <a:off x="914399" y="2039112"/>
            <a:ext cx="9646509" cy="3356576"/>
          </a:xfrm>
        </p:spPr>
        <p:txBody>
          <a:bodyPr>
            <a:noAutofit/>
          </a:bodyPr>
          <a:lstStyle/>
          <a:p>
            <a:r>
              <a:rPr lang="en-GB" sz="2400" dirty="0"/>
              <a:t>Geographical scale of Uganda; Located in East Africa with an area of 241,038 square kilometres.</a:t>
            </a:r>
          </a:p>
          <a:p>
            <a:r>
              <a:rPr lang="en-GB" sz="2400" dirty="0"/>
              <a:t>It has a total of 146 districts including the capital city Kampala where I was born and where my home residence is.</a:t>
            </a:r>
            <a:endParaRPr lang="en-UG" sz="2400" dirty="0"/>
          </a:p>
        </p:txBody>
      </p:sp>
      <p:sp>
        <p:nvSpPr>
          <p:cNvPr id="4" name="Slide Number Placeholder 3">
            <a:extLst>
              <a:ext uri="{FF2B5EF4-FFF2-40B4-BE49-F238E27FC236}">
                <a16:creationId xmlns:a16="http://schemas.microsoft.com/office/drawing/2014/main" id="{CABB02B5-0356-50CA-1FA6-4016F411C4BC}"/>
              </a:ext>
            </a:extLst>
          </p:cNvPr>
          <p:cNvSpPr>
            <a:spLocks noGrp="1"/>
          </p:cNvSpPr>
          <p:nvPr>
            <p:ph type="sldNum" sz="quarter" idx="4"/>
          </p:nvPr>
        </p:nvSpPr>
        <p:spPr/>
        <p:txBody>
          <a:bodyPr/>
          <a:lstStyle/>
          <a:p>
            <a:fld id="{58FB4751-880F-D840-AAA9-3A15815CC996}" type="slidenum">
              <a:rPr lang="en-US" smtClean="0"/>
              <a:pPr/>
              <a:t>2</a:t>
            </a:fld>
            <a:endParaRPr lang="en-US" dirty="0"/>
          </a:p>
        </p:txBody>
      </p:sp>
    </p:spTree>
    <p:extLst>
      <p:ext uri="{BB962C8B-B14F-4D97-AF65-F5344CB8AC3E}">
        <p14:creationId xmlns:p14="http://schemas.microsoft.com/office/powerpoint/2010/main" val="3899561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29B7E4C-D7DA-2E05-C844-138B99D1BBFC}"/>
              </a:ext>
            </a:extLst>
          </p:cNvPr>
          <p:cNvSpPr>
            <a:spLocks noGrp="1"/>
          </p:cNvSpPr>
          <p:nvPr>
            <p:ph type="title"/>
          </p:nvPr>
        </p:nvSpPr>
        <p:spPr/>
        <p:txBody>
          <a:bodyPr/>
          <a:lstStyle/>
          <a:p>
            <a:r>
              <a:rPr lang="en-GB" sz="4800" dirty="0"/>
              <a:t>Uganda as the Pearl of Africa</a:t>
            </a:r>
            <a:endParaRPr lang="en-UG" sz="4800" dirty="0"/>
          </a:p>
        </p:txBody>
      </p:sp>
      <p:sp>
        <p:nvSpPr>
          <p:cNvPr id="5" name="Slide Number Placeholder 4">
            <a:extLst>
              <a:ext uri="{FF2B5EF4-FFF2-40B4-BE49-F238E27FC236}">
                <a16:creationId xmlns:a16="http://schemas.microsoft.com/office/drawing/2014/main" id="{88E3FB8E-7F22-C3CD-9212-9D733699CE12}"/>
              </a:ext>
            </a:extLst>
          </p:cNvPr>
          <p:cNvSpPr>
            <a:spLocks noGrp="1"/>
          </p:cNvSpPr>
          <p:nvPr>
            <p:ph type="sldNum" sz="quarter" idx="4"/>
          </p:nvPr>
        </p:nvSpPr>
        <p:spPr/>
        <p:txBody>
          <a:bodyPr/>
          <a:lstStyle/>
          <a:p>
            <a:fld id="{58FB4751-880F-D840-AAA9-3A15815CC996}" type="slidenum">
              <a:rPr lang="en-US" smtClean="0"/>
              <a:pPr/>
              <a:t>3</a:t>
            </a:fld>
            <a:endParaRPr lang="en-US" dirty="0"/>
          </a:p>
        </p:txBody>
      </p:sp>
      <p:sp>
        <p:nvSpPr>
          <p:cNvPr id="7" name="Content Placeholder 6">
            <a:extLst>
              <a:ext uri="{FF2B5EF4-FFF2-40B4-BE49-F238E27FC236}">
                <a16:creationId xmlns:a16="http://schemas.microsoft.com/office/drawing/2014/main" id="{9C9B3950-CC97-EA62-B64A-4AE757735B10}"/>
              </a:ext>
            </a:extLst>
          </p:cNvPr>
          <p:cNvSpPr>
            <a:spLocks noGrp="1"/>
          </p:cNvSpPr>
          <p:nvPr>
            <p:ph sz="quarter" idx="11"/>
          </p:nvPr>
        </p:nvSpPr>
        <p:spPr/>
        <p:txBody>
          <a:bodyPr>
            <a:normAutofit fontScale="85000" lnSpcReduction="20000"/>
          </a:bodyPr>
          <a:lstStyle/>
          <a:p>
            <a:pPr marL="342900" indent="-342900">
              <a:buFont typeface="Arial" panose="020B0604020202020204" pitchFamily="34" charset="0"/>
              <a:buChar char="•"/>
            </a:pPr>
            <a:r>
              <a:rPr lang="en-GB" dirty="0"/>
              <a:t>Uganda is known as the Pearl of Africa because it was given this name by the British leader Winston Churchill who was amazed by the different water bodies, stunning lands/mountains, rare animals/wildlife/national parks and rich culture all contributing to its tourist attraction.</a:t>
            </a:r>
          </a:p>
          <a:p>
            <a:pPr marL="342900" indent="-342900">
              <a:buFont typeface="Arial" panose="020B0604020202020204" pitchFamily="34" charset="0"/>
              <a:buChar char="•"/>
            </a:pPr>
            <a:r>
              <a:rPr lang="en-GB" dirty="0"/>
              <a:t>Furthermore, the Equator cuts straight across Uganda from West to East. </a:t>
            </a:r>
          </a:p>
          <a:p>
            <a:pPr marL="342900" indent="-342900">
              <a:buFont typeface="Arial" panose="020B0604020202020204" pitchFamily="34" charset="0"/>
              <a:buChar char="•"/>
            </a:pPr>
            <a:r>
              <a:rPr lang="en-GB" dirty="0"/>
              <a:t>There are many water bodies however Lake Victoria is the most popular being the largest fresh water lake in Africa as well as the source of River Nile.</a:t>
            </a:r>
          </a:p>
          <a:p>
            <a:pPr marL="342900" indent="-342900">
              <a:buFont typeface="Arial" panose="020B0604020202020204" pitchFamily="34" charset="0"/>
              <a:buChar char="•"/>
            </a:pPr>
            <a:r>
              <a:rPr lang="en-GB" dirty="0"/>
              <a:t>Mountains; Mt. Rwenzori which is third highest in Africa. Others include the extinct volcanic Mt. Elgon and Mt </a:t>
            </a:r>
            <a:r>
              <a:rPr lang="en-GB" dirty="0" err="1"/>
              <a:t>Muhavura</a:t>
            </a:r>
            <a:r>
              <a:rPr lang="en-GB" dirty="0"/>
              <a:t> with a crater lake at the top.</a:t>
            </a:r>
          </a:p>
          <a:p>
            <a:endParaRPr lang="en-UG" dirty="0"/>
          </a:p>
        </p:txBody>
      </p:sp>
      <p:pic>
        <p:nvPicPr>
          <p:cNvPr id="22" name="Content Placeholder 21">
            <a:extLst>
              <a:ext uri="{FF2B5EF4-FFF2-40B4-BE49-F238E27FC236}">
                <a16:creationId xmlns:a16="http://schemas.microsoft.com/office/drawing/2014/main" id="{BF32C09C-0962-BE78-3319-489B9890F3E8}"/>
              </a:ext>
            </a:extLst>
          </p:cNvPr>
          <p:cNvPicPr>
            <a:picLocks noGrp="1" noChangeAspect="1"/>
          </p:cNvPicPr>
          <p:nvPr>
            <p:ph sz="quarter" idx="12"/>
          </p:nvPr>
        </p:nvPicPr>
        <p:blipFill>
          <a:blip r:embed="rId2"/>
          <a:stretch>
            <a:fillRect/>
          </a:stretch>
        </p:blipFill>
        <p:spPr>
          <a:xfrm>
            <a:off x="6357938" y="2604453"/>
            <a:ext cx="4576762" cy="2746057"/>
          </a:xfrm>
          <a:prstGeom prst="rect">
            <a:avLst/>
          </a:prstGeom>
        </p:spPr>
      </p:pic>
    </p:spTree>
    <p:extLst>
      <p:ext uri="{BB962C8B-B14F-4D97-AF65-F5344CB8AC3E}">
        <p14:creationId xmlns:p14="http://schemas.microsoft.com/office/powerpoint/2010/main" val="2817287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A9015-1D36-B58D-9D01-90EA73780B97}"/>
              </a:ext>
            </a:extLst>
          </p:cNvPr>
          <p:cNvSpPr>
            <a:spLocks noGrp="1"/>
          </p:cNvSpPr>
          <p:nvPr>
            <p:ph type="title"/>
          </p:nvPr>
        </p:nvSpPr>
        <p:spPr/>
        <p:txBody>
          <a:bodyPr/>
          <a:lstStyle/>
          <a:p>
            <a:r>
              <a:rPr lang="en-GB" sz="4800" dirty="0"/>
              <a:t>Climate and agriculture</a:t>
            </a:r>
            <a:endParaRPr lang="en-UG" sz="4800" dirty="0"/>
          </a:p>
        </p:txBody>
      </p:sp>
      <p:sp>
        <p:nvSpPr>
          <p:cNvPr id="3" name="Content Placeholder 2">
            <a:extLst>
              <a:ext uri="{FF2B5EF4-FFF2-40B4-BE49-F238E27FC236}">
                <a16:creationId xmlns:a16="http://schemas.microsoft.com/office/drawing/2014/main" id="{680C7B74-F6F7-1FF8-143C-FF9547B97CDD}"/>
              </a:ext>
            </a:extLst>
          </p:cNvPr>
          <p:cNvSpPr>
            <a:spLocks noGrp="1"/>
          </p:cNvSpPr>
          <p:nvPr>
            <p:ph sz="quarter" idx="10"/>
          </p:nvPr>
        </p:nvSpPr>
        <p:spPr>
          <a:xfrm>
            <a:off x="914399" y="2039112"/>
            <a:ext cx="9069859" cy="3356576"/>
          </a:xfrm>
        </p:spPr>
        <p:txBody>
          <a:bodyPr>
            <a:normAutofit fontScale="92500" lnSpcReduction="10000"/>
          </a:bodyPr>
          <a:lstStyle/>
          <a:p>
            <a:r>
              <a:rPr lang="en-GB" dirty="0"/>
              <a:t>Uganda has warm, tropical climate modified with high altitude.</a:t>
            </a:r>
          </a:p>
          <a:p>
            <a:r>
              <a:rPr lang="en-GB" dirty="0"/>
              <a:t>Temperatures stay steady year-round with average daytime temperatures ranging from 24-33</a:t>
            </a:r>
            <a:r>
              <a:rPr lang="en-GB" baseline="30000" dirty="0"/>
              <a:t>o</a:t>
            </a:r>
            <a:r>
              <a:rPr lang="en-GB" dirty="0"/>
              <a:t>C.(75 -91</a:t>
            </a:r>
            <a:r>
              <a:rPr lang="en-GB" baseline="30000" dirty="0"/>
              <a:t>o</a:t>
            </a:r>
            <a:r>
              <a:rPr lang="en-GB" dirty="0"/>
              <a:t>F) while nighttime drops between 12-18</a:t>
            </a:r>
            <a:r>
              <a:rPr lang="en-GB" baseline="30000" dirty="0"/>
              <a:t>o</a:t>
            </a:r>
            <a:r>
              <a:rPr lang="en-GB" dirty="0"/>
              <a:t>C (54-64</a:t>
            </a:r>
            <a:r>
              <a:rPr lang="en-GB" baseline="30000" dirty="0"/>
              <a:t>o</a:t>
            </a:r>
            <a:r>
              <a:rPr lang="en-GB" dirty="0"/>
              <a:t>F).</a:t>
            </a:r>
          </a:p>
          <a:p>
            <a:r>
              <a:rPr lang="en-GB" dirty="0"/>
              <a:t>There are two seasons namely; the dry and rainy seasons.</a:t>
            </a:r>
          </a:p>
          <a:p>
            <a:r>
              <a:rPr lang="en-GB" dirty="0"/>
              <a:t>Uganda also has the following types of climate i.e. modified equatorial, mountain, tropical northern and semi arid climate.</a:t>
            </a:r>
          </a:p>
          <a:p>
            <a:r>
              <a:rPr lang="en-GB" dirty="0"/>
              <a:t>Agriculture is the backbone of Uganda’s economy, employing roughly 70% of the working population and contributing over a quarter of the national GDP.</a:t>
            </a:r>
          </a:p>
          <a:p>
            <a:r>
              <a:rPr lang="en-GB" dirty="0"/>
              <a:t>Availability of fertile soils and favourable climate has aided the development of the livestock sector and the growth of many crops e.g. beans, sweet potatoes, cassava, cotton, tea, cocoa and Uganda’s top export earner, coffee.</a:t>
            </a:r>
            <a:endParaRPr lang="en-UG" dirty="0"/>
          </a:p>
        </p:txBody>
      </p:sp>
      <p:sp>
        <p:nvSpPr>
          <p:cNvPr id="4" name="Slide Number Placeholder 3">
            <a:extLst>
              <a:ext uri="{FF2B5EF4-FFF2-40B4-BE49-F238E27FC236}">
                <a16:creationId xmlns:a16="http://schemas.microsoft.com/office/drawing/2014/main" id="{31469E39-CCD8-8097-A56A-59D9334564A9}"/>
              </a:ext>
            </a:extLst>
          </p:cNvPr>
          <p:cNvSpPr>
            <a:spLocks noGrp="1"/>
          </p:cNvSpPr>
          <p:nvPr>
            <p:ph type="sldNum" sz="quarter" idx="4"/>
          </p:nvPr>
        </p:nvSpPr>
        <p:spPr/>
        <p:txBody>
          <a:bodyPr/>
          <a:lstStyle/>
          <a:p>
            <a:fld id="{58FB4751-880F-D840-AAA9-3A15815CC996}" type="slidenum">
              <a:rPr lang="en-US" smtClean="0"/>
              <a:pPr/>
              <a:t>4</a:t>
            </a:fld>
            <a:endParaRPr lang="en-US" dirty="0"/>
          </a:p>
        </p:txBody>
      </p:sp>
    </p:spTree>
    <p:extLst>
      <p:ext uri="{BB962C8B-B14F-4D97-AF65-F5344CB8AC3E}">
        <p14:creationId xmlns:p14="http://schemas.microsoft.com/office/powerpoint/2010/main" val="4148162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6E76937-5A8A-73D8-F814-2C02EDCDDB9C}"/>
              </a:ext>
            </a:extLst>
          </p:cNvPr>
          <p:cNvSpPr>
            <a:spLocks noGrp="1"/>
          </p:cNvSpPr>
          <p:nvPr>
            <p:ph type="title"/>
          </p:nvPr>
        </p:nvSpPr>
        <p:spPr/>
        <p:txBody>
          <a:bodyPr/>
          <a:lstStyle/>
          <a:p>
            <a:r>
              <a:rPr lang="en-GB" sz="4800" dirty="0"/>
              <a:t>Ethnicity</a:t>
            </a:r>
            <a:endParaRPr lang="en-UG" sz="4800" dirty="0"/>
          </a:p>
        </p:txBody>
      </p:sp>
      <p:sp>
        <p:nvSpPr>
          <p:cNvPr id="8" name="Content Placeholder 7">
            <a:extLst>
              <a:ext uri="{FF2B5EF4-FFF2-40B4-BE49-F238E27FC236}">
                <a16:creationId xmlns:a16="http://schemas.microsoft.com/office/drawing/2014/main" id="{F2C2DB9B-437C-7EA5-CA6D-E34D7E86D2CB}"/>
              </a:ext>
            </a:extLst>
          </p:cNvPr>
          <p:cNvSpPr>
            <a:spLocks noGrp="1"/>
          </p:cNvSpPr>
          <p:nvPr>
            <p:ph sz="quarter" idx="10"/>
          </p:nvPr>
        </p:nvSpPr>
        <p:spPr>
          <a:xfrm>
            <a:off x="914400" y="2039112"/>
            <a:ext cx="8929816" cy="3356576"/>
          </a:xfrm>
        </p:spPr>
        <p:txBody>
          <a:bodyPr/>
          <a:lstStyle/>
          <a:p>
            <a:r>
              <a:rPr lang="en-GB" dirty="0"/>
              <a:t>There are over 50 distinct indigenous groups in Uganda and the four major linguistic and cultural families include; the Bantu, </a:t>
            </a:r>
            <a:r>
              <a:rPr lang="en-GB" dirty="0" err="1"/>
              <a:t>Nilotics</a:t>
            </a:r>
            <a:r>
              <a:rPr lang="en-GB" dirty="0"/>
              <a:t>, </a:t>
            </a:r>
            <a:r>
              <a:rPr lang="en-GB" dirty="0" err="1"/>
              <a:t>Nilo</a:t>
            </a:r>
            <a:r>
              <a:rPr lang="en-GB" dirty="0"/>
              <a:t> Hamites and the </a:t>
            </a:r>
            <a:r>
              <a:rPr lang="en-GB" dirty="0" err="1"/>
              <a:t>Sudanics</a:t>
            </a:r>
            <a:endParaRPr lang="en-UG" dirty="0"/>
          </a:p>
        </p:txBody>
      </p:sp>
      <p:sp>
        <p:nvSpPr>
          <p:cNvPr id="4" name="Slide Number Placeholder 3">
            <a:extLst>
              <a:ext uri="{FF2B5EF4-FFF2-40B4-BE49-F238E27FC236}">
                <a16:creationId xmlns:a16="http://schemas.microsoft.com/office/drawing/2014/main" id="{2DEEFBB7-9992-7EC6-0AC3-90A22C54FF37}"/>
              </a:ext>
            </a:extLst>
          </p:cNvPr>
          <p:cNvSpPr>
            <a:spLocks noGrp="1"/>
          </p:cNvSpPr>
          <p:nvPr>
            <p:ph type="sldNum" sz="quarter" idx="4"/>
          </p:nvPr>
        </p:nvSpPr>
        <p:spPr/>
        <p:txBody>
          <a:bodyPr/>
          <a:lstStyle/>
          <a:p>
            <a:fld id="{58FB4751-880F-D840-AAA9-3A15815CC996}" type="slidenum">
              <a:rPr lang="en-US" smtClean="0"/>
              <a:pPr/>
              <a:t>5</a:t>
            </a:fld>
            <a:endParaRPr lang="en-US" dirty="0"/>
          </a:p>
        </p:txBody>
      </p:sp>
    </p:spTree>
    <p:extLst>
      <p:ext uri="{BB962C8B-B14F-4D97-AF65-F5344CB8AC3E}">
        <p14:creationId xmlns:p14="http://schemas.microsoft.com/office/powerpoint/2010/main" val="31878960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2A3D95EF-8A67-7F71-37EF-9EB02511B163}"/>
              </a:ext>
            </a:extLst>
          </p:cNvPr>
          <p:cNvSpPr>
            <a:spLocks noGrp="1"/>
          </p:cNvSpPr>
          <p:nvPr>
            <p:ph type="title"/>
          </p:nvPr>
        </p:nvSpPr>
        <p:spPr>
          <a:xfrm>
            <a:off x="914400" y="914400"/>
            <a:ext cx="10360152" cy="2843784"/>
          </a:xfrm>
        </p:spPr>
        <p:txBody>
          <a:bodyPr anchor="b"/>
          <a:lstStyle/>
          <a:p>
            <a:r>
              <a:rPr lang="en-GB" dirty="0"/>
              <a:t>My Biography</a:t>
            </a:r>
            <a:endParaRPr lang="en-US" dirty="0"/>
          </a:p>
        </p:txBody>
      </p:sp>
      <p:sp>
        <p:nvSpPr>
          <p:cNvPr id="15" name="Text Placeholder 14">
            <a:extLst>
              <a:ext uri="{FF2B5EF4-FFF2-40B4-BE49-F238E27FC236}">
                <a16:creationId xmlns:a16="http://schemas.microsoft.com/office/drawing/2014/main" id="{C7846849-DC0A-EE3B-2E5E-D669EC1273D6}"/>
              </a:ext>
            </a:extLst>
          </p:cNvPr>
          <p:cNvSpPr>
            <a:spLocks noGrp="1"/>
          </p:cNvSpPr>
          <p:nvPr>
            <p:ph type="body" sz="quarter" idx="13"/>
          </p:nvPr>
        </p:nvSpPr>
        <p:spPr>
          <a:xfrm>
            <a:off x="2041114" y="3825875"/>
            <a:ext cx="8109772" cy="2644775"/>
          </a:xfrm>
        </p:spPr>
        <p:txBody>
          <a:bodyPr/>
          <a:lstStyle/>
          <a:p>
            <a:endParaRPr lang="en-US" dirty="0"/>
          </a:p>
        </p:txBody>
      </p:sp>
    </p:spTree>
    <p:extLst>
      <p:ext uri="{BB962C8B-B14F-4D97-AF65-F5344CB8AC3E}">
        <p14:creationId xmlns:p14="http://schemas.microsoft.com/office/powerpoint/2010/main" val="1096717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0B3771-71D1-5EF9-2D50-01607794C2A3}"/>
              </a:ext>
            </a:extLst>
          </p:cNvPr>
          <p:cNvSpPr>
            <a:spLocks noGrp="1"/>
          </p:cNvSpPr>
          <p:nvPr>
            <p:ph type="title"/>
          </p:nvPr>
        </p:nvSpPr>
        <p:spPr/>
        <p:txBody>
          <a:bodyPr/>
          <a:lstStyle/>
          <a:p>
            <a:r>
              <a:rPr lang="en-GB" sz="4000" dirty="0"/>
              <a:t>My Academic Journey</a:t>
            </a:r>
            <a:endParaRPr lang="en-UG" sz="4000" dirty="0"/>
          </a:p>
        </p:txBody>
      </p:sp>
      <p:sp>
        <p:nvSpPr>
          <p:cNvPr id="6" name="Content Placeholder 5">
            <a:extLst>
              <a:ext uri="{FF2B5EF4-FFF2-40B4-BE49-F238E27FC236}">
                <a16:creationId xmlns:a16="http://schemas.microsoft.com/office/drawing/2014/main" id="{EC0EFD5C-E488-1AF6-871A-DC6B66FED93E}"/>
              </a:ext>
            </a:extLst>
          </p:cNvPr>
          <p:cNvSpPr>
            <a:spLocks noGrp="1"/>
          </p:cNvSpPr>
          <p:nvPr>
            <p:ph sz="quarter" idx="10"/>
          </p:nvPr>
        </p:nvSpPr>
        <p:spPr>
          <a:xfrm>
            <a:off x="914399" y="2039112"/>
            <a:ext cx="10313773" cy="3356576"/>
          </a:xfrm>
        </p:spPr>
        <p:txBody>
          <a:bodyPr>
            <a:normAutofit fontScale="92500" lnSpcReduction="20000"/>
          </a:bodyPr>
          <a:lstStyle/>
          <a:p>
            <a:r>
              <a:rPr lang="en-GB" dirty="0"/>
              <a:t>After my primary education, in 2019 I joined King’s College Buddo (a prestigious secondary school because at its inception it was meant for kings and royals in Buganda).</a:t>
            </a:r>
          </a:p>
          <a:p>
            <a:r>
              <a:rPr lang="en-GB" dirty="0"/>
              <a:t>One year after joining secondary school, the COVID-19 pandemic  struck and for one and a half years I wasn’t going to school because of the lockdown.</a:t>
            </a:r>
          </a:p>
          <a:p>
            <a:r>
              <a:rPr lang="en-GB" dirty="0"/>
              <a:t>Sadly, during the same period, on 1</a:t>
            </a:r>
            <a:r>
              <a:rPr lang="en-GB" baseline="30000" dirty="0"/>
              <a:t>st</a:t>
            </a:r>
            <a:r>
              <a:rPr lang="en-GB" dirty="0"/>
              <a:t> July 2021 my father passed away following exposure to the COVID-19 Virus.</a:t>
            </a:r>
          </a:p>
          <a:p>
            <a:r>
              <a:rPr lang="en-GB" dirty="0"/>
              <a:t>Four months after my father’s death, my mother decided that I should switch to the international study curriculum because international schools continued with studies at that time unlike schools following the Ugandan local school curriculum.</a:t>
            </a:r>
          </a:p>
          <a:p>
            <a:r>
              <a:rPr lang="en-GB" dirty="0"/>
              <a:t>So in October 2021 with a lot of academic catching up to do as a result of the lockdown effect, I joined </a:t>
            </a:r>
            <a:r>
              <a:rPr lang="en-GB" dirty="0" err="1"/>
              <a:t>Kabojja</a:t>
            </a:r>
            <a:r>
              <a:rPr lang="en-GB" dirty="0"/>
              <a:t> International School (which follows the Cambridge International Education curriculum) in order to complete my secondary education. I sat my Year 11 in 2022 and I thank God I managed to pass despite that having been a trying/tough time of my life. In 2024, I sat my Year 13 exams which I also passed.</a:t>
            </a:r>
          </a:p>
          <a:p>
            <a:endParaRPr lang="en-UG" dirty="0"/>
          </a:p>
        </p:txBody>
      </p:sp>
    </p:spTree>
    <p:extLst>
      <p:ext uri="{BB962C8B-B14F-4D97-AF65-F5344CB8AC3E}">
        <p14:creationId xmlns:p14="http://schemas.microsoft.com/office/powerpoint/2010/main" val="3010801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3ED55F0D-9961-1079-E7AB-508E43013E9F}"/>
              </a:ext>
            </a:extLst>
          </p:cNvPr>
          <p:cNvSpPr>
            <a:spLocks noGrp="1"/>
          </p:cNvSpPr>
          <p:nvPr>
            <p:ph type="title"/>
          </p:nvPr>
        </p:nvSpPr>
        <p:spPr/>
        <p:txBody>
          <a:bodyPr/>
          <a:lstStyle/>
          <a:p>
            <a:r>
              <a:rPr lang="en-GB" dirty="0"/>
              <a:t>My Academic Journey continued</a:t>
            </a:r>
            <a:endParaRPr lang="en-UG" dirty="0"/>
          </a:p>
        </p:txBody>
      </p:sp>
      <p:sp>
        <p:nvSpPr>
          <p:cNvPr id="3" name="Content Placeholder 2">
            <a:extLst>
              <a:ext uri="{FF2B5EF4-FFF2-40B4-BE49-F238E27FC236}">
                <a16:creationId xmlns:a16="http://schemas.microsoft.com/office/drawing/2014/main" id="{5691092C-295E-4B64-1C7D-B198AF7D0BB8}"/>
              </a:ext>
            </a:extLst>
          </p:cNvPr>
          <p:cNvSpPr>
            <a:spLocks noGrp="1"/>
          </p:cNvSpPr>
          <p:nvPr>
            <p:ph sz="quarter" idx="11"/>
          </p:nvPr>
        </p:nvSpPr>
        <p:spPr>
          <a:xfrm>
            <a:off x="914400" y="2039112"/>
            <a:ext cx="6837405" cy="3877055"/>
          </a:xfrm>
        </p:spPr>
        <p:txBody>
          <a:bodyPr>
            <a:normAutofit fontScale="92500" lnSpcReduction="10000"/>
          </a:bodyPr>
          <a:lstStyle/>
          <a:p>
            <a:pPr marL="342900" indent="-342900">
              <a:buFont typeface="Arial" panose="020B0604020202020204" pitchFamily="34" charset="0"/>
              <a:buChar char="•"/>
            </a:pPr>
            <a:r>
              <a:rPr lang="en-GB" dirty="0"/>
              <a:t>After completing my secondary education, I began my applications to tertiary institutions/universities, with studying in Germany as my first priority. This meant going through a hectic process requiring certification of academic transcripts, getting the ASK Certificate of Recognition without which I couldn’t apply to universities in Germany.</a:t>
            </a:r>
          </a:p>
          <a:p>
            <a:pPr marL="342900" indent="-342900">
              <a:buFont typeface="Arial" panose="020B0604020202020204" pitchFamily="34" charset="0"/>
              <a:buChar char="•"/>
            </a:pPr>
            <a:r>
              <a:rPr lang="en-GB" dirty="0"/>
              <a:t>In 2025 while I worked on the requirements to study in Germany, I got an admission offer to a tertiary institution in Weifang, China. And so, in June 2025 my mother let me go to study in China yet she also insisted that I continue working on the prospects of studying in Germany.</a:t>
            </a:r>
          </a:p>
          <a:p>
            <a:pPr marL="342900" indent="-342900">
              <a:buFont typeface="Arial" panose="020B0604020202020204" pitchFamily="34" charset="0"/>
              <a:buChar char="•"/>
            </a:pPr>
            <a:r>
              <a:rPr lang="en-GB" dirty="0"/>
              <a:t>During my time in Weifang, China I visited Mt. Yi, a popular mountain in Weifang, learnt how to use chopsticks,  also visited a famous museum and attended this year’s Kite Festival. I would also go to church at Weifang International Christian Fellowship (WICF).</a:t>
            </a:r>
          </a:p>
          <a:p>
            <a:endParaRPr lang="en-GB" dirty="0"/>
          </a:p>
        </p:txBody>
      </p:sp>
      <p:pic>
        <p:nvPicPr>
          <p:cNvPr id="13" name="FullSizeRender">
            <a:hlinkClick r:id="" action="ppaction://media"/>
            <a:extLst>
              <a:ext uri="{FF2B5EF4-FFF2-40B4-BE49-F238E27FC236}">
                <a16:creationId xmlns:a16="http://schemas.microsoft.com/office/drawing/2014/main" id="{25249DC7-CFF2-265E-2D06-5D0C842BF2A1}"/>
              </a:ext>
            </a:extLst>
          </p:cNvPr>
          <p:cNvPicPr>
            <a:picLocks noGrp="1" noChangeAspect="1"/>
          </p:cNvPicPr>
          <p:nvPr>
            <p:ph sz="quarter" idx="12"/>
            <a:videoFile r:link="rId2"/>
            <p:extLst>
              <p:ext uri="{DAA4B4D4-6D71-4841-9C94-3DE7FCFB9230}">
                <p14:media xmlns:p14="http://schemas.microsoft.com/office/powerpoint/2010/main" r:embed="rId1"/>
              </p:ext>
            </p:extLst>
          </p:nvPr>
        </p:nvPicPr>
        <p:blipFill>
          <a:blip r:embed="rId4"/>
          <a:stretch>
            <a:fillRect/>
          </a:stretch>
        </p:blipFill>
        <p:spPr>
          <a:xfrm>
            <a:off x="7957751" y="1914783"/>
            <a:ext cx="3657600" cy="3878263"/>
          </a:xfrm>
        </p:spPr>
      </p:pic>
      <p:sp>
        <p:nvSpPr>
          <p:cNvPr id="4" name="Slide Number Placeholder 3">
            <a:extLst>
              <a:ext uri="{FF2B5EF4-FFF2-40B4-BE49-F238E27FC236}">
                <a16:creationId xmlns:a16="http://schemas.microsoft.com/office/drawing/2014/main" id="{F85ABC56-67F5-B8E0-D8E8-BD9BF10E6EEB}"/>
              </a:ext>
            </a:extLst>
          </p:cNvPr>
          <p:cNvSpPr>
            <a:spLocks noGrp="1"/>
          </p:cNvSpPr>
          <p:nvPr>
            <p:ph type="sldNum" sz="quarter" idx="4"/>
          </p:nvPr>
        </p:nvSpPr>
        <p:spPr/>
        <p:txBody>
          <a:bodyPr/>
          <a:lstStyle/>
          <a:p>
            <a:fld id="{58FB4751-880F-D840-AAA9-3A15815CC996}" type="slidenum">
              <a:rPr lang="en-US" smtClean="0"/>
              <a:pPr/>
              <a:t>8</a:t>
            </a:fld>
            <a:endParaRPr lang="en-US" dirty="0"/>
          </a:p>
        </p:txBody>
      </p:sp>
    </p:spTree>
    <p:extLst>
      <p:ext uri="{BB962C8B-B14F-4D97-AF65-F5344CB8AC3E}">
        <p14:creationId xmlns:p14="http://schemas.microsoft.com/office/powerpoint/2010/main" val="521265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373"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3"/>
                </p:tgtEl>
              </p:cMediaNode>
            </p:video>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3"/>
                                        </p:tgtEl>
                                      </p:cBhvr>
                                    </p:cmd>
                                  </p:childTnLst>
                                </p:cTn>
                              </p:par>
                            </p:childTnLst>
                          </p:cTn>
                        </p:par>
                      </p:childTnLst>
                    </p:cTn>
                  </p:par>
                </p:childTnLst>
              </p:cTn>
              <p:nextCondLst>
                <p:cond evt="onClick" delay="0">
                  <p:tgtEl>
                    <p:spTgt spid="13"/>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3E711-64D9-9C1A-F228-D4A936A98F35}"/>
              </a:ext>
            </a:extLst>
          </p:cNvPr>
          <p:cNvSpPr>
            <a:spLocks noGrp="1"/>
          </p:cNvSpPr>
          <p:nvPr>
            <p:ph type="title"/>
          </p:nvPr>
        </p:nvSpPr>
        <p:spPr>
          <a:xfrm>
            <a:off x="1106423" y="914400"/>
            <a:ext cx="7534656" cy="914400"/>
          </a:xfrm>
        </p:spPr>
        <p:txBody>
          <a:bodyPr/>
          <a:lstStyle/>
          <a:p>
            <a:r>
              <a:rPr lang="en-GB" dirty="0"/>
              <a:t>My Academic Journey continued</a:t>
            </a:r>
            <a:endParaRPr lang="en-UG" dirty="0"/>
          </a:p>
        </p:txBody>
      </p:sp>
      <p:sp>
        <p:nvSpPr>
          <p:cNvPr id="3" name="Content Placeholder 2">
            <a:extLst>
              <a:ext uri="{FF2B5EF4-FFF2-40B4-BE49-F238E27FC236}">
                <a16:creationId xmlns:a16="http://schemas.microsoft.com/office/drawing/2014/main" id="{9576AA75-B096-F2DF-CD24-57BA25DDEC55}"/>
              </a:ext>
            </a:extLst>
          </p:cNvPr>
          <p:cNvSpPr>
            <a:spLocks noGrp="1"/>
          </p:cNvSpPr>
          <p:nvPr>
            <p:ph sz="quarter" idx="10"/>
          </p:nvPr>
        </p:nvSpPr>
        <p:spPr>
          <a:xfrm>
            <a:off x="1106423" y="1964971"/>
            <a:ext cx="9017879" cy="3356576"/>
          </a:xfrm>
        </p:spPr>
        <p:txBody>
          <a:bodyPr/>
          <a:lstStyle/>
          <a:p>
            <a:pPr marL="342900" indent="-342900"/>
            <a:r>
              <a:rPr lang="en-GB" dirty="0"/>
              <a:t> 26</a:t>
            </a:r>
            <a:r>
              <a:rPr lang="en-GB" baseline="30000" dirty="0"/>
              <a:t>th</a:t>
            </a:r>
            <a:r>
              <a:rPr lang="en-GB" dirty="0"/>
              <a:t> August 2025 - two months after going to study in China, I received the ASK Certificate of Recognition from Studienkolleg in </a:t>
            </a:r>
            <a:r>
              <a:rPr lang="de-DE" dirty="0"/>
              <a:t>Baden-W</a:t>
            </a:r>
            <a:r>
              <a:rPr lang="en" dirty="0"/>
              <a:t>ü</a:t>
            </a:r>
            <a:r>
              <a:rPr lang="de-DE" dirty="0"/>
              <a:t>rttemberg but I couldn‘t apply to HKA at that time beacuse admissions  for the course I was interested in were not open then.</a:t>
            </a:r>
            <a:endParaRPr lang="en-UG" dirty="0"/>
          </a:p>
          <a:p>
            <a:pPr marL="342900" indent="-342900"/>
            <a:r>
              <a:rPr lang="en-GB" dirty="0"/>
              <a:t>I waited until early May 2026 when the admissions application portal was open. Eight days later, I received my admission offer from HKA and  embarked on completing my online enrollment and working on the German Visa application.</a:t>
            </a:r>
          </a:p>
          <a:p>
            <a:pPr marL="342900" indent="-342900"/>
            <a:r>
              <a:rPr lang="en-GB" dirty="0"/>
              <a:t>Indeed, it has been a very hectic past 5 years of my life but me being here makes it all worthwhile.</a:t>
            </a:r>
            <a:endParaRPr lang="en-UG" dirty="0"/>
          </a:p>
          <a:p>
            <a:pPr marL="0" indent="0">
              <a:buNone/>
            </a:pPr>
            <a:endParaRPr lang="en-UG" dirty="0"/>
          </a:p>
        </p:txBody>
      </p:sp>
      <p:sp>
        <p:nvSpPr>
          <p:cNvPr id="4" name="Slide Number Placeholder 3">
            <a:extLst>
              <a:ext uri="{FF2B5EF4-FFF2-40B4-BE49-F238E27FC236}">
                <a16:creationId xmlns:a16="http://schemas.microsoft.com/office/drawing/2014/main" id="{DB3FAC21-3189-F7C7-8EFC-A06CEFCF7600}"/>
              </a:ext>
            </a:extLst>
          </p:cNvPr>
          <p:cNvSpPr>
            <a:spLocks noGrp="1"/>
          </p:cNvSpPr>
          <p:nvPr>
            <p:ph type="sldNum" sz="quarter" idx="4"/>
          </p:nvPr>
        </p:nvSpPr>
        <p:spPr/>
        <p:txBody>
          <a:bodyPr/>
          <a:lstStyle/>
          <a:p>
            <a:fld id="{58FB4751-880F-D840-AAA9-3A15815CC996}" type="slidenum">
              <a:rPr lang="en-US" smtClean="0"/>
              <a:pPr/>
              <a:t>9</a:t>
            </a:fld>
            <a:endParaRPr lang="en-US" dirty="0"/>
          </a:p>
        </p:txBody>
      </p:sp>
    </p:spTree>
    <p:extLst>
      <p:ext uri="{BB962C8B-B14F-4D97-AF65-F5344CB8AC3E}">
        <p14:creationId xmlns:p14="http://schemas.microsoft.com/office/powerpoint/2010/main" val="2178153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9CE56-1F7B-7661-DF6A-C6DD543FEC15}"/>
              </a:ext>
            </a:extLst>
          </p:cNvPr>
          <p:cNvSpPr>
            <a:spLocks noGrp="1"/>
          </p:cNvSpPr>
          <p:nvPr>
            <p:ph type="title"/>
          </p:nvPr>
        </p:nvSpPr>
        <p:spPr/>
        <p:txBody>
          <a:bodyPr/>
          <a:lstStyle/>
          <a:p>
            <a:r>
              <a:rPr lang="en-GB" sz="4800" dirty="0"/>
              <a:t>My hobbies</a:t>
            </a:r>
            <a:endParaRPr lang="en-UG" sz="4800" dirty="0"/>
          </a:p>
        </p:txBody>
      </p:sp>
      <p:sp>
        <p:nvSpPr>
          <p:cNvPr id="3" name="Content Placeholder 2">
            <a:extLst>
              <a:ext uri="{FF2B5EF4-FFF2-40B4-BE49-F238E27FC236}">
                <a16:creationId xmlns:a16="http://schemas.microsoft.com/office/drawing/2014/main" id="{4F541C76-6B5B-4555-972F-E3569CCF55F7}"/>
              </a:ext>
            </a:extLst>
          </p:cNvPr>
          <p:cNvSpPr>
            <a:spLocks noGrp="1"/>
          </p:cNvSpPr>
          <p:nvPr>
            <p:ph sz="quarter" idx="10"/>
          </p:nvPr>
        </p:nvSpPr>
        <p:spPr>
          <a:xfrm>
            <a:off x="914400" y="2039112"/>
            <a:ext cx="10050162" cy="3356576"/>
          </a:xfrm>
        </p:spPr>
        <p:txBody>
          <a:bodyPr/>
          <a:lstStyle/>
          <a:p>
            <a:r>
              <a:rPr lang="en-GB" dirty="0"/>
              <a:t>I like to participate in track and field events such as sprinting and relays.</a:t>
            </a:r>
          </a:p>
          <a:p>
            <a:r>
              <a:rPr lang="en-GB" dirty="0"/>
              <a:t>I also like playing football, listening to music and singing (my family and friends say I have a great singing voice).</a:t>
            </a:r>
          </a:p>
          <a:p>
            <a:r>
              <a:rPr lang="en-GB" dirty="0"/>
              <a:t>I also like swimming as well as cooking.</a:t>
            </a:r>
            <a:endParaRPr lang="en-UG" dirty="0"/>
          </a:p>
          <a:p>
            <a:endParaRPr lang="en-UG" dirty="0"/>
          </a:p>
        </p:txBody>
      </p:sp>
      <p:sp>
        <p:nvSpPr>
          <p:cNvPr id="4" name="Slide Number Placeholder 3">
            <a:extLst>
              <a:ext uri="{FF2B5EF4-FFF2-40B4-BE49-F238E27FC236}">
                <a16:creationId xmlns:a16="http://schemas.microsoft.com/office/drawing/2014/main" id="{7398437F-34A1-E79A-C5BC-98B559DD355E}"/>
              </a:ext>
            </a:extLst>
          </p:cNvPr>
          <p:cNvSpPr>
            <a:spLocks noGrp="1"/>
          </p:cNvSpPr>
          <p:nvPr>
            <p:ph type="sldNum" sz="quarter" idx="4"/>
          </p:nvPr>
        </p:nvSpPr>
        <p:spPr/>
        <p:txBody>
          <a:bodyPr/>
          <a:lstStyle/>
          <a:p>
            <a:fld id="{58FB4751-880F-D840-AAA9-3A15815CC996}" type="slidenum">
              <a:rPr lang="en-US" smtClean="0"/>
              <a:pPr/>
              <a:t>10</a:t>
            </a:fld>
            <a:endParaRPr lang="en-US" dirty="0"/>
          </a:p>
        </p:txBody>
      </p:sp>
    </p:spTree>
    <p:extLst>
      <p:ext uri="{BB962C8B-B14F-4D97-AF65-F5344CB8AC3E}">
        <p14:creationId xmlns:p14="http://schemas.microsoft.com/office/powerpoint/2010/main" val="8371200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0C5A0F0-3B4E-EF08-D637-2EBCC7994701}"/>
              </a:ext>
            </a:extLst>
          </p:cNvPr>
          <p:cNvSpPr>
            <a:spLocks noGrp="1"/>
          </p:cNvSpPr>
          <p:nvPr>
            <p:ph type="title"/>
          </p:nvPr>
        </p:nvSpPr>
        <p:spPr/>
        <p:txBody>
          <a:bodyPr/>
          <a:lstStyle/>
          <a:p>
            <a:r>
              <a:rPr lang="en-GB" dirty="0"/>
              <a:t>My Late Father’s Obituary</a:t>
            </a:r>
            <a:endParaRPr lang="en-UG" dirty="0"/>
          </a:p>
        </p:txBody>
      </p:sp>
      <p:sp>
        <p:nvSpPr>
          <p:cNvPr id="7" name="Content Placeholder 6">
            <a:extLst>
              <a:ext uri="{FF2B5EF4-FFF2-40B4-BE49-F238E27FC236}">
                <a16:creationId xmlns:a16="http://schemas.microsoft.com/office/drawing/2014/main" id="{236540F9-1FF3-6539-DCFF-6540A22926AF}"/>
              </a:ext>
            </a:extLst>
          </p:cNvPr>
          <p:cNvSpPr>
            <a:spLocks noGrp="1"/>
          </p:cNvSpPr>
          <p:nvPr>
            <p:ph sz="quarter" idx="10"/>
          </p:nvPr>
        </p:nvSpPr>
        <p:spPr>
          <a:xfrm>
            <a:off x="914399" y="2039112"/>
            <a:ext cx="9613558" cy="3356576"/>
          </a:xfrm>
        </p:spPr>
        <p:txBody>
          <a:bodyPr/>
          <a:lstStyle/>
          <a:p>
            <a:r>
              <a:rPr lang="en-GB" dirty="0"/>
              <a:t>My Late Father, the Late Prof. Noble Ephraim Banadda, was a unique person.</a:t>
            </a:r>
          </a:p>
          <a:p>
            <a:r>
              <a:rPr lang="en-GB" dirty="0"/>
              <a:t>He was a driven, hardworking, tough and caring man.</a:t>
            </a:r>
          </a:p>
          <a:p>
            <a:r>
              <a:rPr lang="en-GB" dirty="0"/>
              <a:t>He is one of my biggest role models and he inspired me to push myself working with utmost determination, discipline and motivation.</a:t>
            </a:r>
            <a:endParaRPr lang="en-UG" dirty="0"/>
          </a:p>
          <a:p>
            <a:endParaRPr lang="en-UG" dirty="0"/>
          </a:p>
        </p:txBody>
      </p:sp>
      <p:sp>
        <p:nvSpPr>
          <p:cNvPr id="4" name="Slide Number Placeholder 3">
            <a:extLst>
              <a:ext uri="{FF2B5EF4-FFF2-40B4-BE49-F238E27FC236}">
                <a16:creationId xmlns:a16="http://schemas.microsoft.com/office/drawing/2014/main" id="{7779C2EE-6319-CA06-6E93-8ED306FD0D7B}"/>
              </a:ext>
            </a:extLst>
          </p:cNvPr>
          <p:cNvSpPr>
            <a:spLocks noGrp="1"/>
          </p:cNvSpPr>
          <p:nvPr>
            <p:ph type="sldNum" sz="quarter" idx="4"/>
          </p:nvPr>
        </p:nvSpPr>
        <p:spPr/>
        <p:txBody>
          <a:bodyPr/>
          <a:lstStyle/>
          <a:p>
            <a:fld id="{58FB4751-880F-D840-AAA9-3A15815CC996}" type="slidenum">
              <a:rPr lang="en-US" smtClean="0"/>
              <a:pPr/>
              <a:t>11</a:t>
            </a:fld>
            <a:endParaRPr lang="en-US" dirty="0"/>
          </a:p>
        </p:txBody>
      </p:sp>
    </p:spTree>
    <p:extLst>
      <p:ext uri="{BB962C8B-B14F-4D97-AF65-F5344CB8AC3E}">
        <p14:creationId xmlns:p14="http://schemas.microsoft.com/office/powerpoint/2010/main" val="2784342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2E9D7-233F-E257-CADA-A7156D244056}"/>
              </a:ext>
            </a:extLst>
          </p:cNvPr>
          <p:cNvSpPr>
            <a:spLocks noGrp="1"/>
          </p:cNvSpPr>
          <p:nvPr>
            <p:ph type="title"/>
          </p:nvPr>
        </p:nvSpPr>
        <p:spPr/>
        <p:txBody>
          <a:bodyPr/>
          <a:lstStyle/>
          <a:p>
            <a:r>
              <a:rPr lang="en-GB" dirty="0"/>
              <a:t>Additional Family Information</a:t>
            </a:r>
            <a:endParaRPr lang="en-UG" dirty="0"/>
          </a:p>
        </p:txBody>
      </p:sp>
      <p:sp>
        <p:nvSpPr>
          <p:cNvPr id="3" name="Content Placeholder 2">
            <a:extLst>
              <a:ext uri="{FF2B5EF4-FFF2-40B4-BE49-F238E27FC236}">
                <a16:creationId xmlns:a16="http://schemas.microsoft.com/office/drawing/2014/main" id="{3E1E0B97-3D2A-251E-8818-8E8CEC9584AF}"/>
              </a:ext>
            </a:extLst>
          </p:cNvPr>
          <p:cNvSpPr>
            <a:spLocks noGrp="1"/>
          </p:cNvSpPr>
          <p:nvPr>
            <p:ph sz="quarter" idx="10"/>
          </p:nvPr>
        </p:nvSpPr>
        <p:spPr>
          <a:xfrm>
            <a:off x="914399" y="2039112"/>
            <a:ext cx="7834185" cy="3356576"/>
          </a:xfrm>
        </p:spPr>
        <p:txBody>
          <a:bodyPr/>
          <a:lstStyle/>
          <a:p>
            <a:r>
              <a:rPr lang="en-GB" dirty="0"/>
              <a:t>My mother, brother and sister</a:t>
            </a:r>
          </a:p>
          <a:p>
            <a:r>
              <a:rPr lang="en-GB" dirty="0"/>
              <a:t>My mother is the family’s breadwinner.</a:t>
            </a:r>
          </a:p>
          <a:p>
            <a:r>
              <a:rPr lang="en-GB" dirty="0"/>
              <a:t>My siblings and I go to school but we hope that if we can excel in our education, we can help my mother.</a:t>
            </a:r>
            <a:endParaRPr lang="en-UG" dirty="0"/>
          </a:p>
        </p:txBody>
      </p:sp>
      <p:sp>
        <p:nvSpPr>
          <p:cNvPr id="5" name="Slide Number Placeholder 4">
            <a:extLst>
              <a:ext uri="{FF2B5EF4-FFF2-40B4-BE49-F238E27FC236}">
                <a16:creationId xmlns:a16="http://schemas.microsoft.com/office/drawing/2014/main" id="{D5F9C99A-25DE-6D2B-9452-49A3214FA05D}"/>
              </a:ext>
            </a:extLst>
          </p:cNvPr>
          <p:cNvSpPr>
            <a:spLocks noGrp="1"/>
          </p:cNvSpPr>
          <p:nvPr>
            <p:ph type="sldNum" sz="quarter" idx="4"/>
          </p:nvPr>
        </p:nvSpPr>
        <p:spPr/>
        <p:txBody>
          <a:bodyPr/>
          <a:lstStyle/>
          <a:p>
            <a:fld id="{58FB4751-880F-D840-AAA9-3A15815CC996}" type="slidenum">
              <a:rPr lang="en-US" smtClean="0"/>
              <a:pPr/>
              <a:t>12</a:t>
            </a:fld>
            <a:endParaRPr lang="en-US" dirty="0"/>
          </a:p>
        </p:txBody>
      </p:sp>
    </p:spTree>
    <p:extLst>
      <p:ext uri="{BB962C8B-B14F-4D97-AF65-F5344CB8AC3E}">
        <p14:creationId xmlns:p14="http://schemas.microsoft.com/office/powerpoint/2010/main" val="28391534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AE57FC3-F692-4BD0-5C51-ED4CB5AD6A4C}"/>
              </a:ext>
            </a:extLst>
          </p:cNvPr>
          <p:cNvSpPr>
            <a:spLocks noGrp="1"/>
          </p:cNvSpPr>
          <p:nvPr>
            <p:ph type="ctrTitle"/>
          </p:nvPr>
        </p:nvSpPr>
        <p:spPr/>
        <p:txBody>
          <a:bodyPr/>
          <a:lstStyle/>
          <a:p>
            <a:r>
              <a:rPr lang="en-GB" dirty="0"/>
              <a:t>THE END</a:t>
            </a:r>
            <a:endParaRPr lang="en-UG" dirty="0"/>
          </a:p>
        </p:txBody>
      </p:sp>
      <p:sp>
        <p:nvSpPr>
          <p:cNvPr id="5" name="Slide Number Placeholder 4">
            <a:extLst>
              <a:ext uri="{FF2B5EF4-FFF2-40B4-BE49-F238E27FC236}">
                <a16:creationId xmlns:a16="http://schemas.microsoft.com/office/drawing/2014/main" id="{9CFD4512-23F8-5226-CE64-2ABAD06B24D1}"/>
              </a:ext>
            </a:extLst>
          </p:cNvPr>
          <p:cNvSpPr>
            <a:spLocks noGrp="1"/>
          </p:cNvSpPr>
          <p:nvPr>
            <p:ph type="sldNum" sz="quarter" idx="4294967295"/>
          </p:nvPr>
        </p:nvSpPr>
        <p:spPr>
          <a:xfrm>
            <a:off x="11530013" y="5880100"/>
            <a:ext cx="661987" cy="895350"/>
          </a:xfrm>
        </p:spPr>
        <p:txBody>
          <a:bodyPr/>
          <a:lstStyle/>
          <a:p>
            <a:fld id="{58FB4751-880F-D840-AAA9-3A15815CC996}" type="slidenum">
              <a:rPr lang="en-US" smtClean="0"/>
              <a:pPr/>
              <a:t>13</a:t>
            </a:fld>
            <a:endParaRPr lang="en-US" dirty="0"/>
          </a:p>
        </p:txBody>
      </p:sp>
    </p:spTree>
    <p:extLst>
      <p:ext uri="{BB962C8B-B14F-4D97-AF65-F5344CB8AC3E}">
        <p14:creationId xmlns:p14="http://schemas.microsoft.com/office/powerpoint/2010/main" val="1891790148"/>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2.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{179FC259-E9D1-44FF-B9E4-4287DB447D8B}TF1ed9553b-00c4-4092-846a-c8f7f2908f3beecd942f_win32-8e33096c3cfc</Template>
  <TotalTime>4186</TotalTime>
  <Words>1010</Words>
  <Application>Microsoft Office PowerPoint</Application>
  <PresentationFormat>Widescreen</PresentationFormat>
  <Paragraphs>58</Paragraphs>
  <Slides>13</Slides>
  <Notes>2</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Courier New</vt:lpstr>
      <vt:lpstr>Gill Sans Nova Light</vt:lpstr>
      <vt:lpstr>Sagona Book</vt:lpstr>
      <vt:lpstr>Custom</vt:lpstr>
      <vt:lpstr>Daniel Mayombwe Banadda </vt:lpstr>
      <vt:lpstr>I come from Uganda, Africa</vt:lpstr>
      <vt:lpstr>Uganda as the Pearl of Africa</vt:lpstr>
      <vt:lpstr>Climate and agriculture</vt:lpstr>
      <vt:lpstr>Ethnicity</vt:lpstr>
      <vt:lpstr>My Biography</vt:lpstr>
      <vt:lpstr>My Academic Journey</vt:lpstr>
      <vt:lpstr>My Academic Journey continued</vt:lpstr>
      <vt:lpstr>My Academic Journey continued</vt:lpstr>
      <vt:lpstr>My hobbies</vt:lpstr>
      <vt:lpstr>My Late Father’s Obituary</vt:lpstr>
      <vt:lpstr>Additional Family Information</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Mayombwe Banadda</dc:creator>
  <cp:lastModifiedBy>Daniel Mayombwe Banadda</cp:lastModifiedBy>
  <cp:revision>2</cp:revision>
  <dcterms:created xsi:type="dcterms:W3CDTF">2026-08-20T17:13:23Z</dcterms:created>
  <dcterms:modified xsi:type="dcterms:W3CDTF">2026-08-23T15:00:11Z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