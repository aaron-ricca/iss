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13"/>
  </p:notesMasterIdLst>
  <p:sldIdLst>
    <p:sldId id="256" r:id="rId2"/>
    <p:sldId id="318" r:id="rId3"/>
    <p:sldId id="317" r:id="rId4"/>
    <p:sldId id="319" r:id="rId5"/>
    <p:sldId id="320" r:id="rId6"/>
    <p:sldId id="321" r:id="rId7"/>
    <p:sldId id="322" r:id="rId8"/>
    <p:sldId id="257" r:id="rId9"/>
    <p:sldId id="264" r:id="rId10"/>
    <p:sldId id="323" r:id="rId11"/>
    <p:sldId id="263" r:id="rId12"/>
  </p:sldIdLst>
  <p:sldSz cx="9144000" cy="5143500" type="screen16x9"/>
  <p:notesSz cx="6858000" cy="9144000"/>
  <p:embeddedFontLst>
    <p:embeddedFont>
      <p:font typeface="Fahkwang" pitchFamily="2" charset="-34"/>
      <p:regular r:id="rId14"/>
      <p:bold r:id="rId15"/>
      <p:italic r:id="rId16"/>
      <p:boldItalic r:id="rId17"/>
    </p:embeddedFont>
    <p:embeddedFont>
      <p:font typeface="Nordique Inline" pitchFamily="2" charset="77"/>
      <p:regular r:id="rId18"/>
    </p:embeddedFont>
    <p:embeddedFont>
      <p:font typeface="Quicksand" pitchFamily="2" charset="77"/>
      <p:regular r:id="rId19"/>
      <p:bold r:id="rId20"/>
    </p:embeddedFont>
    <p:embeddedFont>
      <p:font typeface="Sagona" panose="02010004040101010103" pitchFamily="2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E352E86-3135-CB4C-B872-94C37F5BD213}">
          <p14:sldIdLst>
            <p14:sldId id="256"/>
            <p14:sldId id="318"/>
            <p14:sldId id="317"/>
            <p14:sldId id="319"/>
            <p14:sldId id="320"/>
            <p14:sldId id="321"/>
            <p14:sldId id="322"/>
            <p14:sldId id="257"/>
            <p14:sldId id="264"/>
            <p14:sldId id="323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4D703B-07AB-4182-BAA8-DB00323C1A5A}">
  <a:tblStyle styleId="{424D703B-07AB-4182-BAA8-DB00323C1A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72"/>
    <p:restoredTop sz="67793" autoAdjust="0"/>
  </p:normalViewPr>
  <p:slideViewPr>
    <p:cSldViewPr snapToGrid="0">
      <p:cViewPr varScale="1">
        <p:scale>
          <a:sx n="111" d="100"/>
          <a:sy n="111" d="100"/>
        </p:scale>
        <p:origin x="20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078a0c099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078a0c099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214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610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303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e4b7ac326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e4b7ac326b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e4b7ac326b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e4b7ac326b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>
          <a:extLst>
            <a:ext uri="{FF2B5EF4-FFF2-40B4-BE49-F238E27FC236}">
              <a16:creationId xmlns:a16="http://schemas.microsoft.com/office/drawing/2014/main" id="{1AE2F2BF-805F-0B57-8578-778511131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e4b7ac326b_0_219:notes">
            <a:extLst>
              <a:ext uri="{FF2B5EF4-FFF2-40B4-BE49-F238E27FC236}">
                <a16:creationId xmlns:a16="http://schemas.microsoft.com/office/drawing/2014/main" id="{AE3B89C2-5954-5A07-BD2D-1654AF2F4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e4b7ac326b_0_219:notes">
            <a:extLst>
              <a:ext uri="{FF2B5EF4-FFF2-40B4-BE49-F238E27FC236}">
                <a16:creationId xmlns:a16="http://schemas.microsoft.com/office/drawing/2014/main" id="{579CBE53-DABE-9BAB-FD98-913B71CBC3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2490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971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93325" y="521925"/>
            <a:ext cx="7557300" cy="245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93350" y="3164625"/>
            <a:ext cx="7557300" cy="7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rot="-1572138">
            <a:off x="-1143886" y="-1401397"/>
            <a:ext cx="3109871" cy="2031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2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4438951">
            <a:off x="8102625" y="-738171"/>
            <a:ext cx="2857492" cy="1866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01017" y="-1435575"/>
            <a:ext cx="2833587" cy="1851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7430136">
            <a:off x="8816245" y="-1007339"/>
            <a:ext cx="951395" cy="152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-4438953" flipH="1">
            <a:off x="-1985901" y="96127"/>
            <a:ext cx="3109870" cy="20317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rot="6361049" flipH="1">
            <a:off x="7428657" y="3835332"/>
            <a:ext cx="3935077" cy="2570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9802556">
            <a:off x="-2322937" y="4185289"/>
            <a:ext cx="3747257" cy="24481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9178279">
            <a:off x="-1158038" y="4888235"/>
            <a:ext cx="3715904" cy="2427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500004">
            <a:off x="-628615" y="4485042"/>
            <a:ext cx="953651" cy="153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9921071">
            <a:off x="6421147" y="4444256"/>
            <a:ext cx="3935068" cy="257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0304" y="4268350"/>
            <a:ext cx="2234870" cy="2220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06550" y="4804426"/>
            <a:ext cx="2043114" cy="218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4840453">
            <a:off x="4367327" y="5125980"/>
            <a:ext cx="1783970" cy="168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6" name="Google Shape;66;p6"/>
          <p:cNvPicPr preferRelativeResize="0"/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rot="-6929859">
            <a:off x="-2487404" y="3726749"/>
            <a:ext cx="4266899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9178279">
            <a:off x="-1783615" y="4574901"/>
            <a:ext cx="4231198" cy="276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718793">
            <a:off x="695047" y="4744317"/>
            <a:ext cx="953651" cy="153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0900" y="-1501525"/>
            <a:ext cx="2502450" cy="2482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008279">
            <a:off x="-914167" y="-313092"/>
            <a:ext cx="2204136" cy="144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7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-851555" flipH="1">
            <a:off x="-194390" y="-970470"/>
            <a:ext cx="2748214" cy="179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1" y="3758776"/>
            <a:ext cx="1309673" cy="1384724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7"/>
          <p:cNvSpPr txBox="1">
            <a:spLocks noGrp="1"/>
          </p:cNvSpPr>
          <p:nvPr>
            <p:ph type="title"/>
          </p:nvPr>
        </p:nvSpPr>
        <p:spPr>
          <a:xfrm>
            <a:off x="1136025" y="404675"/>
            <a:ext cx="4605000" cy="208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7"/>
          <p:cNvSpPr txBox="1">
            <a:spLocks noGrp="1"/>
          </p:cNvSpPr>
          <p:nvPr>
            <p:ph type="body" idx="1"/>
          </p:nvPr>
        </p:nvSpPr>
        <p:spPr>
          <a:xfrm>
            <a:off x="1136025" y="2652325"/>
            <a:ext cx="4605000" cy="20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7"/>
          <p:cNvSpPr>
            <a:spLocks noGrp="1"/>
          </p:cNvSpPr>
          <p:nvPr>
            <p:ph type="pic" idx="2"/>
          </p:nvPr>
        </p:nvSpPr>
        <p:spPr>
          <a:xfrm>
            <a:off x="5613100" y="343500"/>
            <a:ext cx="5368800" cy="5368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6"/>
          <p:cNvSpPr txBox="1">
            <a:spLocks noGrp="1"/>
          </p:cNvSpPr>
          <p:nvPr>
            <p:ph type="title" idx="2"/>
          </p:nvPr>
        </p:nvSpPr>
        <p:spPr>
          <a:xfrm>
            <a:off x="720000" y="2616688"/>
            <a:ext cx="2336400" cy="2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16"/>
          <p:cNvSpPr txBox="1">
            <a:spLocks noGrp="1"/>
          </p:cNvSpPr>
          <p:nvPr>
            <p:ph type="subTitle" idx="1"/>
          </p:nvPr>
        </p:nvSpPr>
        <p:spPr>
          <a:xfrm>
            <a:off x="720000" y="2907950"/>
            <a:ext cx="2336400" cy="6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6"/>
          <p:cNvSpPr txBox="1">
            <a:spLocks noGrp="1"/>
          </p:cNvSpPr>
          <p:nvPr>
            <p:ph type="title" idx="3"/>
          </p:nvPr>
        </p:nvSpPr>
        <p:spPr>
          <a:xfrm>
            <a:off x="3403800" y="2616688"/>
            <a:ext cx="2336400" cy="2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"/>
          </p:nvPr>
        </p:nvSpPr>
        <p:spPr>
          <a:xfrm>
            <a:off x="3403800" y="2907950"/>
            <a:ext cx="2336400" cy="6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title" idx="5"/>
          </p:nvPr>
        </p:nvSpPr>
        <p:spPr>
          <a:xfrm>
            <a:off x="6087600" y="2616688"/>
            <a:ext cx="2336400" cy="25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100"/>
              <a:buNone/>
              <a:defRPr sz="21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6"/>
          <p:cNvSpPr txBox="1">
            <a:spLocks noGrp="1"/>
          </p:cNvSpPr>
          <p:nvPr>
            <p:ph type="subTitle" idx="6"/>
          </p:nvPr>
        </p:nvSpPr>
        <p:spPr>
          <a:xfrm>
            <a:off x="6087600" y="2907950"/>
            <a:ext cx="2336400" cy="6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1" name="Google Shape;171;p16"/>
          <p:cNvPicPr preferRelativeResize="0"/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rot="10098492" flipH="1">
            <a:off x="5371422" y="4434649"/>
            <a:ext cx="4266901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6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-10456230">
            <a:off x="2313934" y="4434659"/>
            <a:ext cx="4266902" cy="2787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6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1723993" flipH="1">
            <a:off x="7116685" y="-1531242"/>
            <a:ext cx="4266900" cy="278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/>
          <p:cNvPicPr preferRelativeResize="0"/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rot="10098492" flipH="1">
            <a:off x="-1423453" y="4541549"/>
            <a:ext cx="4266901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 rot="-2700000" flipH="1">
            <a:off x="-2210501" y="-1960430"/>
            <a:ext cx="4266901" cy="278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430136" flipH="1">
            <a:off x="-552754" y="-1029295"/>
            <a:ext cx="951395" cy="152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BLANK_1_1_1_1_1_1_1_1"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2"/>
          <p:cNvPicPr preferRelativeResize="0"/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rot="9475653">
            <a:off x="5615241" y="4220734"/>
            <a:ext cx="4266899" cy="27876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2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10340236">
            <a:off x="2240503" y="4433654"/>
            <a:ext cx="4266900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-886958" y="4161620"/>
            <a:ext cx="4231199" cy="276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369864" flipH="1">
            <a:off x="8508574" y="4489498"/>
            <a:ext cx="951395" cy="152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32"/>
          <p:cNvPicPr preferRelativeResize="0"/>
          <p:nvPr/>
        </p:nvPicPr>
        <p:blipFill>
          <a:blip r:embed="rId2">
            <a:alphaModFix amt="42000"/>
          </a:blip>
          <a:stretch>
            <a:fillRect/>
          </a:stretch>
        </p:blipFill>
        <p:spPr>
          <a:xfrm flipH="1">
            <a:off x="3034665" y="-2013164"/>
            <a:ext cx="4266900" cy="2787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621721">
            <a:off x="6432530" y="-1507268"/>
            <a:ext cx="4231198" cy="2764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2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-878928">
            <a:off x="-1205784" y="-1518937"/>
            <a:ext cx="4266899" cy="278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9030618">
            <a:off x="-284274" y="-736662"/>
            <a:ext cx="953652" cy="153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-713900" y="4161637"/>
            <a:ext cx="1544577" cy="1650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0800000" flipH="1">
            <a:off x="8084488" y="-950413"/>
            <a:ext cx="1544577" cy="1650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BLANK_1_1_1_1_1_1_1_1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0" y="1762326"/>
            <a:ext cx="3238751" cy="34243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3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-1771295">
            <a:off x="-1665953" y="-1482274"/>
            <a:ext cx="4266903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48344" flipH="1">
            <a:off x="-555152" y="-1965556"/>
            <a:ext cx="3422157" cy="223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791725">
            <a:off x="7198500" y="4068718"/>
            <a:ext cx="3422156" cy="2235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33"/>
          <p:cNvPicPr preferRelativeResize="0"/>
          <p:nvPr/>
        </p:nvPicPr>
        <p:blipFill>
          <a:blip r:embed="rId3">
            <a:alphaModFix amt="42000"/>
          </a:blip>
          <a:stretch>
            <a:fillRect/>
          </a:stretch>
        </p:blipFill>
        <p:spPr>
          <a:xfrm rot="9948443" flipH="1">
            <a:off x="5703848" y="4024626"/>
            <a:ext cx="4266902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 flipH="1">
            <a:off x="5751650" y="0"/>
            <a:ext cx="3392350" cy="3586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2">
  <p:cSld name="BLANK_1_1_1_1_1_1_1_1_2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4011325" flipH="1">
            <a:off x="-1912297" y="-1007742"/>
            <a:ext cx="3960773" cy="2587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8803508">
            <a:off x="-569849" y="-508454"/>
            <a:ext cx="1486975" cy="1589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4"/>
          <p:cNvPicPr preferRelativeResize="0"/>
          <p:nvPr/>
        </p:nvPicPr>
        <p:blipFill>
          <a:blip r:embed="rId4">
            <a:alphaModFix amt="42000"/>
          </a:blip>
          <a:stretch>
            <a:fillRect/>
          </a:stretch>
        </p:blipFill>
        <p:spPr>
          <a:xfrm rot="10098492" flipH="1">
            <a:off x="7210072" y="3504249"/>
            <a:ext cx="4266901" cy="278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4"/>
          <p:cNvPicPr preferRelativeResize="0"/>
          <p:nvPr/>
        </p:nvPicPr>
        <p:blipFill>
          <a:blip r:embed="rId5">
            <a:alphaModFix amt="42000"/>
          </a:blip>
          <a:stretch>
            <a:fillRect/>
          </a:stretch>
        </p:blipFill>
        <p:spPr>
          <a:xfrm rot="-10456230">
            <a:off x="4597746" y="4099209"/>
            <a:ext cx="4266902" cy="2787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2A008-5451-9F2E-BA6A-EAFCF8DA9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BFAEC-3CB2-32EF-01F3-89606841C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3C799-F44B-C023-F38E-604AFF577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E19E0-02B7-AD48-A9D2-4BF2825B92C5}" type="datetimeFigureOut">
              <a:rPr lang="en-RO" smtClean="0"/>
              <a:t>11/09/2026</a:t>
            </a:fld>
            <a:endParaRPr lang="en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94812F-1CBF-B4BA-0B1C-AA0F92808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E22124-FFF4-C939-1C14-4E022F4B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25C17-9C79-3444-BFA9-795E694F9B6F}" type="slidenum">
              <a:rPr lang="en-RO" smtClean="0"/>
              <a:t>‹#›</a:t>
            </a:fld>
            <a:endParaRPr lang="en-RO"/>
          </a:p>
        </p:txBody>
      </p:sp>
    </p:spTree>
    <p:extLst>
      <p:ext uri="{BB962C8B-B14F-4D97-AF65-F5344CB8AC3E}">
        <p14:creationId xmlns:p14="http://schemas.microsoft.com/office/powerpoint/2010/main" val="194013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Fahkwang"/>
              <a:buNone/>
              <a:defRPr sz="2800" i="1">
                <a:solidFill>
                  <a:schemeClr val="lt2"/>
                </a:solidFill>
                <a:latin typeface="Fahkwang"/>
                <a:ea typeface="Fahkwang"/>
                <a:cs typeface="Fahkwang"/>
                <a:sym typeface="Fahkwang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8" r:id="rId4"/>
    <p:sldLayoutId id="2147483662" r:id="rId5"/>
    <p:sldLayoutId id="2147483678" r:id="rId6"/>
    <p:sldLayoutId id="2147483679" r:id="rId7"/>
    <p:sldLayoutId id="2147483680" r:id="rId8"/>
    <p:sldLayoutId id="2147483684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ctrTitle"/>
          </p:nvPr>
        </p:nvSpPr>
        <p:spPr>
          <a:xfrm>
            <a:off x="1346200" y="2330223"/>
            <a:ext cx="6928250" cy="924688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4000" dirty="0"/>
              <a:t>Sustainable Circular Farm to Fork Systems (SCFFS)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401" name="Google Shape;401;p38"/>
          <p:cNvSpPr txBox="1">
            <a:spLocks noGrp="1"/>
          </p:cNvSpPr>
          <p:nvPr>
            <p:ph type="subTitle" idx="1"/>
          </p:nvPr>
        </p:nvSpPr>
        <p:spPr>
          <a:xfrm>
            <a:off x="502701" y="2964519"/>
            <a:ext cx="8350650" cy="7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Joel </a:t>
            </a:r>
            <a:r>
              <a:rPr lang="en" dirty="0" err="1"/>
              <a:t>Ikabat</a:t>
            </a:r>
            <a:endParaRPr lang="en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Ana-Maria Radu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Roxana-Andreea Munteanu-Ichim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Maximilian Alexander </a:t>
            </a:r>
            <a:r>
              <a:rPr lang="en"/>
              <a:t>Bootsveld</a:t>
            </a:r>
            <a:endParaRPr lang="en" dirty="0"/>
          </a:p>
        </p:txBody>
      </p:sp>
      <p:cxnSp>
        <p:nvCxnSpPr>
          <p:cNvPr id="402" name="Google Shape;402;p38"/>
          <p:cNvCxnSpPr/>
          <p:nvPr/>
        </p:nvCxnSpPr>
        <p:spPr>
          <a:xfrm>
            <a:off x="2240676" y="2964519"/>
            <a:ext cx="4874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52" name="Picture 4" descr="Makerere University - data.org">
            <a:extLst>
              <a:ext uri="{FF2B5EF4-FFF2-40B4-BE49-F238E27FC236}">
                <a16:creationId xmlns:a16="http://schemas.microsoft.com/office/drawing/2014/main" id="{33BA928F-DE57-1AE3-0DB1-7A6CE9B94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4121" y="0"/>
            <a:ext cx="1432451" cy="121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Transilvania University of Brașov « FOSS4G 2019 Bucharest">
            <a:extLst>
              <a:ext uri="{FF2B5EF4-FFF2-40B4-BE49-F238E27FC236}">
                <a16:creationId xmlns:a16="http://schemas.microsoft.com/office/drawing/2014/main" id="{3AB794F1-F85C-FA06-24A2-6197B19A3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608" y="155802"/>
            <a:ext cx="1974766" cy="77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4D5F9F-E76A-4D5A-D05C-F14AF95CC3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022" y="4340868"/>
            <a:ext cx="1017029" cy="9858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A0300-EE7B-E881-521C-8E49EF62B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395" y="4340868"/>
            <a:ext cx="2060648" cy="4761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F192-8339-79D0-138B-ED3E095B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0"/>
            <a:ext cx="7704000" cy="572700"/>
          </a:xfrm>
        </p:spPr>
        <p:txBody>
          <a:bodyPr/>
          <a:lstStyle/>
          <a:p>
            <a:r>
              <a:rPr lang="en-US" sz="2400" dirty="0">
                <a:latin typeface="Nordique Inline" panose="00000500000000000000" pitchFamily="2" charset="77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A661B2-1035-4898-243C-8F380B2886B7}"/>
              </a:ext>
            </a:extLst>
          </p:cNvPr>
          <p:cNvSpPr txBox="1"/>
          <p:nvPr/>
        </p:nvSpPr>
        <p:spPr>
          <a:xfrm>
            <a:off x="516800" y="572700"/>
            <a:ext cx="84240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>
                <a:latin typeface="Sagona" panose="02010004040101010103" pitchFamily="2" charset="0"/>
              </a:rPr>
              <a:t>How is food grown in your country ?</a:t>
            </a:r>
          </a:p>
          <a:p>
            <a:r>
              <a:rPr lang="en-US" sz="1600" dirty="0">
                <a:latin typeface="Sagona" panose="02010004040101010103" pitchFamily="2" charset="0"/>
              </a:rPr>
              <a:t>🌍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Europe</a:t>
            </a: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Food production is generally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highly mechanized and technology-intensive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, supported by advanced processing, cold chains and transport networks. </a:t>
            </a:r>
          </a:p>
          <a:p>
            <a:pPr algn="l"/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As a result,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energy use, processing, transportation, consumption and food waste 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contribute significantly to the overall carbon footprint.</a:t>
            </a:r>
          </a:p>
          <a:p>
            <a:pPr indent="0" algn="l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r>
              <a:rPr lang="en-US" sz="1600" dirty="0">
                <a:latin typeface="Sagona" panose="02010004040101010103" pitchFamily="2" charset="0"/>
              </a:rPr>
              <a:t>🌍 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Africa</a:t>
            </a:r>
            <a:endParaRPr lang="en-US" sz="1600" b="1" dirty="0">
              <a:latin typeface="Sagona" panose="02010004040101010103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Food production relies more strongly on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smallholder and rain-fed agriculture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, with less developed storage and cold-chain infrastructure in many regions.</a:t>
            </a:r>
          </a:p>
          <a:p>
            <a:pPr algn="l"/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 The carbon footprint is therefore more concentrated in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agricultural production, land use and post-harvest food losses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.</a:t>
            </a:r>
          </a:p>
          <a:p>
            <a:pPr indent="0" algn="l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pPr indent="0" algn="ctr">
              <a:buNone/>
            </a:pP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🌱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Different production systems and food supply chains lead to different carbon-footprint patterns.</a:t>
            </a: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321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4CCB09-CD0E-C05A-22DA-76BAA6E74B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956" r="28434" b="85973"/>
          <a:stretch>
            <a:fillRect/>
          </a:stretch>
        </p:blipFill>
        <p:spPr>
          <a:xfrm>
            <a:off x="2006600" y="1"/>
            <a:ext cx="4533900" cy="5333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54E68E-C71B-C627-4666-08414ED687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370" b="12592"/>
          <a:stretch>
            <a:fillRect/>
          </a:stretch>
        </p:blipFill>
        <p:spPr>
          <a:xfrm>
            <a:off x="714375" y="590550"/>
            <a:ext cx="77152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710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12BD18F3-3AA8-72D9-A44D-17B1134849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372354"/>
              </p:ext>
            </p:extLst>
          </p:nvPr>
        </p:nvGraphicFramePr>
        <p:xfrm>
          <a:off x="914400" y="977900"/>
          <a:ext cx="7975600" cy="3548813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515641">
                  <a:extLst>
                    <a:ext uri="{9D8B030D-6E8A-4147-A177-3AD203B41FA5}">
                      <a16:colId xmlns:a16="http://schemas.microsoft.com/office/drawing/2014/main" val="3496453752"/>
                    </a:ext>
                  </a:extLst>
                </a:gridCol>
                <a:gridCol w="2801425">
                  <a:extLst>
                    <a:ext uri="{9D8B030D-6E8A-4147-A177-3AD203B41FA5}">
                      <a16:colId xmlns:a16="http://schemas.microsoft.com/office/drawing/2014/main" val="834597792"/>
                    </a:ext>
                  </a:extLst>
                </a:gridCol>
                <a:gridCol w="2658534">
                  <a:extLst>
                    <a:ext uri="{9D8B030D-6E8A-4147-A177-3AD203B41FA5}">
                      <a16:colId xmlns:a16="http://schemas.microsoft.com/office/drawing/2014/main" val="3329996822"/>
                    </a:ext>
                  </a:extLst>
                </a:gridCol>
              </a:tblGrid>
              <a:tr h="6208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Stage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Europe kg CO₂e per 100 kg CO₂e total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Africa kg CO₂e per 100 kg CO₂e total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899689516"/>
                  </a:ext>
                </a:extLst>
              </a:tr>
              <a:tr h="354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Production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50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75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902554139"/>
                  </a:ext>
                </a:extLst>
              </a:tr>
              <a:tr h="6025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Post-Harvest Handling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18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11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3972695417"/>
                  </a:ext>
                </a:extLst>
              </a:tr>
              <a:tr h="354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Transportation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7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4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275224223"/>
                  </a:ext>
                </a:extLst>
              </a:tr>
              <a:tr h="354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Consumption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15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3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595802755"/>
                  </a:ext>
                </a:extLst>
              </a:tr>
              <a:tr h="8703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Waste generation/end-of-life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10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7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2021243652"/>
                  </a:ext>
                </a:extLst>
              </a:tr>
              <a:tr h="354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Total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>
                          <a:effectLst/>
                          <a:latin typeface="Sagona" panose="02010004040101010103" pitchFamily="2" charset="0"/>
                        </a:rPr>
                        <a:t>100</a:t>
                      </a:r>
                      <a:endParaRPr lang="en-RO" sz="1800" b="0" i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RO" sz="1800" dirty="0">
                          <a:effectLst/>
                          <a:latin typeface="Sagona" panose="02010004040101010103" pitchFamily="2" charset="0"/>
                        </a:rPr>
                        <a:t>100</a:t>
                      </a:r>
                      <a:endParaRPr lang="en-RO" sz="1800" b="0" i="0" dirty="0">
                        <a:solidFill>
                          <a:srgbClr val="FFFFFF"/>
                        </a:solidFill>
                        <a:effectLst/>
                        <a:latin typeface="Sagona" panose="02010004040101010103" pitchFamily="2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21982840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8B2DF1DE-E3DD-11CD-EEC5-FDFE1A0D6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85699"/>
            <a:ext cx="7704000" cy="572700"/>
          </a:xfrm>
        </p:spPr>
        <p:txBody>
          <a:bodyPr/>
          <a:lstStyle/>
          <a:p>
            <a:r>
              <a:rPr lang="en-RO" dirty="0"/>
              <a:t>Carbon Footprint </a:t>
            </a:r>
          </a:p>
        </p:txBody>
      </p:sp>
    </p:spTree>
    <p:extLst>
      <p:ext uri="{BB962C8B-B14F-4D97-AF65-F5344CB8AC3E}">
        <p14:creationId xmlns:p14="http://schemas.microsoft.com/office/powerpoint/2010/main" val="1088789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D663C-6D57-B54E-EDCD-C6D63269F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RO"/>
              <a:t>SCFFS as the Solution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F146619-52DA-2019-D9AE-7D1FB4C463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8254969"/>
              </p:ext>
            </p:extLst>
          </p:nvPr>
        </p:nvGraphicFramePr>
        <p:xfrm>
          <a:off x="511900" y="1169670"/>
          <a:ext cx="8467000" cy="3032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462680">
                  <a:extLst>
                    <a:ext uri="{9D8B030D-6E8A-4147-A177-3AD203B41FA5}">
                      <a16:colId xmlns:a16="http://schemas.microsoft.com/office/drawing/2014/main" val="1912373627"/>
                    </a:ext>
                  </a:extLst>
                </a:gridCol>
                <a:gridCol w="6004320">
                  <a:extLst>
                    <a:ext uri="{9D8B030D-6E8A-4147-A177-3AD203B41FA5}">
                      <a16:colId xmlns:a16="http://schemas.microsoft.com/office/drawing/2014/main" val="1663645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Answer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2094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Production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Precision Agriculture, Organic Farming, Crop Rotation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943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Post Harvest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Cold Chains, Silos,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2260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Transportation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Food Hubs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629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Consumption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Sustainable Packaging Material , Food Sharing, AI Driven Food Consumption Analytics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37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Waste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RO" sz="1800" dirty="0">
                          <a:latin typeface="Sagona" panose="02010004040101010103" pitchFamily="2" charset="0"/>
                        </a:rPr>
                        <a:t>Biotechnological transformation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3299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438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C909E-D982-7877-B279-2CCA1E79E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900" y="227400"/>
            <a:ext cx="7704000" cy="572700"/>
          </a:xfrm>
        </p:spPr>
        <p:txBody>
          <a:bodyPr/>
          <a:lstStyle/>
          <a:p>
            <a:r>
              <a:rPr lang="en-US" dirty="0"/>
              <a:t>Production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BBC78C3-B264-F894-483F-AE927E61BD5E}"/>
              </a:ext>
            </a:extLst>
          </p:cNvPr>
          <p:cNvPicPr>
            <a:picLocks/>
          </p:cNvPicPr>
          <p:nvPr/>
        </p:nvPicPr>
        <p:blipFill>
          <a:blip r:embed="rId2"/>
          <a:srcRect r="17831" b="13938"/>
          <a:stretch/>
        </p:blipFill>
        <p:spPr>
          <a:xfrm>
            <a:off x="571501" y="1005025"/>
            <a:ext cx="3843628" cy="3312975"/>
          </a:xfrm>
          <a:prstGeom prst="rect">
            <a:avLst/>
          </a:prstGeom>
          <a:ln w="0">
            <a:noFill/>
          </a:ln>
        </p:spPr>
      </p:pic>
      <p:pic>
        <p:nvPicPr>
          <p:cNvPr id="4" name="Picture 99">
            <a:extLst>
              <a:ext uri="{FF2B5EF4-FFF2-40B4-BE49-F238E27FC236}">
                <a16:creationId xmlns:a16="http://schemas.microsoft.com/office/drawing/2014/main" id="{629D1608-83AB-25D6-59B9-CF6DF5DDAFE9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4572000" y="527650"/>
            <a:ext cx="3852000" cy="3790350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092556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56EC-8448-9A13-5F97-FDB337B44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3003" y="0"/>
            <a:ext cx="7704000" cy="572700"/>
          </a:xfrm>
        </p:spPr>
        <p:txBody>
          <a:bodyPr/>
          <a:lstStyle/>
          <a:p>
            <a:r>
              <a:rPr lang="en-US" dirty="0"/>
              <a:t>Consumption</a:t>
            </a:r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D7E514E3-3012-DB24-2681-334ADA21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043" y="768259"/>
            <a:ext cx="6928157" cy="4133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891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693398" y="369583"/>
            <a:ext cx="7757204" cy="57450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400" b="1" dirty="0">
                <a:latin typeface="Optima" panose="02000503060000020004" pitchFamily="2" charset="0"/>
              </a:rPr>
              <a:t>WHEN WE WASTE FOOD, DO WE ONLY WASTE FOOD?</a:t>
            </a:r>
          </a:p>
        </p:txBody>
      </p:sp>
      <p:cxnSp>
        <p:nvCxnSpPr>
          <p:cNvPr id="412" name="Google Shape;412;p39"/>
          <p:cNvCxnSpPr/>
          <p:nvPr/>
        </p:nvCxnSpPr>
        <p:spPr>
          <a:xfrm>
            <a:off x="720000" y="980907"/>
            <a:ext cx="61521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F3B7661-ABC4-89EC-9E15-2833F6CA6492}"/>
              </a:ext>
            </a:extLst>
          </p:cNvPr>
          <p:cNvSpPr txBox="1"/>
          <p:nvPr/>
        </p:nvSpPr>
        <p:spPr>
          <a:xfrm>
            <a:off x="432189" y="980907"/>
            <a:ext cx="82796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Optima" panose="02000503060000020004" pitchFamily="2" charset="0"/>
              </a:rPr>
              <a:t>🍎 </a:t>
            </a:r>
            <a:r>
              <a:rPr lang="en-US" sz="1800" b="1" dirty="0">
                <a:latin typeface="Optima" panose="02000503060000020004" pitchFamily="2" charset="0"/>
              </a:rPr>
              <a:t>FOOD</a:t>
            </a:r>
            <a:br>
              <a:rPr lang="en-US" sz="1800" dirty="0">
                <a:latin typeface="Optima" panose="02000503060000020004" pitchFamily="2" charset="0"/>
              </a:rPr>
            </a:br>
            <a:r>
              <a:rPr lang="en-US" sz="1800" dirty="0">
                <a:latin typeface="Optima" panose="02000503060000020004" pitchFamily="2" charset="0"/>
              </a:rPr>
              <a:t>But also…</a:t>
            </a:r>
          </a:p>
          <a:p>
            <a:r>
              <a:rPr lang="en-US" sz="1800" dirty="0">
                <a:latin typeface="Optima" panose="02000503060000020004" pitchFamily="2" charset="0"/>
              </a:rPr>
              <a:t>💧 </a:t>
            </a:r>
            <a:r>
              <a:rPr lang="en-US" sz="1800" b="1" dirty="0">
                <a:latin typeface="Optima" panose="02000503060000020004" pitchFamily="2" charset="0"/>
              </a:rPr>
              <a:t>WATER</a:t>
            </a:r>
            <a:r>
              <a:rPr lang="en-US" sz="1800" dirty="0">
                <a:latin typeface="Optima" panose="02000503060000020004" pitchFamily="2" charset="0"/>
              </a:rPr>
              <a:t> used for production</a:t>
            </a:r>
          </a:p>
          <a:p>
            <a:r>
              <a:rPr lang="en-US" sz="1800" dirty="0">
                <a:latin typeface="Optima" panose="02000503060000020004" pitchFamily="2" charset="0"/>
              </a:rPr>
              <a:t>🌱 </a:t>
            </a:r>
            <a:r>
              <a:rPr lang="en-US" sz="1800" b="1" dirty="0">
                <a:latin typeface="Optima" panose="02000503060000020004" pitchFamily="2" charset="0"/>
              </a:rPr>
              <a:t>LAND &amp; SOIL RESOURCES</a:t>
            </a:r>
            <a:r>
              <a:rPr lang="en-US" sz="1800" dirty="0">
                <a:latin typeface="Optima" panose="02000503060000020004" pitchFamily="2" charset="0"/>
              </a:rPr>
              <a:t> used for cultivation</a:t>
            </a:r>
          </a:p>
          <a:p>
            <a:r>
              <a:rPr lang="en-US" sz="1800" dirty="0">
                <a:latin typeface="Optima" panose="02000503060000020004" pitchFamily="2" charset="0"/>
              </a:rPr>
              <a:t>🧪 </a:t>
            </a:r>
            <a:r>
              <a:rPr lang="en-US" sz="1800" b="1" dirty="0">
                <a:latin typeface="Optima" panose="02000503060000020004" pitchFamily="2" charset="0"/>
              </a:rPr>
              <a:t>AGRICULTURAL INPUTS</a:t>
            </a:r>
            <a:r>
              <a:rPr lang="en-US" sz="1800" dirty="0">
                <a:latin typeface="Optima" panose="02000503060000020004" pitchFamily="2" charset="0"/>
              </a:rPr>
              <a:t> used to grow the crop</a:t>
            </a:r>
          </a:p>
          <a:p>
            <a:r>
              <a:rPr lang="en-US" sz="1800" dirty="0">
                <a:latin typeface="Optima" panose="02000503060000020004" pitchFamily="2" charset="0"/>
              </a:rPr>
              <a:t>⚡ </a:t>
            </a:r>
            <a:r>
              <a:rPr lang="en-US" sz="1800" b="1" dirty="0">
                <a:latin typeface="Optima" panose="02000503060000020004" pitchFamily="2" charset="0"/>
              </a:rPr>
              <a:t>ENERGY</a:t>
            </a:r>
            <a:r>
              <a:rPr lang="en-US" sz="1800" dirty="0">
                <a:latin typeface="Optima" panose="02000503060000020004" pitchFamily="2" charset="0"/>
              </a:rPr>
              <a:t> used for processing, storage and transport</a:t>
            </a:r>
          </a:p>
          <a:p>
            <a:r>
              <a:rPr lang="en-US" sz="1800" dirty="0">
                <a:latin typeface="Optima" panose="02000503060000020004" pitchFamily="2" charset="0"/>
              </a:rPr>
              <a:t>📦 </a:t>
            </a:r>
            <a:r>
              <a:rPr lang="en-US" sz="1800" b="1" dirty="0">
                <a:latin typeface="Optima" panose="02000503060000020004" pitchFamily="2" charset="0"/>
              </a:rPr>
              <a:t>PACKAGING &amp; MATERIALS</a:t>
            </a:r>
            <a:r>
              <a:rPr lang="en-US" sz="1800" dirty="0">
                <a:latin typeface="Optima" panose="02000503060000020004" pitchFamily="2" charset="0"/>
              </a:rPr>
              <a:t> used before consumption</a:t>
            </a:r>
          </a:p>
          <a:p>
            <a:endParaRPr lang="en-US" sz="1800" dirty="0">
              <a:latin typeface="Optima" panose="02000503060000020004" pitchFamily="2" charset="0"/>
            </a:endParaRPr>
          </a:p>
          <a:p>
            <a:r>
              <a:rPr lang="en-US" sz="1800" b="1" dirty="0">
                <a:latin typeface="Optima" panose="02000503060000020004" pitchFamily="2" charset="0"/>
              </a:rPr>
              <a:t>So the real question is not only:</a:t>
            </a:r>
          </a:p>
          <a:p>
            <a:endParaRPr lang="en-US" sz="1800" b="1" dirty="0">
              <a:latin typeface="Optima" panose="02000503060000020004" pitchFamily="2" charset="0"/>
            </a:endParaRPr>
          </a:p>
          <a:p>
            <a:pPr algn="ctr"/>
            <a:r>
              <a:rPr lang="en-US" sz="1800" b="1" dirty="0">
                <a:latin typeface="Optima" panose="02000503060000020004" pitchFamily="2" charset="0"/>
              </a:rPr>
              <a:t>“How can we produce more food?”</a:t>
            </a:r>
            <a:endParaRPr lang="en-US" sz="1800" dirty="0">
              <a:latin typeface="Optima" panose="02000503060000020004" pitchFamily="2" charset="0"/>
            </a:endParaRPr>
          </a:p>
          <a:p>
            <a:r>
              <a:rPr lang="en-US" sz="1800" b="1" dirty="0">
                <a:latin typeface="Optima" panose="02000503060000020004" pitchFamily="2" charset="0"/>
              </a:rPr>
              <a:t>But also:</a:t>
            </a:r>
          </a:p>
          <a:p>
            <a:endParaRPr lang="en-US" sz="1800" b="1" dirty="0">
              <a:latin typeface="Optima" panose="02000503060000020004" pitchFamily="2" charset="0"/>
            </a:endParaRPr>
          </a:p>
          <a:p>
            <a:pPr algn="ctr"/>
            <a:r>
              <a:rPr lang="en-US" sz="1800" b="1" dirty="0">
                <a:latin typeface="Optima" panose="02000503060000020004" pitchFamily="2" charset="0"/>
              </a:rPr>
              <a:t>“How can we obtain more value from what we already produce?</a:t>
            </a:r>
            <a:endParaRPr lang="en-US" sz="1800" dirty="0">
              <a:latin typeface="Optima" panose="02000503060000020004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 tmFilter="0,0; .5, 1; 1, 1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 tmFilter="0,0; .5, 1; 1, 1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/>
          <p:cNvSpPr txBox="1">
            <a:spLocks noGrp="1"/>
          </p:cNvSpPr>
          <p:nvPr>
            <p:ph type="title"/>
          </p:nvPr>
        </p:nvSpPr>
        <p:spPr>
          <a:xfrm>
            <a:off x="510084" y="0"/>
            <a:ext cx="7611200" cy="5726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>
                <a:latin typeface="Sagona" panose="02010004040101010103" pitchFamily="2" charset="0"/>
              </a:rPr>
              <a:t>WHAT IF FOOD WASTE BECAME A RESOURCE?</a:t>
            </a:r>
            <a:endParaRPr sz="2400" dirty="0"/>
          </a:p>
        </p:txBody>
      </p:sp>
      <p:cxnSp>
        <p:nvCxnSpPr>
          <p:cNvPr id="497" name="Google Shape;497;p46"/>
          <p:cNvCxnSpPr/>
          <p:nvPr/>
        </p:nvCxnSpPr>
        <p:spPr>
          <a:xfrm>
            <a:off x="872400" y="447507"/>
            <a:ext cx="527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 descr="Generated image: Food Waste to Sustainable Products">
            <a:extLst>
              <a:ext uri="{FF2B5EF4-FFF2-40B4-BE49-F238E27FC236}">
                <a16:creationId xmlns:a16="http://schemas.microsoft.com/office/drawing/2014/main" id="{0280E9D0-140D-04D7-C337-5F3A993BA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92" y="447507"/>
            <a:ext cx="2962275" cy="1974850"/>
          </a:xfrm>
          <a:prstGeom prst="rect">
            <a:avLst/>
          </a:prstGeom>
        </p:spPr>
      </p:pic>
      <p:sp>
        <p:nvSpPr>
          <p:cNvPr id="3" name="Google Shape;439;p41">
            <a:extLst>
              <a:ext uri="{FF2B5EF4-FFF2-40B4-BE49-F238E27FC236}">
                <a16:creationId xmlns:a16="http://schemas.microsoft.com/office/drawing/2014/main" id="{3071DA34-AFFA-9F51-B3A5-1C7271C0067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-74367" y="286348"/>
            <a:ext cx="7172934" cy="16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sz="1400" b="1" dirty="0"/>
          </a:p>
          <a:p>
            <a:pPr algn="l"/>
            <a:r>
              <a:rPr lang="en-US" sz="1400" dirty="0"/>
              <a:t>🌾 </a:t>
            </a:r>
            <a:r>
              <a:rPr lang="en-US" sz="1400" b="1" dirty="0"/>
              <a:t>AGRICULTURAL RESIDUES → MUSHROOMS 🍄 &amp; YEAST </a:t>
            </a:r>
            <a:r>
              <a:rPr lang="en-US" dirty="0"/>
              <a:t>🟡</a:t>
            </a:r>
            <a:br>
              <a:rPr lang="en-US" sz="1400" dirty="0"/>
            </a:br>
            <a:r>
              <a:rPr lang="en-US" sz="1400" dirty="0"/>
              <a:t>Straw and other crop residues can become growing substrates for edible mushrooms.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🍎 </a:t>
            </a:r>
            <a:r>
              <a:rPr lang="en-US" sz="1400" b="1" dirty="0"/>
              <a:t>REJECTED PRODUCE → NEW FOODS 🥫</a:t>
            </a:r>
            <a:br>
              <a:rPr lang="en-US" sz="1400" dirty="0"/>
            </a:br>
            <a:r>
              <a:rPr lang="en-US" sz="1400" dirty="0"/>
              <a:t>Fruits and vegetables that are still edible can be transformed into sauces, fermented foods, drinks or other products.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🍊 </a:t>
            </a:r>
            <a:r>
              <a:rPr lang="en-US" sz="1400" b="1" dirty="0"/>
              <a:t>FRUIT SIDE-STREAMS → BIO-BASED PACKAGING 📦</a:t>
            </a:r>
            <a:br>
              <a:rPr lang="en-US" sz="1400" dirty="0"/>
            </a:br>
            <a:r>
              <a:rPr lang="en-US" sz="1400" dirty="0"/>
              <a:t>Peels and pomace contain useful compounds such as pectin and cellulose that can be used to develop food films and coatings.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🍇 </a:t>
            </a:r>
            <a:r>
              <a:rPr lang="en-US" sz="1400" b="1" dirty="0"/>
              <a:t>GRAPE POMACE → FOOD INGREDIENTS 🧪</a:t>
            </a:r>
            <a:br>
              <a:rPr lang="en-US" sz="1400" dirty="0"/>
            </a:br>
            <a:r>
              <a:rPr lang="en-US" sz="1400" dirty="0"/>
              <a:t>Grape skins and seeds left after processing can provide </a:t>
            </a:r>
            <a:r>
              <a:rPr lang="en-US" sz="1400" dirty="0" err="1"/>
              <a:t>fibre</a:t>
            </a:r>
            <a:r>
              <a:rPr lang="en-US" sz="1400" dirty="0"/>
              <a:t> and valuable bioactive compounds for new food products.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🌾 </a:t>
            </a:r>
            <a:r>
              <a:rPr lang="en-US" sz="1400" b="1" dirty="0"/>
              <a:t>BREWERS’ SPENT GRAIN → NEW FOODS 🍞</a:t>
            </a:r>
            <a:br>
              <a:rPr lang="en-US" sz="1400" dirty="0"/>
            </a:br>
            <a:r>
              <a:rPr lang="en-US" sz="1400" dirty="0"/>
              <a:t>The grain left after brewing is rich in </a:t>
            </a:r>
            <a:r>
              <a:rPr lang="en-US" sz="1400" dirty="0" err="1"/>
              <a:t>fibre</a:t>
            </a:r>
            <a:r>
              <a:rPr lang="en-US" sz="1400" dirty="0"/>
              <a:t> and protein and can be reused as an ingredient in bread, pasta or snacks.</a:t>
            </a:r>
          </a:p>
          <a:p>
            <a:pPr marL="0" lvl="0" indent="0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3D51FF-D916-A01E-2568-A0069D7F15AF}"/>
              </a:ext>
            </a:extLst>
          </p:cNvPr>
          <p:cNvSpPr txBox="1"/>
          <p:nvPr/>
        </p:nvSpPr>
        <p:spPr>
          <a:xfrm>
            <a:off x="2738192" y="4326661"/>
            <a:ext cx="7188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US" sz="1400" dirty="0"/>
          </a:p>
          <a:p>
            <a:pPr algn="l"/>
            <a:r>
              <a:rPr lang="en-US" sz="1400" b="1" dirty="0"/>
              <a:t>                                       WASTE → RESOURCE → NEW VALUE ♻️</a:t>
            </a:r>
          </a:p>
          <a:p>
            <a:pPr algn="l"/>
            <a:r>
              <a:rPr lang="en-US" sz="1400" b="1" dirty="0"/>
              <a:t>                 Keeping valuable agricultural resources within the food system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>
          <a:extLst>
            <a:ext uri="{FF2B5EF4-FFF2-40B4-BE49-F238E27FC236}">
              <a16:creationId xmlns:a16="http://schemas.microsoft.com/office/drawing/2014/main" id="{90E9944C-DFA8-1640-AF93-541B33B75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6">
            <a:extLst>
              <a:ext uri="{FF2B5EF4-FFF2-40B4-BE49-F238E27FC236}">
                <a16:creationId xmlns:a16="http://schemas.microsoft.com/office/drawing/2014/main" id="{504B903D-0787-5B42-FED8-6BD11D4EC4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8300" y="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Sagona" panose="02010004040101010103" pitchFamily="2" charset="0"/>
              </a:rPr>
              <a:t>Conclusions</a:t>
            </a:r>
            <a:endParaRPr dirty="0">
              <a:latin typeface="Sagona" panose="02010004040101010103" pitchFamily="2" charset="0"/>
            </a:endParaRPr>
          </a:p>
        </p:txBody>
      </p:sp>
      <p:cxnSp>
        <p:nvCxnSpPr>
          <p:cNvPr id="497" name="Google Shape;497;p46">
            <a:extLst>
              <a:ext uri="{FF2B5EF4-FFF2-40B4-BE49-F238E27FC236}">
                <a16:creationId xmlns:a16="http://schemas.microsoft.com/office/drawing/2014/main" id="{DE3D32A4-1B99-1ABC-63CA-F337118326E6}"/>
              </a:ext>
            </a:extLst>
          </p:cNvPr>
          <p:cNvCxnSpPr/>
          <p:nvPr/>
        </p:nvCxnSpPr>
        <p:spPr>
          <a:xfrm>
            <a:off x="872400" y="447507"/>
            <a:ext cx="52794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91ABF65-0D65-5C3C-FD06-57E4FF65677F}"/>
              </a:ext>
            </a:extLst>
          </p:cNvPr>
          <p:cNvSpPr txBox="1"/>
          <p:nvPr/>
        </p:nvSpPr>
        <p:spPr>
          <a:xfrm>
            <a:off x="872400" y="286350"/>
            <a:ext cx="82716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None/>
            </a:pPr>
            <a:endParaRPr lang="en-US" sz="1600" b="1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r>
              <a:rPr lang="en-US" sz="1600" dirty="0">
                <a:latin typeface="Sagona" panose="02010004040101010103" pitchFamily="2" charset="0"/>
              </a:rPr>
              <a:t>🌍 </a:t>
            </a:r>
            <a:r>
              <a:rPr lang="en-US" sz="1600" b="1" dirty="0">
                <a:latin typeface="Sagona" panose="02010004040101010103" pitchFamily="2" charset="0"/>
              </a:rPr>
              <a:t>One planet, many paths</a:t>
            </a:r>
          </a:p>
          <a:p>
            <a:br>
              <a:rPr lang="en-US" sz="1600" dirty="0">
                <a:latin typeface="Sagona" panose="02010004040101010103" pitchFamily="2" charset="0"/>
              </a:rPr>
            </a:br>
            <a:r>
              <a:rPr lang="en-US" sz="1600" dirty="0">
                <a:latin typeface="Sagona" panose="02010004040101010103" pitchFamily="2" charset="0"/>
              </a:rPr>
              <a:t>Europe and Africa waste food at different points, for different reasons — sustainability isn't a single fix, it's a fit.</a:t>
            </a:r>
          </a:p>
          <a:p>
            <a:pPr indent="0" algn="l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pPr indent="0" algn="l">
              <a:buNone/>
            </a:pP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♻️ The common path</a:t>
            </a:r>
          </a:p>
          <a:p>
            <a:pPr indent="0" algn="l">
              <a:buNone/>
            </a:pPr>
            <a:b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</a:b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Sustainability is not only about producing more — it is about </a:t>
            </a:r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using better, wasting less and recovering more value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.</a:t>
            </a:r>
          </a:p>
          <a:p>
            <a:pPr indent="0" algn="l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r>
              <a:rPr lang="en-US" sz="1600" dirty="0">
                <a:latin typeface="Sagona" panose="02010004040101010103" pitchFamily="2" charset="0"/>
              </a:rPr>
              <a:t>🔄 </a:t>
            </a:r>
            <a:r>
              <a:rPr lang="en-US" sz="1600" b="1" dirty="0">
                <a:latin typeface="Sagona" panose="02010004040101010103" pitchFamily="2" charset="0"/>
              </a:rPr>
              <a:t>Circularity is the system, not an add-on</a:t>
            </a:r>
          </a:p>
          <a:p>
            <a:br>
              <a:rPr lang="en-US" sz="1600" dirty="0">
                <a:latin typeface="Sagona" panose="02010004040101010103" pitchFamily="2" charset="0"/>
              </a:rPr>
            </a:br>
            <a:r>
              <a:rPr lang="en-US" sz="1600" dirty="0">
                <a:latin typeface="Sagona" panose="02010004040101010103" pitchFamily="2" charset="0"/>
              </a:rPr>
              <a:t>Production, biotechnology, and engineering aren't separate stages — they're one continuous loop, and every closed loop is carbon we didn't have to spend twice.</a:t>
            </a:r>
          </a:p>
          <a:p>
            <a:r>
              <a:rPr lang="en-US" sz="1600" dirty="0">
                <a:latin typeface="Sagona" panose="02010004040101010103" pitchFamily="2" charset="0"/>
              </a:rPr>
              <a:t>The most sustainable meal isn't the one grown fastest — it's the one nothing is wasted from.</a:t>
            </a:r>
          </a:p>
          <a:p>
            <a:pPr indent="0" algn="l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  <a:p>
            <a:pPr algn="ctr"/>
            <a:r>
              <a:rPr lang="en-US" sz="1600" b="1" i="0" dirty="0">
                <a:solidFill>
                  <a:srgbClr val="000000"/>
                </a:solidFill>
                <a:effectLst/>
                <a:latin typeface="Sagona" panose="02010004040101010103" pitchFamily="2" charset="0"/>
              </a:rPr>
              <a:t>🌱 </a:t>
            </a:r>
            <a:r>
              <a:rPr lang="en-US" sz="1600" b="1" dirty="0">
                <a:latin typeface="Sagona" panose="02010004040101010103" pitchFamily="2" charset="0"/>
              </a:rPr>
              <a:t>SCFFS: from farm to fork, and back again — nothing lost, everything valued.</a:t>
            </a:r>
            <a:endParaRPr lang="en-US" sz="1600" dirty="0">
              <a:latin typeface="Sagona" panose="02010004040101010103" pitchFamily="2" charset="0"/>
            </a:endParaRPr>
          </a:p>
          <a:p>
            <a:pPr indent="0" algn="l">
              <a:buNone/>
            </a:pPr>
            <a:endParaRPr lang="en-US" sz="1600" b="0" i="0" dirty="0">
              <a:solidFill>
                <a:srgbClr val="000000"/>
              </a:solidFill>
              <a:effectLst/>
              <a:latin typeface="Sagona" panose="020100040401010101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2510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Europe and Africa’s Sustainable High-Five">
            <a:extLst>
              <a:ext uri="{FF2B5EF4-FFF2-40B4-BE49-F238E27FC236}">
                <a16:creationId xmlns:a16="http://schemas.microsoft.com/office/drawing/2014/main" id="{D6CF876E-DA91-9C14-5553-B0BB02D2B4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39774" y="0"/>
            <a:ext cx="7705725" cy="513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39781"/>
      </p:ext>
    </p:extLst>
  </p:cSld>
  <p:clrMapOvr>
    <a:masterClrMapping/>
  </p:clrMapOvr>
</p:sld>
</file>

<file path=ppt/theme/theme1.xml><?xml version="1.0" encoding="utf-8"?>
<a:theme xmlns:a="http://schemas.openxmlformats.org/drawingml/2006/main" name="What To Do For World Nature Conservation Day by Slidesgo">
  <a:themeElements>
    <a:clrScheme name="Simple Light">
      <a:dk1>
        <a:srgbClr val="13234B"/>
      </a:dk1>
      <a:lt1>
        <a:srgbClr val="FFFFFF"/>
      </a:lt1>
      <a:dk2>
        <a:srgbClr val="FEFEFE"/>
      </a:dk2>
      <a:lt2>
        <a:srgbClr val="678D41"/>
      </a:lt2>
      <a:accent1>
        <a:srgbClr val="C9D887"/>
      </a:accent1>
      <a:accent2>
        <a:srgbClr val="5080D4"/>
      </a:accent2>
      <a:accent3>
        <a:srgbClr val="394D85"/>
      </a:accent3>
      <a:accent4>
        <a:srgbClr val="A2CE9C"/>
      </a:accent4>
      <a:accent5>
        <a:srgbClr val="7EC1F4"/>
      </a:accent5>
      <a:accent6>
        <a:srgbClr val="FFFFFF"/>
      </a:accent6>
      <a:hlink>
        <a:srgbClr val="13234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612</Words>
  <Application>Microsoft Macintosh PowerPoint</Application>
  <PresentationFormat>On-screen Show (16:9)</PresentationFormat>
  <Paragraphs>96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Optima</vt:lpstr>
      <vt:lpstr>Fahkwang</vt:lpstr>
      <vt:lpstr>Nordique Inline</vt:lpstr>
      <vt:lpstr>Sagona</vt:lpstr>
      <vt:lpstr>Quicksand</vt:lpstr>
      <vt:lpstr>Arial</vt:lpstr>
      <vt:lpstr>What To Do For World Nature Conservation Day by Slidesgo</vt:lpstr>
      <vt:lpstr>Sustainable Circular Farm to Fork Systems (SCFFS) </vt:lpstr>
      <vt:lpstr>INTRODUCTION</vt:lpstr>
      <vt:lpstr>PowerPoint Presentation</vt:lpstr>
      <vt:lpstr>Carbon Footprint </vt:lpstr>
      <vt:lpstr>SCFFS as the Solution</vt:lpstr>
      <vt:lpstr>Production</vt:lpstr>
      <vt:lpstr>Consumption</vt:lpstr>
      <vt:lpstr>WHEN WE WASTE FOOD, DO WE ONLY WASTE FOOD?</vt:lpstr>
      <vt:lpstr>WHAT IF FOOD WASTE BECAME A RESOURCE?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Ana Maria Manolică</cp:lastModifiedBy>
  <cp:revision>16</cp:revision>
  <dcterms:modified xsi:type="dcterms:W3CDTF">2026-09-11T07:26:21Z</dcterms:modified>
</cp:coreProperties>
</file>