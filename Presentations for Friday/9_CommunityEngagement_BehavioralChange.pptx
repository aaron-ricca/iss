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816FA-92A1-9747-9DA9-9C0DAB0FCFF3}" type="datetimeFigureOut">
              <a:rPr lang="de-DE" smtClean="0"/>
              <a:t>10.09.26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3F60F-D9CC-0345-8B64-002667F990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5637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A4A4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82880"/>
            <a:ext cx="2926080" cy="2926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4023360" cy="4023360"/>
          </a:xfrm>
          <a:prstGeom prst="ellipse">
            <a:avLst/>
          </a:prstGeom>
          <a:solidFill>
            <a:srgbClr val="0A4A4C"/>
          </a:solidFill>
          <a:ln/>
        </p:spPr>
      </p:sp>
      <p:sp>
        <p:nvSpPr>
          <p:cNvPr id="5" name="Shape 3"/>
          <p:cNvSpPr/>
          <p:nvPr/>
        </p:nvSpPr>
        <p:spPr>
          <a:xfrm>
            <a:off x="-548640" y="5212080"/>
            <a:ext cx="2011680" cy="20116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START WITH A QUESTION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46304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liters of water do you think is necessary to produce one cotton t-shirt?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611880"/>
            <a:ext cx="10607040" cy="1783080"/>
          </a:xfrm>
          <a:prstGeom prst="roundRect">
            <a:avLst>
              <a:gd name="adj" fmla="val 5128"/>
            </a:avLst>
          </a:prstGeom>
          <a:solidFill>
            <a:srgbClr val="0A4A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2,700 liters of fresh water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7091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enough drinking water for one person for 2.5 years.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Fashion, Community &amp; Behavioral Change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A4A4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82880"/>
            <a:ext cx="2926080" cy="2926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4023360" cy="4023360"/>
          </a:xfrm>
          <a:prstGeom prst="ellipse">
            <a:avLst/>
          </a:prstGeom>
          <a:solidFill>
            <a:srgbClr val="0A4A4C"/>
          </a:solidFill>
          <a:ln/>
        </p:spPr>
      </p:sp>
      <p:sp>
        <p:nvSpPr>
          <p:cNvPr id="5" name="Shape 3"/>
          <p:cNvSpPr/>
          <p:nvPr/>
        </p:nvSpPr>
        <p:spPr>
          <a:xfrm>
            <a:off x="-548640" y="5212080"/>
            <a:ext cx="2011680" cy="20116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ENGAGEMENT  ·  BEHAVIORAL CHANGE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Rethinking Fast Fashion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A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local communities can turn awareness into lasting,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A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clothing habits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70916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Fashion, Community &amp; Behavioral Change – group 9 I Malte Siegismund, Tanisha Graf, Paula Graf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The Challenge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Fashion: A Community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clothes bought — worn only half as long as before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7E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Ellen MacArthur Foundation / UNEP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1691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12kg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286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textile is dumped per person each year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7E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European Parliament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1691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286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clothing is recycled back into new clothing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7E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European Parliament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EF6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822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for our project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2062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about the problem does not automatically change behavior — this is exactly where community engagement can help.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559552" cy="2103120"/>
          </a:xfrm>
          <a:prstGeom prst="roundRect">
            <a:avLst>
              <a:gd name="adj" fmla="val 3478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37947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 kg of CO2</a:t>
            </a:r>
            <a:r>
              <a:rPr lang="en-US" sz="1300" dirty="0">
                <a:solidFill>
                  <a:srgbClr val="E3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emission per person for textile purchases in the EU in 2022.</a:t>
            </a:r>
            <a:endParaRPr lang="en-US" sz="25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892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—&gt; 1‘800 km of travel by a standard petrol car.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5394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7E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European Parlament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Fashion &amp; Community Engagement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Understanding Behavior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Still Buy Fast Fashion?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" y="17830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7572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3090672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prices make buying new clothes an easy, low-risk decision.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7830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738628" y="26974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811780" y="3090672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everywhere, online and in-store, at any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0428" y="17830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10428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20056" y="26974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Trend-driven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93208" y="3090672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accelerates trend cycles and constant “new looks.”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91856" y="17830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91856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01484" y="26974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influence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74636" y="3090672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 and influencers normalize frequent new purchases.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273284" y="17830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273284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582912" y="26974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barrier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56064" y="3090672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alternatives can feel expensive or complicated.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9377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EF6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9377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“Information alone is often not enough. Sustainable behavior also needs to be easy and attractive.”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Fashion &amp; Community Engagement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206240" cy="4206240"/>
          </a:xfrm>
          <a:prstGeom prst="ellipse">
            <a:avLst/>
          </a:prstGeom>
          <a:solidFill>
            <a:srgbClr val="0A4A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Our Solution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Community-Based Sustainable Fashion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0A4A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10561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idea: create a local community that makes sustainable fashion easy, social and rewarding.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611880" cy="3246120"/>
          </a:xfrm>
          <a:prstGeom prst="roundRect">
            <a:avLst>
              <a:gd name="adj" fmla="val 2817"/>
            </a:avLst>
          </a:prstGeom>
          <a:solidFill>
            <a:srgbClr val="0A4A4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1546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3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77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43484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 schools &amp; universities, second-hand shops, repair services and local residents in one network.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2834640"/>
            <a:ext cx="3611880" cy="3246120"/>
          </a:xfrm>
          <a:prstGeom prst="roundRect">
            <a:avLst>
              <a:gd name="adj" fmla="val 2817"/>
            </a:avLst>
          </a:prstGeom>
          <a:solidFill>
            <a:srgbClr val="0A4A4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31546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3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977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43484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contributes through swap events, workshops, and everyday sustainable choices.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2834640"/>
            <a:ext cx="3611880" cy="3246120"/>
          </a:xfrm>
          <a:prstGeom prst="roundRect">
            <a:avLst>
              <a:gd name="adj" fmla="val 2817"/>
            </a:avLst>
          </a:prstGeom>
          <a:solidFill>
            <a:srgbClr val="0A4A4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31546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3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977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443484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positive experiences turn into new habits — and a new social norm.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Fashion &amp; Community Engagement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Implementation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Work?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activities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6446520" cy="566928"/>
          </a:xfrm>
          <a:prstGeom prst="roundRect">
            <a:avLst>
              <a:gd name="adj" fmla="val 9677"/>
            </a:avLst>
          </a:prstGeom>
          <a:solidFill>
            <a:srgbClr val="EEF6F5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13969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2139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057400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 swap events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34056"/>
            <a:ext cx="6446520" cy="566928"/>
          </a:xfrm>
          <a:prstGeom prst="roundRect">
            <a:avLst>
              <a:gd name="adj" fmla="val 9677"/>
            </a:avLst>
          </a:prstGeom>
          <a:solidFill>
            <a:srgbClr val="E3F1EF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81635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734056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&amp; upcycling workshops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6446520" cy="566928"/>
          </a:xfrm>
          <a:prstGeom prst="roundRect">
            <a:avLst>
              <a:gd name="adj" fmla="val 9677"/>
            </a:avLst>
          </a:prstGeom>
          <a:solidFill>
            <a:srgbClr val="EEF6F5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49300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410712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Second-hand pop-up events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6446520" cy="566928"/>
          </a:xfrm>
          <a:prstGeom prst="roundRect">
            <a:avLst>
              <a:gd name="adj" fmla="val 9677"/>
            </a:avLst>
          </a:prstGeom>
          <a:solidFill>
            <a:srgbClr val="E3F1E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4169664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08736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fashion challenges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764024"/>
            <a:ext cx="6446520" cy="566928"/>
          </a:xfrm>
          <a:prstGeom prst="roundRect">
            <a:avLst>
              <a:gd name="adj" fmla="val 9677"/>
            </a:avLst>
          </a:prstGeom>
          <a:solidFill>
            <a:srgbClr val="EEF6F5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84632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4846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4764024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take-home message after every activity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23760" y="1600200"/>
            <a:ext cx="4507992" cy="4709160"/>
          </a:xfrm>
          <a:prstGeom prst="roundRect">
            <a:avLst>
              <a:gd name="adj" fmla="val 2028"/>
            </a:avLst>
          </a:prstGeom>
          <a:solidFill>
            <a:srgbClr val="073B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0" y="18105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reflection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219456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activity ends with a simple prompt to think about your own habits: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98080" y="288036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0A4A4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99248" y="28803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many clothes did I buy this month?”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98080" y="393192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0A4A4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99248" y="3931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often do I actually wear my clothes?”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0" y="498348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0A4A4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699248" y="49834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“Could I repair, swap or buy second-hand instead of buying new?”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Fashion &amp; Community Engagement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Motivation &amp; Mechanism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Sustainable Behavior Fun &amp; Visible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82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453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points for sustainable actions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494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122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 community challenges, e.g. “30-Day No Fast Fashion” or “Wear It 30 Times”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791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and track progress together over 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461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rewards or discounts from local partners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95020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8130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Celebrate community achievements publicly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343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community activity to lasting behavior change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0352" y="484632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50592" y="484632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70632" y="484632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843784" y="484632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764024" y="484632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84064" y="484632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57216" y="484632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77456" y="484632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97496" y="484632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70648" y="484632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390888" y="484632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710928" y="484632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02C39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84080" y="484632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73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fast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73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“Instead of only telling people what is wrong, we give them an easy alternative.”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Fashion &amp; Community Engagement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4572000" cy="4572000"/>
          </a:xfrm>
          <a:prstGeom prst="ellipse">
            <a:avLst/>
          </a:prstGeom>
          <a:solidFill>
            <a:srgbClr val="0A4A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Impact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Expected Impact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0A4A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More conscious purchasing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393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Longer use of clothes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611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New sustainable habits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2544" y="219456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0A4A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26864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More sharing and repairing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36393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Stronger local connections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42611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Shared sense of progress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6448" y="219456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0A4A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30768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Less textile waste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36393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Lower demand for fast fashion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30768" y="42611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Reduced CO₂ footprint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Fashion &amp; Community Engagement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A4A4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82880"/>
            <a:ext cx="2926080" cy="2926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846320"/>
            <a:ext cx="4023360" cy="4023360"/>
          </a:xfrm>
          <a:prstGeom prst="ellipse">
            <a:avLst/>
          </a:prstGeom>
          <a:solidFill>
            <a:srgbClr val="0A4A4C"/>
          </a:solidFill>
          <a:ln/>
        </p:spPr>
      </p:sp>
      <p:sp>
        <p:nvSpPr>
          <p:cNvPr id="5" name="Shape 3"/>
          <p:cNvSpPr/>
          <p:nvPr/>
        </p:nvSpPr>
        <p:spPr>
          <a:xfrm>
            <a:off x="-822960" y="6126480"/>
            <a:ext cx="1645920" cy="1645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TAKE-HOME MESSAGE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7452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changes in our everyday choices can make a big difference, especially when we act together.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9377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Fashion, Community &amp; Behavioral Change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9</Slides>
  <Notes>9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0" baseType="lpstr"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Tanisha India Graf</cp:lastModifiedBy>
  <cp:revision>2</cp:revision>
  <dcterms:created xsi:type="dcterms:W3CDTF">2026-09-10T07:56:53Z</dcterms:created>
  <dcterms:modified xsi:type="dcterms:W3CDTF">2026-09-10T08:03:43Z</dcterms:modified>
</cp:coreProperties>
</file>