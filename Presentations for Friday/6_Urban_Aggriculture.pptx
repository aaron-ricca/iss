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2"/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B9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775" dt="2026-09-10T19:33:36.826"/>
    <p1510:client id="{12F5F4F2-EA17-97DB-3B85-1994604CF2FD}" v="249" dt="2026-09-10T09:08:10.586"/>
    <p1510:client id="{430583CF-E821-01F5-44BB-2F7709EB644B}" v="14" dt="2026-09-10T09:58:31.710"/>
    <p1510:client id="{9593588B-A509-D593-AA62-5618EB6B1DE6}" v="3" dt="2026-09-10T07:36:33.530"/>
    <p1510:client id="{97A61205-1234-31B5-A17F-54CA6CA2AF85}" v="1051" dt="2026-09-10T18:36:43.857"/>
    <p1510:client id="{BDF98EE6-EA65-BDA5-A9E2-2A7F6EDA3717}" v="8" dt="2026-09-10T09:52:24.354"/>
    <p1510:client id="{D79D6D1C-633D-4013-BD4C-DF28CF726BAB}" v="655" dt="2026-09-11T05:47:29.749"/>
    <p1510:client id="{FCEE3DC9-4B91-EF09-682F-3B1192764F20}" v="276" dt="2026-09-10T09:47:52.7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0" d="100"/>
          <a:sy n="130" d="100"/>
        </p:scale>
        <p:origin x="91" y="8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B414D1-52FC-364C-EFA5-3AF6FEA5F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AFA12F2-95B4-A6A6-ABCF-7CAA710DC7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19" b="-212"/>
          <a:stretch>
            <a:fillRect/>
          </a:stretch>
        </p:blipFill>
        <p:spPr>
          <a:xfrm>
            <a:off x="0" y="3267"/>
            <a:ext cx="12206488" cy="6865967"/>
          </a:xfrm>
          <a:prstGeom prst="rect">
            <a:avLst/>
          </a:prstGeom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4095C659-5C99-DF8F-A8B2-5F87F19A976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9000"/>
          </a:blip>
          <a:stretch>
            <a:fillRect/>
          </a:stretch>
        </p:blipFill>
        <p:spPr>
          <a:xfrm>
            <a:off x="1809750" y="1115317"/>
            <a:ext cx="8572500" cy="46272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BE6F9C2-4E5F-D700-22E9-3B649CCB4BDD}"/>
              </a:ext>
            </a:extLst>
          </p:cNvPr>
          <p:cNvSpPr txBox="1"/>
          <p:nvPr/>
        </p:nvSpPr>
        <p:spPr>
          <a:xfrm>
            <a:off x="2432923" y="3023783"/>
            <a:ext cx="7320915" cy="177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6600" b="1" dirty="0">
                <a:solidFill>
                  <a:srgbClr val="FFFFFF"/>
                </a:solidFill>
                <a:latin typeface="Poppins"/>
                <a:cs typeface="Poppins"/>
              </a:rPr>
              <a:t>Free the Carrots</a:t>
            </a:r>
            <a:endParaRPr lang="en-US" sz="6600" dirty="0">
              <a:solidFill>
                <a:srgbClr val="000000"/>
              </a:solidFill>
              <a:latin typeface="Poppins"/>
              <a:cs typeface="Poppins"/>
            </a:endParaRPr>
          </a:p>
          <a:p>
            <a:pPr algn="ctr">
              <a:lnSpc>
                <a:spcPts val="5362"/>
              </a:lnSpc>
            </a:pPr>
            <a:endParaRPr lang="en-US" sz="6600" b="1" dirty="0">
              <a:solidFill>
                <a:srgbClr val="FFFFFF"/>
              </a:solidFill>
              <a:latin typeface="Poppins"/>
              <a:cs typeface="Poppin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9D3C3C-CA97-CDA9-B77A-4BA1FDF1FA60}"/>
              </a:ext>
            </a:extLst>
          </p:cNvPr>
          <p:cNvSpPr txBox="1"/>
          <p:nvPr/>
        </p:nvSpPr>
        <p:spPr>
          <a:xfrm>
            <a:off x="2607232" y="1524383"/>
            <a:ext cx="6972300" cy="7075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2100" b="1" dirty="0">
                <a:solidFill>
                  <a:srgbClr val="10B981"/>
                </a:solidFill>
                <a:latin typeface="Lato"/>
                <a:ea typeface="Lato"/>
                <a:cs typeface="Lato"/>
              </a:rPr>
              <a:t>Group 6 : Urban Agriculture and Circular Food Systems</a:t>
            </a:r>
            <a:endParaRPr lang="en-US" dirty="0"/>
          </a:p>
          <a:p>
            <a:pPr algn="ctr">
              <a:lnSpc>
                <a:spcPts val="3359"/>
              </a:lnSpc>
            </a:pPr>
            <a:endParaRPr lang="en-US" sz="2100" b="1" dirty="0">
              <a:solidFill>
                <a:srgbClr val="10B98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8" name="Rounded Rectangle 17">
            <a:extLst>
              <a:ext uri="{FF2B5EF4-FFF2-40B4-BE49-F238E27FC236}">
                <a16:creationId xmlns:a16="http://schemas.microsoft.com/office/drawing/2014/main" id="{E30C0B3B-09C4-BAB4-B4D7-D332EC8CA1B1}"/>
              </a:ext>
            </a:extLst>
          </p:cNvPr>
          <p:cNvSpPr/>
          <p:nvPr/>
        </p:nvSpPr>
        <p:spPr>
          <a:xfrm>
            <a:off x="3823905" y="6473246"/>
            <a:ext cx="762000" cy="381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15">
            <a:extLst>
              <a:ext uri="{FF2B5EF4-FFF2-40B4-BE49-F238E27FC236}">
                <a16:creationId xmlns:a16="http://schemas.microsoft.com/office/drawing/2014/main" id="{12CF1D5B-F4C7-9AA8-4F38-ECC7FBEB593C}"/>
              </a:ext>
            </a:extLst>
          </p:cNvPr>
          <p:cNvSpPr/>
          <p:nvPr/>
        </p:nvSpPr>
        <p:spPr>
          <a:xfrm>
            <a:off x="3056343" y="6474914"/>
            <a:ext cx="762000" cy="381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8">
            <a:extLst>
              <a:ext uri="{FF2B5EF4-FFF2-40B4-BE49-F238E27FC236}">
                <a16:creationId xmlns:a16="http://schemas.microsoft.com/office/drawing/2014/main" id="{8234D51E-D920-B389-8F01-F2875B54DCBD}"/>
              </a:ext>
            </a:extLst>
          </p:cNvPr>
          <p:cNvSpPr/>
          <p:nvPr/>
        </p:nvSpPr>
        <p:spPr>
          <a:xfrm>
            <a:off x="2288781" y="6473246"/>
            <a:ext cx="762000" cy="381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8">
            <a:extLst>
              <a:ext uri="{FF2B5EF4-FFF2-40B4-BE49-F238E27FC236}">
                <a16:creationId xmlns:a16="http://schemas.microsoft.com/office/drawing/2014/main" id="{9A0A9541-AC1E-352F-7484-11807CD41114}"/>
              </a:ext>
            </a:extLst>
          </p:cNvPr>
          <p:cNvSpPr/>
          <p:nvPr/>
        </p:nvSpPr>
        <p:spPr>
          <a:xfrm>
            <a:off x="1526781" y="6473246"/>
            <a:ext cx="762000" cy="381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4">
            <a:extLst>
              <a:ext uri="{FF2B5EF4-FFF2-40B4-BE49-F238E27FC236}">
                <a16:creationId xmlns:a16="http://schemas.microsoft.com/office/drawing/2014/main" id="{71C7FF00-CE7B-272C-30F9-B2039BA3EFFB}"/>
              </a:ext>
            </a:extLst>
          </p:cNvPr>
          <p:cNvSpPr/>
          <p:nvPr/>
        </p:nvSpPr>
        <p:spPr>
          <a:xfrm>
            <a:off x="759732" y="6473069"/>
            <a:ext cx="762000" cy="381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A2F92899-0062-6D87-519D-EA9D83458C79}"/>
              </a:ext>
            </a:extLst>
          </p:cNvPr>
          <p:cNvSpPr/>
          <p:nvPr/>
        </p:nvSpPr>
        <p:spPr>
          <a:xfrm>
            <a:off x="4585904" y="6473245"/>
            <a:ext cx="762000" cy="381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7">
            <a:extLst>
              <a:ext uri="{FF2B5EF4-FFF2-40B4-BE49-F238E27FC236}">
                <a16:creationId xmlns:a16="http://schemas.microsoft.com/office/drawing/2014/main" id="{54FB47AD-D7C1-E05D-852F-4B401D29D4D8}"/>
              </a:ext>
            </a:extLst>
          </p:cNvPr>
          <p:cNvSpPr/>
          <p:nvPr/>
        </p:nvSpPr>
        <p:spPr>
          <a:xfrm>
            <a:off x="5347903" y="6473244"/>
            <a:ext cx="762000" cy="38100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E0E6E3-F594-1EA3-EFF5-AE2542A7E34F}"/>
              </a:ext>
            </a:extLst>
          </p:cNvPr>
          <p:cNvSpPr txBox="1"/>
          <p:nvPr/>
        </p:nvSpPr>
        <p:spPr>
          <a:xfrm>
            <a:off x="2607231" y="4979558"/>
            <a:ext cx="69723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600" b="1" dirty="0">
                <a:solidFill>
                  <a:srgbClr val="10B981"/>
                </a:solidFill>
                <a:latin typeface="Lato"/>
                <a:ea typeface="Lato"/>
                <a:cs typeface="Lato"/>
              </a:rPr>
              <a:t>Anja Ehninger, Egzon Osmani, Sandra Stern, Isabelle </a:t>
            </a:r>
            <a:r>
              <a:rPr lang="en-US" sz="1600" b="1" dirty="0" err="1">
                <a:solidFill>
                  <a:srgbClr val="10B981"/>
                </a:solidFill>
                <a:latin typeface="Lato"/>
                <a:ea typeface="Lato"/>
                <a:cs typeface="Lato"/>
              </a:rPr>
              <a:t>Wippl</a:t>
            </a:r>
            <a:endParaRPr lang="en-US" sz="1200" dirty="0" err="1"/>
          </a:p>
        </p:txBody>
      </p:sp>
    </p:spTree>
    <p:extLst>
      <p:ext uri="{BB962C8B-B14F-4D97-AF65-F5344CB8AC3E}">
        <p14:creationId xmlns:p14="http://schemas.microsoft.com/office/powerpoint/2010/main" val="480677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62000" y="571500"/>
            <a:ext cx="5100637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0" i="0" u="none">
                <a:solidFill>
                  <a:srgbClr val="0F172A"/>
                </a:solidFill>
                <a:latin typeface="Poppins SemiBold"/>
              </a:rPr>
              <a:t>1. The Challenge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1538" y="2108"/>
            <a:ext cx="5143500" cy="6858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9732" y="6473069"/>
            <a:ext cx="762000" cy="381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2000" y="2100262"/>
            <a:ext cx="48577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Lato"/>
              </a:rPr>
              <a:t>Globally</a:t>
            </a:r>
            <a:r>
              <a:rPr sz="1500" b="0" i="0" u="none">
                <a:solidFill>
                  <a:srgbClr val="334155"/>
                </a:solidFill>
                <a:latin typeface="Lato"/>
              </a:rPr>
              <a:t>, 1/3 of all produced food is wasted.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547937"/>
            <a:ext cx="48577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Lato"/>
              </a:rPr>
              <a:t>In Switzerland</a:t>
            </a:r>
            <a:r>
              <a:rPr sz="1500" b="0" i="0" u="none">
                <a:solidFill>
                  <a:srgbClr val="334155"/>
                </a:solidFill>
                <a:latin typeface="Lato"/>
              </a:rPr>
              <a:t>, we generate 2.8 million tons of food waste annually.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443287"/>
            <a:ext cx="510063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10B981"/>
                </a:solidFill>
                <a:latin typeface="Poppins SemiBold"/>
              </a:rPr>
              <a:t>The Root Cause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090987"/>
            <a:ext cx="48577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Lato"/>
              </a:rPr>
              <a:t>Supermarkets (Migros, Coop, etc.) enforce rigid, fixed-quantity contracts and strict cosmetic norms.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4843462"/>
            <a:ext cx="48577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Lato"/>
              </a:rPr>
              <a:t>To guarantee they meet these quotas and visual standards, farmers are forced into </a:t>
            </a:r>
            <a:r>
              <a:rPr sz="1500" b="1" i="0" u="none">
                <a:solidFill>
                  <a:srgbClr val="334155"/>
                </a:solidFill>
                <a:latin typeface="Lato"/>
              </a:rPr>
              <a:t>systematic overproduction</a:t>
            </a:r>
            <a:r>
              <a:rPr sz="1500" b="0" i="0" u="none">
                <a:solidFill>
                  <a:srgbClr val="334155"/>
                </a:solidFill>
                <a:latin typeface="Lato"/>
              </a:rPr>
              <a:t>. The perfectly edible surplus is discarded.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1248921-90B4-C929-FB4D-E8C40BB1CF46}"/>
              </a:ext>
            </a:extLst>
          </p:cNvPr>
          <p:cNvSpPr txBox="1"/>
          <p:nvPr/>
        </p:nvSpPr>
        <p:spPr>
          <a:xfrm>
            <a:off x="7486548" y="1808156"/>
            <a:ext cx="4569123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500" dirty="0">
                <a:solidFill>
                  <a:srgbClr val="10B981"/>
                </a:solidFill>
                <a:latin typeface="Poppins SemiBold"/>
                <a:ea typeface="Lato"/>
                <a:cs typeface="Poppins SemiBold"/>
              </a:rPr>
              <a:t>Minimum</a:t>
            </a:r>
            <a:r>
              <a:rPr lang="en-US" sz="1500" dirty="0">
                <a:solidFill>
                  <a:srgbClr val="10B98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1500" dirty="0">
                <a:solidFill>
                  <a:srgbClr val="10B981"/>
                </a:solidFill>
                <a:latin typeface="Poppins SemiBold"/>
                <a:ea typeface="Lato"/>
                <a:cs typeface="Poppins SemiBold"/>
              </a:rPr>
              <a:t>requirements:</a:t>
            </a:r>
            <a:endParaRPr lang="en-US" sz="1500" dirty="0">
              <a:latin typeface="Lato"/>
              <a:ea typeface="Lato"/>
              <a:cs typeface="Lato"/>
            </a:endParaRPr>
          </a:p>
          <a:p>
            <a:pPr marL="285750" indent="-285750">
              <a:buFont typeface="Arial"/>
              <a:buChar char="•"/>
            </a:pPr>
            <a:r>
              <a:rPr lang="en-US" sz="1500" dirty="0">
                <a:latin typeface="Lato"/>
                <a:ea typeface="Lato"/>
                <a:cs typeface="Lato"/>
              </a:rPr>
              <a:t>Intact</a:t>
            </a:r>
          </a:p>
          <a:p>
            <a:pPr marL="285750" indent="-285750">
              <a:buFont typeface="Arial"/>
              <a:buChar char="•"/>
            </a:pPr>
            <a:r>
              <a:rPr lang="en-US" sz="1500" dirty="0">
                <a:latin typeface="Lato"/>
                <a:ea typeface="Lato"/>
                <a:cs typeface="Lato"/>
              </a:rPr>
              <a:t>Clean</a:t>
            </a:r>
          </a:p>
          <a:p>
            <a:pPr marL="285750" indent="-285750">
              <a:buFont typeface="Arial"/>
              <a:buChar char="•"/>
            </a:pPr>
            <a:r>
              <a:rPr lang="en-US" sz="1500" dirty="0">
                <a:latin typeface="Lato"/>
                <a:ea typeface="Lato"/>
                <a:cs typeface="Lato"/>
              </a:rPr>
              <a:t>Firm</a:t>
            </a:r>
          </a:p>
          <a:p>
            <a:pPr marL="285750" indent="-285750">
              <a:buFont typeface="Arial"/>
              <a:buChar char="•"/>
            </a:pPr>
            <a:r>
              <a:rPr lang="en-US" sz="1500" dirty="0">
                <a:latin typeface="Lato"/>
                <a:ea typeface="Lato"/>
                <a:cs typeface="Lato"/>
              </a:rPr>
              <a:t>Not forked, free of secondary roots</a:t>
            </a:r>
          </a:p>
          <a:p>
            <a:pPr marL="285750" indent="-285750">
              <a:buFont typeface="Arial"/>
              <a:buChar char="•"/>
            </a:pPr>
            <a:r>
              <a:rPr lang="en-US" sz="1500" dirty="0">
                <a:latin typeface="Lato"/>
                <a:ea typeface="Lato"/>
                <a:cs typeface="Lato"/>
              </a:rPr>
              <a:t>Not woody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78E5AB-AA36-E72B-02D8-F7EE9C00C660}"/>
              </a:ext>
            </a:extLst>
          </p:cNvPr>
          <p:cNvSpPr txBox="1"/>
          <p:nvPr/>
        </p:nvSpPr>
        <p:spPr>
          <a:xfrm>
            <a:off x="7483606" y="3903754"/>
            <a:ext cx="4569124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500" dirty="0">
                <a:solidFill>
                  <a:srgbClr val="10B981"/>
                </a:solidFill>
                <a:latin typeface="Poppins SemiBold"/>
                <a:ea typeface="Lato"/>
                <a:cs typeface="Poppins SemiBold"/>
              </a:rPr>
              <a:t>Size:</a:t>
            </a:r>
            <a:endParaRPr lang="en-US" sz="1500" dirty="0">
              <a:latin typeface="Lato"/>
              <a:ea typeface="Lato"/>
              <a:cs typeface="Lato"/>
            </a:endParaRPr>
          </a:p>
          <a:p>
            <a:pPr marL="285750" indent="-285750">
              <a:buFont typeface="Arial"/>
              <a:buChar char="•"/>
            </a:pPr>
            <a:r>
              <a:rPr lang="en-US" sz="1500" dirty="0">
                <a:latin typeface="Lato"/>
                <a:ea typeface="Lato"/>
                <a:cs typeface="Lato"/>
              </a:rPr>
              <a:t>Minimum:</a:t>
            </a:r>
          </a:p>
          <a:p>
            <a:pPr marL="742950" lvl="1" indent="-285750">
              <a:buFont typeface="Arial"/>
              <a:buChar char="•"/>
            </a:pPr>
            <a:r>
              <a:rPr lang="en-US" sz="1500" dirty="0">
                <a:latin typeface="Lato"/>
                <a:ea typeface="Lato"/>
                <a:cs typeface="Lato"/>
              </a:rPr>
              <a:t>10 mm / 8 g (early crop/small root)</a:t>
            </a:r>
          </a:p>
          <a:p>
            <a:pPr marL="742950" lvl="1" indent="-285750">
              <a:buFont typeface="Arial"/>
              <a:buChar char="•"/>
            </a:pPr>
            <a:r>
              <a:rPr lang="en-US" sz="1500" dirty="0">
                <a:latin typeface="Lato"/>
                <a:ea typeface="Lato"/>
                <a:cs typeface="Lato"/>
              </a:rPr>
              <a:t>20 mm / 50 g (main crop/large root)</a:t>
            </a:r>
          </a:p>
          <a:p>
            <a:pPr marL="285750" indent="-285750">
              <a:buFont typeface="Arial"/>
              <a:buChar char="•"/>
            </a:pPr>
            <a:r>
              <a:rPr lang="en-US" sz="1500" dirty="0">
                <a:latin typeface="Lato"/>
                <a:ea typeface="Lato"/>
                <a:cs typeface="Lato"/>
              </a:rPr>
              <a:t>Maximum:</a:t>
            </a:r>
          </a:p>
          <a:p>
            <a:pPr marL="742950" lvl="1" indent="-285750">
              <a:buFont typeface="Arial"/>
              <a:buChar char="•"/>
            </a:pPr>
            <a:r>
              <a:rPr lang="en-US" sz="1500" dirty="0">
                <a:latin typeface="Lato"/>
                <a:ea typeface="Lato"/>
                <a:cs typeface="Lato"/>
              </a:rPr>
              <a:t>40 mm / 150 g (early crop/small root)</a:t>
            </a:r>
          </a:p>
          <a:p>
            <a:pPr marL="742950" lvl="1" indent="-285750">
              <a:buFont typeface="Arial"/>
              <a:buChar char="•"/>
            </a:pPr>
            <a:r>
              <a:rPr lang="en-US" sz="1500" dirty="0">
                <a:latin typeface="Lato"/>
                <a:ea typeface="Lato"/>
                <a:cs typeface="Lato"/>
              </a:rPr>
              <a:t>45 mm / 200 g (main crop/large root)</a:t>
            </a:r>
          </a:p>
          <a:p>
            <a:pPr lvl="1"/>
            <a:endParaRPr lang="en-US" sz="1500">
              <a:latin typeface="Lato"/>
              <a:ea typeface="Lato"/>
              <a:cs typeface="Lato"/>
            </a:endParaRPr>
          </a:p>
        </p:txBody>
      </p:sp>
      <p:sp>
        <p:nvSpPr>
          <p:cNvPr id="11" name="Rounded Rectangle 8">
            <a:extLst>
              <a:ext uri="{FF2B5EF4-FFF2-40B4-BE49-F238E27FC236}">
                <a16:creationId xmlns:a16="http://schemas.microsoft.com/office/drawing/2014/main" id="{01E07F8C-F8CA-ADA3-7C30-5151E6D3D35A}"/>
              </a:ext>
            </a:extLst>
          </p:cNvPr>
          <p:cNvSpPr/>
          <p:nvPr/>
        </p:nvSpPr>
        <p:spPr>
          <a:xfrm>
            <a:off x="1526781" y="6473246"/>
            <a:ext cx="762000" cy="38100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8">
            <a:extLst>
              <a:ext uri="{FF2B5EF4-FFF2-40B4-BE49-F238E27FC236}">
                <a16:creationId xmlns:a16="http://schemas.microsoft.com/office/drawing/2014/main" id="{36A1C270-D81B-8B01-D456-6BE4A419D37C}"/>
              </a:ext>
            </a:extLst>
          </p:cNvPr>
          <p:cNvSpPr/>
          <p:nvPr/>
        </p:nvSpPr>
        <p:spPr>
          <a:xfrm>
            <a:off x="2288781" y="6473246"/>
            <a:ext cx="762000" cy="38100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5">
            <a:extLst>
              <a:ext uri="{FF2B5EF4-FFF2-40B4-BE49-F238E27FC236}">
                <a16:creationId xmlns:a16="http://schemas.microsoft.com/office/drawing/2014/main" id="{55A3C959-BF95-737D-8626-EE2F08086692}"/>
              </a:ext>
            </a:extLst>
          </p:cNvPr>
          <p:cNvSpPr/>
          <p:nvPr/>
        </p:nvSpPr>
        <p:spPr>
          <a:xfrm>
            <a:off x="3056343" y="6474914"/>
            <a:ext cx="762000" cy="38100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7">
            <a:extLst>
              <a:ext uri="{FF2B5EF4-FFF2-40B4-BE49-F238E27FC236}">
                <a16:creationId xmlns:a16="http://schemas.microsoft.com/office/drawing/2014/main" id="{D1568E3E-F1EA-6328-2449-CFC6A0593236}"/>
              </a:ext>
            </a:extLst>
          </p:cNvPr>
          <p:cNvSpPr/>
          <p:nvPr/>
        </p:nvSpPr>
        <p:spPr>
          <a:xfrm>
            <a:off x="3823905" y="6473246"/>
            <a:ext cx="762000" cy="38100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7">
            <a:extLst>
              <a:ext uri="{FF2B5EF4-FFF2-40B4-BE49-F238E27FC236}">
                <a16:creationId xmlns:a16="http://schemas.microsoft.com/office/drawing/2014/main" id="{6D7A365A-3FE3-0132-E51A-BA7D862C201D}"/>
              </a:ext>
            </a:extLst>
          </p:cNvPr>
          <p:cNvSpPr/>
          <p:nvPr/>
        </p:nvSpPr>
        <p:spPr>
          <a:xfrm>
            <a:off x="4585904" y="6473245"/>
            <a:ext cx="762000" cy="38100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17">
            <a:extLst>
              <a:ext uri="{FF2B5EF4-FFF2-40B4-BE49-F238E27FC236}">
                <a16:creationId xmlns:a16="http://schemas.microsoft.com/office/drawing/2014/main" id="{5CDEFAD0-164A-70E7-516A-04782878570A}"/>
              </a:ext>
            </a:extLst>
          </p:cNvPr>
          <p:cNvSpPr/>
          <p:nvPr/>
        </p:nvSpPr>
        <p:spPr>
          <a:xfrm>
            <a:off x="5347903" y="6473244"/>
            <a:ext cx="762000" cy="38100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2319337"/>
            <a:ext cx="5286375" cy="1905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000"/>
              </a:lnSpc>
              <a:defRPr/>
            </a:pPr>
            <a:r>
              <a:rPr sz="15000" b="1" i="0" u="none">
                <a:solidFill>
                  <a:srgbClr val="10B981"/>
                </a:solidFill>
                <a:latin typeface="Poppins"/>
              </a:rPr>
              <a:t>100%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4319587"/>
            <a:ext cx="5286375" cy="4266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sz="2100" b="1" i="0" u="none">
                <a:solidFill>
                  <a:srgbClr val="0F172A"/>
                </a:solidFill>
                <a:latin typeface="Lato"/>
              </a:rPr>
              <a:t>HARVEST UTILIZATION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34125" y="2319337"/>
            <a:ext cx="5550693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F172A"/>
                </a:solidFill>
                <a:latin typeface="Poppins SemiBold"/>
              </a:rPr>
              <a:t>A Direct-to-Consumer Subscription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34125" y="3262312"/>
            <a:ext cx="5286375" cy="8873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400"/>
              </a:lnSpc>
            </a:pPr>
            <a:r>
              <a:rPr sz="1500" b="0" i="0" u="none" dirty="0">
                <a:solidFill>
                  <a:srgbClr val="334155"/>
                </a:solidFill>
                <a:latin typeface="Lato"/>
              </a:rPr>
              <a:t>We are creating a subscription model ("Abo") </a:t>
            </a:r>
            <a:r>
              <a:rPr lang="en-US" sz="1500" dirty="0">
                <a:solidFill>
                  <a:srgbClr val="334155"/>
                </a:solidFill>
                <a:latin typeface="Lato"/>
              </a:rPr>
              <a:t>that </a:t>
            </a:r>
            <a:r>
              <a:rPr sz="1500" b="0" i="0" u="none" dirty="0">
                <a:solidFill>
                  <a:srgbClr val="334155"/>
                </a:solidFill>
                <a:latin typeface="Lato"/>
              </a:rPr>
              <a:t>connects consumers </a:t>
            </a:r>
            <a:r>
              <a:rPr lang="en-US" sz="1500">
                <a:solidFill>
                  <a:srgbClr val="334155"/>
                </a:solidFill>
                <a:latin typeface="Lato"/>
              </a:rPr>
              <a:t>directly with the producer, preventing agricultural </a:t>
            </a:r>
            <a:r>
              <a:rPr lang="en-US" sz="1500" dirty="0">
                <a:solidFill>
                  <a:srgbClr val="334155"/>
                </a:solidFill>
                <a:latin typeface="Lato"/>
              </a:rPr>
              <a:t>surplus from being thrown away. </a:t>
            </a:r>
            <a:endParaRPr lang="en-US" sz="1500" b="0" i="0" u="none" dirty="0">
              <a:solidFill>
                <a:srgbClr val="334155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334125" y="4319587"/>
            <a:ext cx="5286375" cy="1502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400"/>
              </a:lnSpc>
            </a:pPr>
            <a:r>
              <a:rPr sz="1500" b="1" i="0" u="none" dirty="0">
                <a:solidFill>
                  <a:srgbClr val="334155"/>
                </a:solidFill>
                <a:latin typeface="Lato"/>
              </a:rPr>
              <a:t>Why it's innovative:</a:t>
            </a:r>
            <a:r>
              <a:rPr sz="1500" b="0" i="0" u="none" dirty="0">
                <a:solidFill>
                  <a:srgbClr val="334155"/>
                </a:solidFill>
                <a:latin typeface="Lato"/>
              </a:rPr>
              <a:t> Instead of a fixed shopping list, subscribers receive dynamic boxes based entirely on what is currently </a:t>
            </a:r>
            <a:r>
              <a:rPr lang="en-US" sz="1500" dirty="0">
                <a:solidFill>
                  <a:srgbClr val="334155"/>
                </a:solidFill>
                <a:latin typeface="Lato"/>
              </a:rPr>
              <a:t>overproduced and in season</a:t>
            </a:r>
            <a:r>
              <a:rPr sz="1500" b="0" i="0" u="none" dirty="0">
                <a:solidFill>
                  <a:srgbClr val="334155"/>
                </a:solidFill>
                <a:latin typeface="Lato"/>
              </a:rPr>
              <a:t>. We bypass retail intermediaries entirely, securing farmer incomes and rescuing perfectly good food.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0" i="0" u="none">
                <a:solidFill>
                  <a:srgbClr val="0F172A"/>
                </a:solidFill>
                <a:latin typeface="Poppins SemiBold"/>
              </a:rPr>
              <a:t>2. Our Solution: Harvest Rescue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26781" y="6473246"/>
            <a:ext cx="762000" cy="381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4">
            <a:extLst>
              <a:ext uri="{FF2B5EF4-FFF2-40B4-BE49-F238E27FC236}">
                <a16:creationId xmlns:a16="http://schemas.microsoft.com/office/drawing/2014/main" id="{7FB75F31-27B2-77A7-13A0-F5F47E59B5EF}"/>
              </a:ext>
            </a:extLst>
          </p:cNvPr>
          <p:cNvSpPr/>
          <p:nvPr/>
        </p:nvSpPr>
        <p:spPr>
          <a:xfrm>
            <a:off x="759732" y="6473069"/>
            <a:ext cx="762000" cy="381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8">
            <a:extLst>
              <a:ext uri="{FF2B5EF4-FFF2-40B4-BE49-F238E27FC236}">
                <a16:creationId xmlns:a16="http://schemas.microsoft.com/office/drawing/2014/main" id="{80730BB9-2BBD-7B79-8663-916816DB3105}"/>
              </a:ext>
            </a:extLst>
          </p:cNvPr>
          <p:cNvSpPr/>
          <p:nvPr/>
        </p:nvSpPr>
        <p:spPr>
          <a:xfrm>
            <a:off x="2288781" y="6473246"/>
            <a:ext cx="762000" cy="38100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5">
            <a:extLst>
              <a:ext uri="{FF2B5EF4-FFF2-40B4-BE49-F238E27FC236}">
                <a16:creationId xmlns:a16="http://schemas.microsoft.com/office/drawing/2014/main" id="{FE3FF528-4965-D75A-7A42-832C7C5830AB}"/>
              </a:ext>
            </a:extLst>
          </p:cNvPr>
          <p:cNvSpPr/>
          <p:nvPr/>
        </p:nvSpPr>
        <p:spPr>
          <a:xfrm>
            <a:off x="3056343" y="6474914"/>
            <a:ext cx="762000" cy="38100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7">
            <a:extLst>
              <a:ext uri="{FF2B5EF4-FFF2-40B4-BE49-F238E27FC236}">
                <a16:creationId xmlns:a16="http://schemas.microsoft.com/office/drawing/2014/main" id="{7BC65F90-9523-DD24-DA23-4EDF446D14B3}"/>
              </a:ext>
            </a:extLst>
          </p:cNvPr>
          <p:cNvSpPr/>
          <p:nvPr/>
        </p:nvSpPr>
        <p:spPr>
          <a:xfrm>
            <a:off x="3823905" y="6473246"/>
            <a:ext cx="762000" cy="38100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1364D1B4-C95A-D428-3FCA-97E21F298CDB}"/>
              </a:ext>
            </a:extLst>
          </p:cNvPr>
          <p:cNvSpPr/>
          <p:nvPr/>
        </p:nvSpPr>
        <p:spPr>
          <a:xfrm>
            <a:off x="4585904" y="6473245"/>
            <a:ext cx="762000" cy="38100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7">
            <a:extLst>
              <a:ext uri="{FF2B5EF4-FFF2-40B4-BE49-F238E27FC236}">
                <a16:creationId xmlns:a16="http://schemas.microsoft.com/office/drawing/2014/main" id="{413D8C29-6569-D4B6-646C-1D8823CC2CCE}"/>
              </a:ext>
            </a:extLst>
          </p:cNvPr>
          <p:cNvSpPr/>
          <p:nvPr/>
        </p:nvSpPr>
        <p:spPr>
          <a:xfrm>
            <a:off x="5347903" y="6473244"/>
            <a:ext cx="762000" cy="38100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19287"/>
            <a:ext cx="3429000" cy="41624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0" y="1919287"/>
            <a:ext cx="3429000" cy="41624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0" y="1919287"/>
            <a:ext cx="3429000" cy="41624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347912"/>
            <a:ext cx="704850" cy="8953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6775" y="3481387"/>
            <a:ext cx="2550318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F172A"/>
                </a:solidFill>
                <a:latin typeface="Poppins SemiBold"/>
              </a:rPr>
              <a:t>1. Smart Matching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4024312"/>
            <a:ext cx="2838450" cy="18466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500" dirty="0">
                <a:solidFill>
                  <a:srgbClr val="334155"/>
                </a:solidFill>
                <a:ea typeface="+mn-lt"/>
                <a:cs typeface="+mn-lt"/>
              </a:rPr>
              <a:t>An alternative to large supermarkets is the subscription-based vegetable box, which covers </a:t>
            </a:r>
            <a:r>
              <a:rPr lang="en-US" sz="1500" b="0" i="0" u="none" dirty="0">
                <a:solidFill>
                  <a:srgbClr val="334155"/>
                </a:solidFill>
                <a:ea typeface="+mn-lt"/>
                <a:cs typeface="+mn-lt"/>
              </a:rPr>
              <a:t>weekly </a:t>
            </a:r>
            <a:r>
              <a:rPr lang="en-US" sz="1500" dirty="0">
                <a:solidFill>
                  <a:srgbClr val="334155"/>
                </a:solidFill>
                <a:ea typeface="+mn-lt"/>
                <a:cs typeface="+mn-lt"/>
              </a:rPr>
              <a:t>needs for seasonal vegetables, fruit, and grains</a:t>
            </a:r>
            <a:r>
              <a:rPr lang="en-US" sz="1500" b="0" i="0" u="none" dirty="0">
                <a:solidFill>
                  <a:srgbClr val="334155"/>
                </a:solidFill>
                <a:ea typeface="+mn-lt"/>
                <a:cs typeface="+mn-lt"/>
              </a:rPr>
              <a:t>.</a:t>
            </a:r>
            <a:r>
              <a:rPr lang="en-US" sz="1500" dirty="0">
                <a:solidFill>
                  <a:srgbClr val="334155"/>
                </a:solidFill>
                <a:ea typeface="+mn-lt"/>
                <a:cs typeface="+mn-lt"/>
              </a:rPr>
              <a:t> The app allows farmers to trade </a:t>
            </a:r>
            <a:r>
              <a:rPr lang="en-US" sz="1500" dirty="0" err="1">
                <a:solidFill>
                  <a:srgbClr val="334155"/>
                </a:solidFill>
                <a:ea typeface="+mn-lt"/>
                <a:cs typeface="+mn-lt"/>
              </a:rPr>
              <a:t>varioud</a:t>
            </a:r>
            <a:r>
              <a:rPr lang="en-US" sz="1500" dirty="0">
                <a:solidFill>
                  <a:srgbClr val="334155"/>
                </a:solidFill>
                <a:ea typeface="+mn-lt"/>
                <a:cs typeface="+mn-lt"/>
              </a:rPr>
              <a:t> produce amongst themselves and consumers to access information.</a:t>
            </a:r>
            <a:endParaRPr lang="en-US" sz="1500" dirty="0">
              <a:solidFill>
                <a:srgbClr val="334155"/>
              </a:solidFill>
              <a:ea typeface="Calibri"/>
              <a:cs typeface="Calibri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6775" y="2347912"/>
            <a:ext cx="809625" cy="895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76775" y="3481387"/>
            <a:ext cx="2830353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F172A"/>
                </a:solidFill>
                <a:latin typeface="Poppins SemiBold"/>
              </a:rPr>
              <a:t>2. Optimized Routes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6775" y="4024312"/>
            <a:ext cx="283845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400"/>
              </a:lnSpc>
            </a:pPr>
            <a:r>
              <a:rPr sz="1500" b="0" i="0" u="none" dirty="0">
                <a:solidFill>
                  <a:srgbClr val="334155"/>
                </a:solidFill>
                <a:latin typeface="Lato"/>
              </a:rPr>
              <a:t>To keep the carbon footprint minimal, the app calculates the absolute shortest delivery routes directly from the farm to the local consumers</a:t>
            </a:r>
            <a:r>
              <a:rPr lang="en-US" sz="1500" dirty="0">
                <a:solidFill>
                  <a:srgbClr val="334155"/>
                </a:solidFill>
                <a:latin typeface="Lato"/>
              </a:rPr>
              <a:t>.</a:t>
            </a:r>
            <a:endParaRPr sz="1500" b="0" i="0" u="none" dirty="0">
              <a:solidFill>
                <a:srgbClr val="334155"/>
              </a:solidFill>
              <a:latin typeface="Lato"/>
            </a:endParaRP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6775" y="2347912"/>
            <a:ext cx="752475" cy="8953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86775" y="3481387"/>
            <a:ext cx="2820352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F172A"/>
                </a:solidFill>
                <a:latin typeface="Poppins SemiBold"/>
              </a:rPr>
              <a:t>3. Seasonal Recipes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6775" y="4024312"/>
            <a:ext cx="2838450" cy="1810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400"/>
              </a:lnSpc>
            </a:pPr>
            <a:r>
              <a:rPr sz="1500" b="0" i="0" u="none" dirty="0">
                <a:solidFill>
                  <a:srgbClr val="334155"/>
                </a:solidFill>
                <a:latin typeface="Lato"/>
              </a:rPr>
              <a:t>To ensure </a:t>
            </a:r>
            <a:r>
              <a:rPr lang="en-US" sz="1500" dirty="0">
                <a:solidFill>
                  <a:srgbClr val="334155"/>
                </a:solidFill>
                <a:latin typeface="Lato"/>
              </a:rPr>
              <a:t>less </a:t>
            </a:r>
            <a:r>
              <a:rPr sz="1500" b="0" i="0" u="none" dirty="0">
                <a:solidFill>
                  <a:srgbClr val="334155"/>
                </a:solidFill>
                <a:latin typeface="Lato"/>
              </a:rPr>
              <a:t>waste at home, the app </a:t>
            </a:r>
            <a:r>
              <a:rPr lang="en-US" sz="1500" dirty="0">
                <a:solidFill>
                  <a:srgbClr val="334155"/>
                </a:solidFill>
                <a:latin typeface="Lato"/>
              </a:rPr>
              <a:t>offers curated</a:t>
            </a:r>
            <a:r>
              <a:rPr sz="1500" b="0" i="0" u="none" dirty="0">
                <a:solidFill>
                  <a:srgbClr val="334155"/>
                </a:solidFill>
                <a:latin typeface="Lato"/>
              </a:rPr>
              <a:t>, seasonal recipes tailored exactly to the unexpected ingredients included in that week's box</a:t>
            </a:r>
            <a:r>
              <a:rPr lang="en-US" sz="1500" dirty="0">
                <a:solidFill>
                  <a:srgbClr val="334155"/>
                </a:solidFill>
                <a:latin typeface="Lato"/>
              </a:rPr>
              <a:t> as well as their origin.</a:t>
            </a:r>
            <a:endParaRPr sz="1500" b="0" i="0" u="none" dirty="0">
              <a:solidFill>
                <a:srgbClr val="334155"/>
              </a:solidFill>
              <a:latin typeface="Lato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7275" y="2586037"/>
            <a:ext cx="323850" cy="4286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67275" y="2586037"/>
            <a:ext cx="428625" cy="4286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77275" y="2586037"/>
            <a:ext cx="371475" cy="42862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0" i="0" u="none">
                <a:solidFill>
                  <a:srgbClr val="0F172A"/>
                </a:solidFill>
                <a:latin typeface="Poppins SemiBold"/>
              </a:rPr>
              <a:t>3. How It Works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88781" y="6473246"/>
            <a:ext cx="762000" cy="381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8">
            <a:extLst>
              <a:ext uri="{FF2B5EF4-FFF2-40B4-BE49-F238E27FC236}">
                <a16:creationId xmlns:a16="http://schemas.microsoft.com/office/drawing/2014/main" id="{522A9E65-6969-B472-48A9-7498B3051CCC}"/>
              </a:ext>
            </a:extLst>
          </p:cNvPr>
          <p:cNvSpPr/>
          <p:nvPr/>
        </p:nvSpPr>
        <p:spPr>
          <a:xfrm>
            <a:off x="1526781" y="6473246"/>
            <a:ext cx="762000" cy="381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4">
            <a:extLst>
              <a:ext uri="{FF2B5EF4-FFF2-40B4-BE49-F238E27FC236}">
                <a16:creationId xmlns:a16="http://schemas.microsoft.com/office/drawing/2014/main" id="{41DC99E5-3EE1-7ED8-BAAA-73D661CD7D8C}"/>
              </a:ext>
            </a:extLst>
          </p:cNvPr>
          <p:cNvSpPr/>
          <p:nvPr/>
        </p:nvSpPr>
        <p:spPr>
          <a:xfrm>
            <a:off x="759732" y="6473069"/>
            <a:ext cx="762000" cy="381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15">
            <a:extLst>
              <a:ext uri="{FF2B5EF4-FFF2-40B4-BE49-F238E27FC236}">
                <a16:creationId xmlns:a16="http://schemas.microsoft.com/office/drawing/2014/main" id="{B5F05275-2FC5-A4B8-5A2D-94A3F20955C3}"/>
              </a:ext>
            </a:extLst>
          </p:cNvPr>
          <p:cNvSpPr/>
          <p:nvPr/>
        </p:nvSpPr>
        <p:spPr>
          <a:xfrm>
            <a:off x="3056343" y="6474914"/>
            <a:ext cx="762000" cy="38100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17">
            <a:extLst>
              <a:ext uri="{FF2B5EF4-FFF2-40B4-BE49-F238E27FC236}">
                <a16:creationId xmlns:a16="http://schemas.microsoft.com/office/drawing/2014/main" id="{C48DED76-B2B4-E592-D5AE-7C8FA50546C2}"/>
              </a:ext>
            </a:extLst>
          </p:cNvPr>
          <p:cNvSpPr/>
          <p:nvPr/>
        </p:nvSpPr>
        <p:spPr>
          <a:xfrm>
            <a:off x="3823905" y="6473246"/>
            <a:ext cx="762000" cy="38100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17">
            <a:extLst>
              <a:ext uri="{FF2B5EF4-FFF2-40B4-BE49-F238E27FC236}">
                <a16:creationId xmlns:a16="http://schemas.microsoft.com/office/drawing/2014/main" id="{508D72DF-B298-4B41-4975-1BEF8D2E08A9}"/>
              </a:ext>
            </a:extLst>
          </p:cNvPr>
          <p:cNvSpPr/>
          <p:nvPr/>
        </p:nvSpPr>
        <p:spPr>
          <a:xfrm>
            <a:off x="4585904" y="6473245"/>
            <a:ext cx="762000" cy="38100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17">
            <a:extLst>
              <a:ext uri="{FF2B5EF4-FFF2-40B4-BE49-F238E27FC236}">
                <a16:creationId xmlns:a16="http://schemas.microsoft.com/office/drawing/2014/main" id="{AECE158C-4BAE-3743-B188-C53BB26BA3CE}"/>
              </a:ext>
            </a:extLst>
          </p:cNvPr>
          <p:cNvSpPr/>
          <p:nvPr/>
        </p:nvSpPr>
        <p:spPr>
          <a:xfrm>
            <a:off x="5347903" y="6473244"/>
            <a:ext cx="762000" cy="38100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8F6A18D-2045-0C3B-3811-1C051F5AC103}"/>
              </a:ext>
            </a:extLst>
          </p:cNvPr>
          <p:cNvSpPr txBox="1"/>
          <p:nvPr/>
        </p:nvSpPr>
        <p:spPr>
          <a:xfrm>
            <a:off x="4583861" y="281473"/>
            <a:ext cx="6751218" cy="120032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rgbClr val="00B05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Its essential to free the farmers from the immense pressure their a facing regarding deliveries; they must enter into contracts with major buyers—primarily Migros and Coop in Switzerland—that bind them to rigid delivery volumes, regardless of the actual growing conditions.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3">
            <a:extLst>
              <a:ext uri="{FF2B5EF4-FFF2-40B4-BE49-F238E27FC236}">
                <a16:creationId xmlns:a16="http://schemas.microsoft.com/office/drawing/2014/main" id="{16EF0306-8052-4DC7-BF88-0D0C09EC842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6000"/>
          </a:blip>
          <a:stretch>
            <a:fillRect/>
          </a:stretch>
        </p:blipFill>
        <p:spPr>
          <a:xfrm>
            <a:off x="2147" y="1208"/>
            <a:ext cx="12209171" cy="688241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500" y="1638300"/>
            <a:ext cx="5286375" cy="4724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1638300"/>
            <a:ext cx="5286375" cy="472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1909" y="2124075"/>
            <a:ext cx="4510979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100" b="0" i="0" u="none" dirty="0">
                <a:solidFill>
                  <a:srgbClr val="0F172A"/>
                </a:solidFill>
                <a:latin typeface="Poppins SemiBold"/>
              </a:rPr>
              <a:t>Environmental &amp; Social</a:t>
            </a:r>
            <a:r>
              <a:rPr lang="en-US" sz="2100" dirty="0">
                <a:solidFill>
                  <a:srgbClr val="0F172A"/>
                </a:solidFill>
                <a:latin typeface="Poppins SemiBold"/>
              </a:rPr>
              <a:t> Benefits</a:t>
            </a:r>
            <a:endParaRPr sz="2100" b="0" i="0" u="none" dirty="0">
              <a:solidFill>
                <a:srgbClr val="0F172A"/>
              </a:solidFill>
              <a:latin typeface="Poppins SemiBold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57275" y="2667000"/>
            <a:ext cx="3171825" cy="190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19900" y="2124075"/>
            <a:ext cx="408051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100" dirty="0">
                <a:solidFill>
                  <a:srgbClr val="0F172A"/>
                </a:solidFill>
                <a:latin typeface="Poppins SemiBold"/>
              </a:rPr>
              <a:t>Challenges &amp; </a:t>
            </a:r>
            <a:r>
              <a:rPr sz="2100" b="0" i="0" u="none" dirty="0">
                <a:solidFill>
                  <a:srgbClr val="0F172A"/>
                </a:solidFill>
                <a:latin typeface="Poppins SemiBold"/>
              </a:rPr>
              <a:t>Trade-offs</a:t>
            </a:r>
          </a:p>
        </p:txBody>
      </p:sp>
      <p:sp>
        <p:nvSpPr>
          <p:cNvPr id="8" name="Rectangle 7"/>
          <p:cNvSpPr/>
          <p:nvPr/>
        </p:nvSpPr>
        <p:spPr>
          <a:xfrm>
            <a:off x="6819900" y="2667000"/>
            <a:ext cx="3886200" cy="190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90650" y="2924175"/>
            <a:ext cx="3981450" cy="692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 u="none" dirty="0">
                <a:solidFill>
                  <a:srgbClr val="334155"/>
                </a:solidFill>
                <a:latin typeface="Lato"/>
              </a:rPr>
              <a:t>Reduced Emissions:</a:t>
            </a:r>
            <a:r>
              <a:rPr sz="1500" b="0" i="0" u="none" dirty="0">
                <a:solidFill>
                  <a:srgbClr val="334155"/>
                </a:solidFill>
                <a:latin typeface="Lato"/>
              </a:rPr>
              <a:t> </a:t>
            </a:r>
            <a:r>
              <a:rPr lang="en-US" sz="1500" dirty="0">
                <a:solidFill>
                  <a:srgbClr val="334155"/>
                </a:solidFill>
                <a:latin typeface="Lato"/>
              </a:rPr>
              <a:t>Bypassing</a:t>
            </a:r>
            <a:r>
              <a:rPr sz="1500" b="0" i="0" u="none" dirty="0">
                <a:solidFill>
                  <a:srgbClr val="334155"/>
                </a:solidFill>
                <a:latin typeface="Lato"/>
              </a:rPr>
              <a:t> central warehouses</a:t>
            </a:r>
            <a:r>
              <a:rPr lang="en-US" sz="1500" dirty="0">
                <a:solidFill>
                  <a:srgbClr val="334155"/>
                </a:solidFill>
                <a:latin typeface="Lato"/>
              </a:rPr>
              <a:t> and distributing locally reduces CO2 emitted by transportation and storage.</a:t>
            </a:r>
            <a:endParaRPr lang="en-US" sz="1500" b="0" i="0" u="none" dirty="0">
              <a:solidFill>
                <a:srgbClr val="334155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90650" y="3705225"/>
            <a:ext cx="3981450" cy="692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500" b="1" dirty="0">
                <a:solidFill>
                  <a:srgbClr val="334155"/>
                </a:solidFill>
                <a:latin typeface="Lato"/>
              </a:rPr>
              <a:t>Reduce</a:t>
            </a:r>
            <a:r>
              <a:rPr lang="en-US" sz="1500" b="1" i="0" u="none" dirty="0">
                <a:solidFill>
                  <a:srgbClr val="334155"/>
                </a:solidFill>
                <a:latin typeface="Lato"/>
              </a:rPr>
              <a:t> </a:t>
            </a:r>
            <a:r>
              <a:rPr lang="en-US" sz="1500" b="1" dirty="0">
                <a:solidFill>
                  <a:srgbClr val="334155"/>
                </a:solidFill>
                <a:latin typeface="Lato"/>
              </a:rPr>
              <a:t>Waste</a:t>
            </a:r>
            <a:r>
              <a:rPr sz="1500" b="1" i="0" u="none" dirty="0">
                <a:solidFill>
                  <a:srgbClr val="334155"/>
                </a:solidFill>
                <a:latin typeface="Lato"/>
              </a:rPr>
              <a:t>:</a:t>
            </a:r>
            <a:r>
              <a:rPr sz="1500" b="0" i="0" u="none" dirty="0">
                <a:solidFill>
                  <a:srgbClr val="334155"/>
                </a:solidFill>
                <a:latin typeface="Lato"/>
              </a:rPr>
              <a:t> </a:t>
            </a:r>
            <a:r>
              <a:rPr lang="en-US" sz="1500" dirty="0">
                <a:solidFill>
                  <a:srgbClr val="334155"/>
                </a:solidFill>
                <a:latin typeface="Lato"/>
              </a:rPr>
              <a:t>The perfectly edible produce are actually consumed, not just repurposed as expensive fertilizer. </a:t>
            </a:r>
            <a:endParaRPr lang="en-US" sz="1500" dirty="0">
              <a:solidFill>
                <a:srgbClr val="334155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390650" y="4486275"/>
            <a:ext cx="3981450" cy="692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 u="none" dirty="0">
                <a:solidFill>
                  <a:srgbClr val="334155"/>
                </a:solidFill>
                <a:latin typeface="Lato"/>
              </a:rPr>
              <a:t>Economic Fairness</a:t>
            </a:r>
            <a:r>
              <a:rPr lang="en-US" sz="1500" b="1" dirty="0">
                <a:solidFill>
                  <a:srgbClr val="334155"/>
                </a:solidFill>
                <a:latin typeface="Lato"/>
              </a:rPr>
              <a:t> and Resource Efficiency</a:t>
            </a:r>
            <a:r>
              <a:rPr sz="1500" b="1" i="0" u="none" dirty="0">
                <a:solidFill>
                  <a:srgbClr val="334155"/>
                </a:solidFill>
                <a:latin typeface="Lato"/>
              </a:rPr>
              <a:t>:</a:t>
            </a:r>
            <a:r>
              <a:rPr sz="1500" b="0" i="0" u="none" dirty="0">
                <a:solidFill>
                  <a:srgbClr val="334155"/>
                </a:solidFill>
                <a:latin typeface="Lato"/>
              </a:rPr>
              <a:t> Farmers are compensated for their full labor, not just the "perfect" yields</a:t>
            </a:r>
            <a:r>
              <a:rPr lang="en-US" sz="1500" dirty="0">
                <a:solidFill>
                  <a:srgbClr val="334155"/>
                </a:solidFill>
                <a:latin typeface="Lato"/>
              </a:rPr>
              <a:t>.</a:t>
            </a:r>
            <a:endParaRPr lang="en-US" sz="1500" dirty="0">
              <a:solidFill>
                <a:srgbClr val="334155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53275" y="2924175"/>
            <a:ext cx="3981450" cy="1154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 u="none" dirty="0">
                <a:solidFill>
                  <a:srgbClr val="334155"/>
                </a:solidFill>
                <a:latin typeface="Lato"/>
              </a:rPr>
              <a:t>Last-Mile Logistics:</a:t>
            </a:r>
            <a:r>
              <a:rPr sz="1500" b="0" i="0" u="none" dirty="0">
                <a:solidFill>
                  <a:srgbClr val="334155"/>
                </a:solidFill>
                <a:latin typeface="Lato"/>
              </a:rPr>
              <a:t> Delivering to individual homes can be emission-heavy if not densely routed (Mitigated by </a:t>
            </a:r>
            <a:r>
              <a:rPr lang="en-US" sz="1500" dirty="0">
                <a:solidFill>
                  <a:srgbClr val="334155"/>
                </a:solidFill>
                <a:latin typeface="Lato"/>
              </a:rPr>
              <a:t>AI</a:t>
            </a:r>
            <a:r>
              <a:rPr sz="1500" b="0" i="0" u="none" dirty="0">
                <a:solidFill>
                  <a:srgbClr val="334155"/>
                </a:solidFill>
                <a:latin typeface="Lato"/>
              </a:rPr>
              <a:t> routing).</a:t>
            </a:r>
            <a:r>
              <a:rPr lang="en-US" sz="1500" dirty="0">
                <a:solidFill>
                  <a:srgbClr val="334155"/>
                </a:solidFill>
                <a:latin typeface="Lato"/>
              </a:rPr>
              <a:t> For densely populated areas, specific drop-off points might be an option.</a:t>
            </a:r>
            <a:endParaRPr lang="en-US" sz="1500" b="0" i="0" u="none" dirty="0">
              <a:solidFill>
                <a:srgbClr val="334155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53275" y="4238069"/>
            <a:ext cx="3981450" cy="692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500" b="1" i="0" u="none" dirty="0">
                <a:solidFill>
                  <a:srgbClr val="334155"/>
                </a:solidFill>
                <a:latin typeface="Lato"/>
              </a:rPr>
              <a:t>Packaging:</a:t>
            </a:r>
            <a:r>
              <a:rPr sz="1500" b="0" i="0" u="none" dirty="0">
                <a:solidFill>
                  <a:srgbClr val="334155"/>
                </a:solidFill>
                <a:latin typeface="Lato"/>
              </a:rPr>
              <a:t> Requires reusable crate systems to avoid replacing food waste with </a:t>
            </a:r>
            <a:r>
              <a:rPr lang="en-US" sz="1500" dirty="0">
                <a:solidFill>
                  <a:srgbClr val="334155"/>
                </a:solidFill>
                <a:latin typeface="Lato"/>
              </a:rPr>
              <a:t>i.e. cardboard</a:t>
            </a:r>
            <a:r>
              <a:rPr sz="1500" b="0" i="0" u="none" dirty="0">
                <a:solidFill>
                  <a:srgbClr val="334155"/>
                </a:solidFill>
                <a:latin typeface="Lato"/>
              </a:rPr>
              <a:t> waste.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7153275" y="5052945"/>
            <a:ext cx="3981450" cy="692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334155"/>
                </a:solidFill>
                <a:latin typeface="Lato"/>
              </a:rPr>
              <a:t>Consumer Flexibility:</a:t>
            </a:r>
            <a:r>
              <a:rPr sz="1500" b="0" i="0" u="none" dirty="0">
                <a:solidFill>
                  <a:srgbClr val="334155"/>
                </a:solidFill>
                <a:latin typeface="Lato"/>
              </a:rPr>
              <a:t> Requires a shift in mindset—cooking what is available, not what is planned.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571500" y="495300"/>
            <a:ext cx="116014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0" i="0" u="none">
                <a:solidFill>
                  <a:srgbClr val="0F172A"/>
                </a:solidFill>
                <a:latin typeface="Poppins SemiBold"/>
              </a:rPr>
              <a:t>4. Sustainability Impact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56343" y="6474914"/>
            <a:ext cx="762000" cy="381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275" y="2943225"/>
            <a:ext cx="209550" cy="2190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275" y="3724275"/>
            <a:ext cx="209550" cy="2190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275" y="4505325"/>
            <a:ext cx="209550" cy="21907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575559E6-6549-2489-F2C4-741717A69FA2}"/>
              </a:ext>
            </a:extLst>
          </p:cNvPr>
          <p:cNvSpPr txBox="1"/>
          <p:nvPr/>
        </p:nvSpPr>
        <p:spPr>
          <a:xfrm>
            <a:off x="1379526" y="5270523"/>
            <a:ext cx="3981450" cy="692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500" b="1" dirty="0">
                <a:solidFill>
                  <a:srgbClr val="334155"/>
                </a:solidFill>
                <a:latin typeface="Lato"/>
              </a:rPr>
              <a:t>Health &amp; Nutrition</a:t>
            </a:r>
            <a:r>
              <a:rPr sz="1500" b="1" i="0" u="none" dirty="0">
                <a:solidFill>
                  <a:srgbClr val="334155"/>
                </a:solidFill>
                <a:latin typeface="Lato"/>
              </a:rPr>
              <a:t>:</a:t>
            </a:r>
            <a:r>
              <a:rPr lang="en-US" sz="1500" dirty="0">
                <a:solidFill>
                  <a:srgbClr val="334155"/>
                </a:solidFill>
                <a:latin typeface="Lato"/>
              </a:rPr>
              <a:t> Eating fresh, seasonal vegetables and fruits comes with a variety of health benefits as well as great taste.</a:t>
            </a:r>
            <a:endParaRPr lang="en-US" sz="1500" dirty="0">
              <a:solidFill>
                <a:srgbClr val="334155"/>
              </a:solidFill>
              <a:latin typeface="Lato"/>
              <a:ea typeface="Lato"/>
              <a:cs typeface="Lato"/>
            </a:endParaRPr>
          </a:p>
        </p:txBody>
      </p:sp>
      <p:pic>
        <p:nvPicPr>
          <p:cNvPr id="24" name="Picture 23" descr="image.png">
            <a:extLst>
              <a:ext uri="{FF2B5EF4-FFF2-40B4-BE49-F238E27FC236}">
                <a16:creationId xmlns:a16="http://schemas.microsoft.com/office/drawing/2014/main" id="{A0491997-FA44-4CE3-6BF1-E74660A375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151" y="5289573"/>
            <a:ext cx="209550" cy="219075"/>
          </a:xfrm>
          <a:prstGeom prst="rect">
            <a:avLst/>
          </a:prstGeom>
        </p:spPr>
      </p:pic>
      <p:sp>
        <p:nvSpPr>
          <p:cNvPr id="26" name="Rounded Rectangle 18">
            <a:extLst>
              <a:ext uri="{FF2B5EF4-FFF2-40B4-BE49-F238E27FC236}">
                <a16:creationId xmlns:a16="http://schemas.microsoft.com/office/drawing/2014/main" id="{E4E55CB8-711B-57DE-E2EB-2337BC079BEF}"/>
              </a:ext>
            </a:extLst>
          </p:cNvPr>
          <p:cNvSpPr/>
          <p:nvPr/>
        </p:nvSpPr>
        <p:spPr>
          <a:xfrm>
            <a:off x="2288781" y="6473246"/>
            <a:ext cx="762000" cy="381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8">
            <a:extLst>
              <a:ext uri="{FF2B5EF4-FFF2-40B4-BE49-F238E27FC236}">
                <a16:creationId xmlns:a16="http://schemas.microsoft.com/office/drawing/2014/main" id="{D2CF98D2-001B-C78B-DD1D-C11A88FF5707}"/>
              </a:ext>
            </a:extLst>
          </p:cNvPr>
          <p:cNvSpPr/>
          <p:nvPr/>
        </p:nvSpPr>
        <p:spPr>
          <a:xfrm>
            <a:off x="1526781" y="6473246"/>
            <a:ext cx="762000" cy="381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4">
            <a:extLst>
              <a:ext uri="{FF2B5EF4-FFF2-40B4-BE49-F238E27FC236}">
                <a16:creationId xmlns:a16="http://schemas.microsoft.com/office/drawing/2014/main" id="{DBFA7C9E-C539-E644-707C-5C8F9644752C}"/>
              </a:ext>
            </a:extLst>
          </p:cNvPr>
          <p:cNvSpPr/>
          <p:nvPr/>
        </p:nvSpPr>
        <p:spPr>
          <a:xfrm>
            <a:off x="759732" y="6473069"/>
            <a:ext cx="762000" cy="381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17">
            <a:extLst>
              <a:ext uri="{FF2B5EF4-FFF2-40B4-BE49-F238E27FC236}">
                <a16:creationId xmlns:a16="http://schemas.microsoft.com/office/drawing/2014/main" id="{E0DE91C3-849F-F881-2B9B-0263DDD01DEE}"/>
              </a:ext>
            </a:extLst>
          </p:cNvPr>
          <p:cNvSpPr/>
          <p:nvPr/>
        </p:nvSpPr>
        <p:spPr>
          <a:xfrm>
            <a:off x="3823905" y="6473246"/>
            <a:ext cx="762000" cy="38100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8CB26427-B618-C71C-89A6-19F538D78E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8155" y="2953019"/>
            <a:ext cx="235309" cy="206062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100D011E-9EEF-38B8-3A41-8304DDBB43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8155" y="4278469"/>
            <a:ext cx="235309" cy="206062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71BDA114-2E0D-BA54-5F54-9A0D2B9B4E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8154" y="5094131"/>
            <a:ext cx="235309" cy="206062"/>
          </a:xfrm>
          <a:prstGeom prst="rect">
            <a:avLst/>
          </a:prstGeom>
        </p:spPr>
      </p:pic>
      <p:sp>
        <p:nvSpPr>
          <p:cNvPr id="46" name="Rounded Rectangle 17">
            <a:extLst>
              <a:ext uri="{FF2B5EF4-FFF2-40B4-BE49-F238E27FC236}">
                <a16:creationId xmlns:a16="http://schemas.microsoft.com/office/drawing/2014/main" id="{284A6147-3E2D-0668-0E94-4D2707352F0F}"/>
              </a:ext>
            </a:extLst>
          </p:cNvPr>
          <p:cNvSpPr/>
          <p:nvPr/>
        </p:nvSpPr>
        <p:spPr>
          <a:xfrm>
            <a:off x="4585904" y="6473245"/>
            <a:ext cx="762000" cy="38100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17">
            <a:extLst>
              <a:ext uri="{FF2B5EF4-FFF2-40B4-BE49-F238E27FC236}">
                <a16:creationId xmlns:a16="http://schemas.microsoft.com/office/drawing/2014/main" id="{0C36BD3C-E7BF-527E-9179-8408D2D7C76C}"/>
              </a:ext>
            </a:extLst>
          </p:cNvPr>
          <p:cNvSpPr/>
          <p:nvPr/>
        </p:nvSpPr>
        <p:spPr>
          <a:xfrm>
            <a:off x="5347903" y="6473244"/>
            <a:ext cx="762000" cy="38100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4171950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4375" y="4524375"/>
            <a:ext cx="2518283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F172A"/>
                </a:solidFill>
                <a:latin typeface="Poppins SemiBold"/>
              </a:rPr>
              <a:t>Phase 1: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4375" y="4933950"/>
            <a:ext cx="2398365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334155"/>
                </a:solidFill>
                <a:latin typeface="Lato"/>
              </a:rPr>
              <a:t>Develop MVP App. Partner with 5-10 early-adopter farmers in a specific region.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50294" y="2259508"/>
            <a:ext cx="2518283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F172A"/>
                </a:solidFill>
                <a:latin typeface="Poppins SemiBold"/>
              </a:rPr>
              <a:t>Phase 2: Regional 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50294" y="2983408"/>
            <a:ext cx="2398365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334155"/>
                </a:solidFill>
                <a:latin typeface="Lato"/>
              </a:rPr>
              <a:t>Launch beta subscription to 500 households. Test routing algorithms and recipe engagement.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86214" y="4524375"/>
            <a:ext cx="2518283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F172A"/>
                </a:solidFill>
                <a:latin typeface="Poppins SemiBold"/>
              </a:rPr>
              <a:t>Phase 3: Scaling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6214" y="4933950"/>
            <a:ext cx="2398365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334155"/>
                </a:solidFill>
                <a:latin typeface="Lato"/>
              </a:rPr>
              <a:t>Expand across Switzerland. Introduce reusable logistic crates and B2B subscriptions.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22134" y="2330053"/>
            <a:ext cx="2518283" cy="314325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F172A"/>
                </a:solidFill>
                <a:latin typeface="Poppins SemiBold"/>
              </a:rPr>
              <a:t>Bottleneck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22134" y="2739628"/>
            <a:ext cx="2398365" cy="97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334155"/>
                </a:solidFill>
                <a:latin typeface="Lato"/>
              </a:rPr>
              <a:t>Overcoming the high cost of decentralized last-mile delivery and changing rigid consumer shopping habits.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2134" y="2377678"/>
            <a:ext cx="209550" cy="20955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727820" y="40767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563740" y="40767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399659" y="40767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235579" y="407670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0" i="0" u="none">
                <a:solidFill>
                  <a:srgbClr val="0F172A"/>
                </a:solidFill>
                <a:latin typeface="Poppins SemiBold"/>
              </a:rPr>
              <a:t>5. Implementation Plan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23905" y="6473246"/>
            <a:ext cx="762000" cy="381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5">
            <a:extLst>
              <a:ext uri="{FF2B5EF4-FFF2-40B4-BE49-F238E27FC236}">
                <a16:creationId xmlns:a16="http://schemas.microsoft.com/office/drawing/2014/main" id="{00FB76F7-1239-A1A3-6F51-5DDEA7B67406}"/>
              </a:ext>
            </a:extLst>
          </p:cNvPr>
          <p:cNvSpPr/>
          <p:nvPr/>
        </p:nvSpPr>
        <p:spPr>
          <a:xfrm>
            <a:off x="3056343" y="6474914"/>
            <a:ext cx="762000" cy="381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18">
            <a:extLst>
              <a:ext uri="{FF2B5EF4-FFF2-40B4-BE49-F238E27FC236}">
                <a16:creationId xmlns:a16="http://schemas.microsoft.com/office/drawing/2014/main" id="{95361A2F-DD72-EEE9-D84D-AD949705EDAA}"/>
              </a:ext>
            </a:extLst>
          </p:cNvPr>
          <p:cNvSpPr/>
          <p:nvPr/>
        </p:nvSpPr>
        <p:spPr>
          <a:xfrm>
            <a:off x="2288781" y="6473246"/>
            <a:ext cx="762000" cy="381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8">
            <a:extLst>
              <a:ext uri="{FF2B5EF4-FFF2-40B4-BE49-F238E27FC236}">
                <a16:creationId xmlns:a16="http://schemas.microsoft.com/office/drawing/2014/main" id="{787F1236-B7DB-8C9B-5901-D0ED6E9D3658}"/>
              </a:ext>
            </a:extLst>
          </p:cNvPr>
          <p:cNvSpPr/>
          <p:nvPr/>
        </p:nvSpPr>
        <p:spPr>
          <a:xfrm>
            <a:off x="1526781" y="6473246"/>
            <a:ext cx="762000" cy="381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4">
            <a:extLst>
              <a:ext uri="{FF2B5EF4-FFF2-40B4-BE49-F238E27FC236}">
                <a16:creationId xmlns:a16="http://schemas.microsoft.com/office/drawing/2014/main" id="{0EC590AA-9882-0D72-D428-5F2C9B26FD30}"/>
              </a:ext>
            </a:extLst>
          </p:cNvPr>
          <p:cNvSpPr/>
          <p:nvPr/>
        </p:nvSpPr>
        <p:spPr>
          <a:xfrm>
            <a:off x="759732" y="6473069"/>
            <a:ext cx="762000" cy="381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17">
            <a:extLst>
              <a:ext uri="{FF2B5EF4-FFF2-40B4-BE49-F238E27FC236}">
                <a16:creationId xmlns:a16="http://schemas.microsoft.com/office/drawing/2014/main" id="{E0E164CF-4A64-A1AF-34F5-E168616793C9}"/>
              </a:ext>
            </a:extLst>
          </p:cNvPr>
          <p:cNvSpPr/>
          <p:nvPr/>
        </p:nvSpPr>
        <p:spPr>
          <a:xfrm>
            <a:off x="4585904" y="6473245"/>
            <a:ext cx="762000" cy="38100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17">
            <a:extLst>
              <a:ext uri="{FF2B5EF4-FFF2-40B4-BE49-F238E27FC236}">
                <a16:creationId xmlns:a16="http://schemas.microsoft.com/office/drawing/2014/main" id="{54A0FB8C-7466-8C41-BC2A-9DA1C4135B5D}"/>
              </a:ext>
            </a:extLst>
          </p:cNvPr>
          <p:cNvSpPr/>
          <p:nvPr/>
        </p:nvSpPr>
        <p:spPr>
          <a:xfrm>
            <a:off x="5347903" y="6473244"/>
            <a:ext cx="762000" cy="38100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Mischkultur-im-Garten-">
            <a:extLst>
              <a:ext uri="{FF2B5EF4-FFF2-40B4-BE49-F238E27FC236}">
                <a16:creationId xmlns:a16="http://schemas.microsoft.com/office/drawing/2014/main" id="{EA7DC8A5-F43C-77FD-5C24-04F1001D68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576" t="20359" r="13921" b="17229"/>
          <a:stretch>
            <a:fillRect/>
          </a:stretch>
        </p:blipFill>
        <p:spPr>
          <a:xfrm>
            <a:off x="-10705" y="-4621"/>
            <a:ext cx="12233802" cy="6867873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>
            <a:alphaModFix amt="89000"/>
          </a:blip>
          <a:stretch>
            <a:fillRect/>
          </a:stretch>
        </p:blipFill>
        <p:spPr>
          <a:xfrm>
            <a:off x="1809750" y="1115317"/>
            <a:ext cx="8572500" cy="462721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73642" y="1686817"/>
            <a:ext cx="7320915" cy="272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362"/>
              </a:lnSpc>
            </a:pPr>
            <a:r>
              <a:rPr sz="4125" b="1" i="0" u="none">
                <a:solidFill>
                  <a:srgbClr val="FFFFFF"/>
                </a:solidFill>
                <a:latin typeface="Poppins"/>
              </a:rPr>
              <a:t>"Stop discarding perfection. Start subscribing to sustainability."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47950" y="4601467"/>
            <a:ext cx="6972300" cy="384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de-CH" sz="2100" b="1" i="0" u="none" dirty="0">
                <a:solidFill>
                  <a:srgbClr val="10B981"/>
                </a:solidFill>
                <a:latin typeface="Lato"/>
              </a:rPr>
              <a:t>Free the </a:t>
            </a:r>
            <a:r>
              <a:rPr lang="de-CH" sz="2100" b="1" i="0" u="none" dirty="0" err="1">
                <a:solidFill>
                  <a:srgbClr val="10B981"/>
                </a:solidFill>
                <a:latin typeface="Lato"/>
              </a:rPr>
              <a:t>Carrots</a:t>
            </a:r>
            <a:endParaRPr sz="2100" b="1" i="0" u="none" dirty="0">
              <a:solidFill>
                <a:srgbClr val="10B981"/>
              </a:solidFill>
              <a:latin typeface="Lato"/>
            </a:endParaRPr>
          </a:p>
        </p:txBody>
      </p:sp>
      <p:sp>
        <p:nvSpPr>
          <p:cNvPr id="8" name="Rounded Rectangle 17">
            <a:extLst>
              <a:ext uri="{FF2B5EF4-FFF2-40B4-BE49-F238E27FC236}">
                <a16:creationId xmlns:a16="http://schemas.microsoft.com/office/drawing/2014/main" id="{A400C0A8-E56D-98D7-14CA-600C1388627F}"/>
              </a:ext>
            </a:extLst>
          </p:cNvPr>
          <p:cNvSpPr/>
          <p:nvPr/>
        </p:nvSpPr>
        <p:spPr>
          <a:xfrm>
            <a:off x="3823905" y="6473246"/>
            <a:ext cx="762000" cy="381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15">
            <a:extLst>
              <a:ext uri="{FF2B5EF4-FFF2-40B4-BE49-F238E27FC236}">
                <a16:creationId xmlns:a16="http://schemas.microsoft.com/office/drawing/2014/main" id="{8AE38BC8-3A63-122B-FFCA-1B4AAAF1F3A8}"/>
              </a:ext>
            </a:extLst>
          </p:cNvPr>
          <p:cNvSpPr/>
          <p:nvPr/>
        </p:nvSpPr>
        <p:spPr>
          <a:xfrm>
            <a:off x="3056343" y="6474914"/>
            <a:ext cx="762000" cy="381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8">
            <a:extLst>
              <a:ext uri="{FF2B5EF4-FFF2-40B4-BE49-F238E27FC236}">
                <a16:creationId xmlns:a16="http://schemas.microsoft.com/office/drawing/2014/main" id="{00679C8C-A1A9-E09B-0BC8-130113884BF4}"/>
              </a:ext>
            </a:extLst>
          </p:cNvPr>
          <p:cNvSpPr/>
          <p:nvPr/>
        </p:nvSpPr>
        <p:spPr>
          <a:xfrm>
            <a:off x="2288781" y="6473246"/>
            <a:ext cx="762000" cy="381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8">
            <a:extLst>
              <a:ext uri="{FF2B5EF4-FFF2-40B4-BE49-F238E27FC236}">
                <a16:creationId xmlns:a16="http://schemas.microsoft.com/office/drawing/2014/main" id="{8F538FBE-BED9-7039-0108-7356CDCDF4D6}"/>
              </a:ext>
            </a:extLst>
          </p:cNvPr>
          <p:cNvSpPr/>
          <p:nvPr/>
        </p:nvSpPr>
        <p:spPr>
          <a:xfrm>
            <a:off x="1526781" y="6473246"/>
            <a:ext cx="762000" cy="381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4">
            <a:extLst>
              <a:ext uri="{FF2B5EF4-FFF2-40B4-BE49-F238E27FC236}">
                <a16:creationId xmlns:a16="http://schemas.microsoft.com/office/drawing/2014/main" id="{D47242F1-1A26-BBBF-3996-F50CD8927250}"/>
              </a:ext>
            </a:extLst>
          </p:cNvPr>
          <p:cNvSpPr/>
          <p:nvPr/>
        </p:nvSpPr>
        <p:spPr>
          <a:xfrm>
            <a:off x="759732" y="6473069"/>
            <a:ext cx="762000" cy="381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A954B2E9-F866-CD37-D875-746F4C580383}"/>
              </a:ext>
            </a:extLst>
          </p:cNvPr>
          <p:cNvSpPr/>
          <p:nvPr/>
        </p:nvSpPr>
        <p:spPr>
          <a:xfrm>
            <a:off x="4585904" y="6473245"/>
            <a:ext cx="762000" cy="381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7">
            <a:extLst>
              <a:ext uri="{FF2B5EF4-FFF2-40B4-BE49-F238E27FC236}">
                <a16:creationId xmlns:a16="http://schemas.microsoft.com/office/drawing/2014/main" id="{677417BD-87BF-4A1A-8FC2-2FB3E61F976B}"/>
              </a:ext>
            </a:extLst>
          </p:cNvPr>
          <p:cNvSpPr/>
          <p:nvPr/>
        </p:nvSpPr>
        <p:spPr>
          <a:xfrm>
            <a:off x="5347903" y="6473244"/>
            <a:ext cx="762000" cy="38100"/>
          </a:xfrm>
          <a:prstGeom prst="roundRect">
            <a:avLst>
              <a:gd name="adj" fmla="val 50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C80E0CDB-A7D0-A648-EA98-8E2F84F3C74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8000"/>
          </a:blip>
          <a:srcRect l="4915" t="34" r="-157" b="-34"/>
          <a:stretch>
            <a:fillRect/>
          </a:stretch>
        </p:blipFill>
        <p:spPr>
          <a:xfrm>
            <a:off x="-1482" y="-237"/>
            <a:ext cx="12300268" cy="6863086"/>
          </a:xfrm>
          <a:prstGeom prst="rect">
            <a:avLst/>
          </a:prstGeom>
        </p:spPr>
      </p:pic>
      <p:sp>
        <p:nvSpPr>
          <p:cNvPr id="15" name="Rounded Rectangle 17">
            <a:extLst>
              <a:ext uri="{FF2B5EF4-FFF2-40B4-BE49-F238E27FC236}">
                <a16:creationId xmlns:a16="http://schemas.microsoft.com/office/drawing/2014/main" id="{DAB57988-C639-4CFA-DFBA-FAB94A734CE6}"/>
              </a:ext>
            </a:extLst>
          </p:cNvPr>
          <p:cNvSpPr/>
          <p:nvPr/>
        </p:nvSpPr>
        <p:spPr>
          <a:xfrm>
            <a:off x="3823905" y="6473246"/>
            <a:ext cx="762000" cy="381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5">
            <a:extLst>
              <a:ext uri="{FF2B5EF4-FFF2-40B4-BE49-F238E27FC236}">
                <a16:creationId xmlns:a16="http://schemas.microsoft.com/office/drawing/2014/main" id="{C10E4161-C74D-44CA-8B15-11E4F310B292}"/>
              </a:ext>
            </a:extLst>
          </p:cNvPr>
          <p:cNvSpPr/>
          <p:nvPr/>
        </p:nvSpPr>
        <p:spPr>
          <a:xfrm>
            <a:off x="3056343" y="6474914"/>
            <a:ext cx="762000" cy="381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621DC9D3-42C3-8E22-6B2C-956310378129}"/>
              </a:ext>
            </a:extLst>
          </p:cNvPr>
          <p:cNvSpPr/>
          <p:nvPr/>
        </p:nvSpPr>
        <p:spPr>
          <a:xfrm>
            <a:off x="2288781" y="6473246"/>
            <a:ext cx="762000" cy="381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8">
            <a:extLst>
              <a:ext uri="{FF2B5EF4-FFF2-40B4-BE49-F238E27FC236}">
                <a16:creationId xmlns:a16="http://schemas.microsoft.com/office/drawing/2014/main" id="{C0130D1D-87F7-F4C7-4D9D-EE8457D51244}"/>
              </a:ext>
            </a:extLst>
          </p:cNvPr>
          <p:cNvSpPr/>
          <p:nvPr/>
        </p:nvSpPr>
        <p:spPr>
          <a:xfrm>
            <a:off x="1526781" y="6473246"/>
            <a:ext cx="762000" cy="381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4">
            <a:extLst>
              <a:ext uri="{FF2B5EF4-FFF2-40B4-BE49-F238E27FC236}">
                <a16:creationId xmlns:a16="http://schemas.microsoft.com/office/drawing/2014/main" id="{3F9575B0-937A-90A8-080E-CDEF5957B2FF}"/>
              </a:ext>
            </a:extLst>
          </p:cNvPr>
          <p:cNvSpPr/>
          <p:nvPr/>
        </p:nvSpPr>
        <p:spPr>
          <a:xfrm>
            <a:off x="759732" y="6473069"/>
            <a:ext cx="762000" cy="381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17">
            <a:extLst>
              <a:ext uri="{FF2B5EF4-FFF2-40B4-BE49-F238E27FC236}">
                <a16:creationId xmlns:a16="http://schemas.microsoft.com/office/drawing/2014/main" id="{B39AEEC3-A61C-4387-E8D9-92CDAB00BD86}"/>
              </a:ext>
            </a:extLst>
          </p:cNvPr>
          <p:cNvSpPr/>
          <p:nvPr/>
        </p:nvSpPr>
        <p:spPr>
          <a:xfrm>
            <a:off x="4585904" y="6473245"/>
            <a:ext cx="762000" cy="381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CCD663A-C2D2-6007-B3B7-C0D7A85C7B84}"/>
              </a:ext>
            </a:extLst>
          </p:cNvPr>
          <p:cNvSpPr txBox="1"/>
          <p:nvPr/>
        </p:nvSpPr>
        <p:spPr>
          <a:xfrm>
            <a:off x="2540" y="815340"/>
            <a:ext cx="4265930" cy="43858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3300" dirty="0">
                <a:solidFill>
                  <a:srgbClr val="000000"/>
                </a:solidFill>
                <a:latin typeface="Poppins SemiBold"/>
                <a:cs typeface="Poppins SemiBold"/>
              </a:rPr>
              <a:t>Thank you </a:t>
            </a:r>
          </a:p>
          <a:p>
            <a:pPr algn="ctr"/>
            <a:r>
              <a:rPr lang="en-US" sz="3300" dirty="0">
                <a:solidFill>
                  <a:srgbClr val="000000"/>
                </a:solidFill>
                <a:latin typeface="Poppins SemiBold"/>
                <a:cs typeface="Poppins SemiBold"/>
              </a:rPr>
              <a:t>for your </a:t>
            </a:r>
          </a:p>
          <a:p>
            <a:pPr algn="ctr"/>
            <a:r>
              <a:rPr lang="en-US" sz="3300" dirty="0">
                <a:solidFill>
                  <a:srgbClr val="000000"/>
                </a:solidFill>
                <a:latin typeface="Poppins SemiBold"/>
                <a:cs typeface="Poppins SemiBold"/>
              </a:rPr>
              <a:t>Attention.</a:t>
            </a:r>
          </a:p>
          <a:p>
            <a:pPr algn="ctr"/>
            <a:endParaRPr lang="en-US" sz="3300" dirty="0">
              <a:solidFill>
                <a:srgbClr val="000000"/>
              </a:solidFill>
              <a:latin typeface="Poppins SemiBold"/>
              <a:cs typeface="Poppins SemiBold"/>
            </a:endParaRPr>
          </a:p>
          <a:p>
            <a:pPr algn="ctr"/>
            <a:endParaRPr lang="en-US" sz="3300" dirty="0">
              <a:solidFill>
                <a:srgbClr val="000000"/>
              </a:solidFill>
              <a:latin typeface="Poppins SemiBold"/>
              <a:cs typeface="Poppins SemiBold"/>
            </a:endParaRPr>
          </a:p>
          <a:p>
            <a:pPr algn="ctr"/>
            <a:r>
              <a:rPr lang="en-US" sz="3300" dirty="0">
                <a:solidFill>
                  <a:srgbClr val="000000"/>
                </a:solidFill>
                <a:latin typeface="Poppins SemiBold"/>
                <a:cs typeface="Poppins SemiBold"/>
              </a:rPr>
              <a:t>…and let's have </a:t>
            </a:r>
            <a:endParaRPr lang="en-US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/>
            <a:r>
              <a:rPr lang="en-US" sz="3300" dirty="0">
                <a:solidFill>
                  <a:srgbClr val="000000"/>
                </a:solidFill>
                <a:latin typeface="Poppins SemiBold"/>
                <a:cs typeface="Poppins SemiBold"/>
              </a:rPr>
              <a:t>a discussion!</a:t>
            </a:r>
            <a:endParaRPr lang="en-US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ctr"/>
            <a:r>
              <a:rPr lang="en-US" sz="3300" dirty="0">
                <a:solidFill>
                  <a:srgbClr val="000000"/>
                </a:solidFill>
                <a:latin typeface="Poppins SemiBold"/>
                <a:cs typeface="Poppins SemiBold"/>
              </a:rPr>
              <a:t> </a:t>
            </a:r>
            <a:r>
              <a:rPr lang="en-US" sz="5400" dirty="0">
                <a:solidFill>
                  <a:srgbClr val="000000"/>
                </a:solidFill>
                <a:latin typeface="Poppins SemiBold"/>
                <a:cs typeface="Poppins SemiBold"/>
              </a:rPr>
              <a:t>☺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26" name="Rounded Rectangle 17">
            <a:extLst>
              <a:ext uri="{FF2B5EF4-FFF2-40B4-BE49-F238E27FC236}">
                <a16:creationId xmlns:a16="http://schemas.microsoft.com/office/drawing/2014/main" id="{416C98DA-5AA1-BE7F-C541-DB940266688C}"/>
              </a:ext>
            </a:extLst>
          </p:cNvPr>
          <p:cNvSpPr/>
          <p:nvPr/>
        </p:nvSpPr>
        <p:spPr>
          <a:xfrm>
            <a:off x="5347903" y="6473244"/>
            <a:ext cx="762000" cy="381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669</Words>
  <Application>Microsoft Office PowerPoint</Application>
  <PresentationFormat>Breitbild</PresentationFormat>
  <Paragraphs>65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4" baseType="lpstr">
      <vt:lpstr>Arial</vt:lpstr>
      <vt:lpstr>Calibri</vt:lpstr>
      <vt:lpstr>Lato</vt:lpstr>
      <vt:lpstr>Poppins</vt:lpstr>
      <vt:lpstr>Poppins SemiBold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subject/>
  <dc:creator/>
  <cp:keywords/>
  <dc:description>generated using python-pptx</dc:description>
  <cp:lastModifiedBy>Isabelle Wippl</cp:lastModifiedBy>
  <cp:revision>511</cp:revision>
  <dcterms:created xsi:type="dcterms:W3CDTF">2013-01-27T09:14:16Z</dcterms:created>
  <dcterms:modified xsi:type="dcterms:W3CDTF">2026-09-11T05:51:41Z</dcterms:modified>
  <cp:category/>
</cp:coreProperties>
</file>