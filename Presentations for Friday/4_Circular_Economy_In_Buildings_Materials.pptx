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</p:sldIdLst>
  <p:sldSz cx="12198350" cy="6858000"/>
  <p:notesSz cx="6858000" cy="9144000"/>
  <p:defaultTextStyle>
    <a:defPPr>
      <a:defRPr lang="de-DE"/>
    </a:defPPr>
    <a:lvl1pPr marL="0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93B1"/>
    <a:srgbClr val="1D9E75"/>
    <a:srgbClr val="F0997B"/>
    <a:srgbClr val="7F77DD"/>
    <a:srgbClr val="8C1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24" dt="2026-09-10T18:00:24.264"/>
    <p1510:client id="{0A3398C2-65DB-20AC-0C88-E3F19A5C8128}" v="1" dt="2026-09-10T18:15:50.692"/>
    <p1510:client id="{6B413D89-9043-6970-D192-3F8FFFC2C5F5}" v="102" dt="2026-09-10T08:26:42.309"/>
    <p1510:client id="{8968EA87-8682-AAD2-C2C4-41DE8CD1D9DE}" v="173" dt="2026-09-10T07:24:16.798"/>
    <p1510:client id="{9CAFA560-42D0-AE04-0AB7-49B8AE1AAF5B}" v="14" dt="2026-09-10T07:35:46.304"/>
    <p1510:client id="{D9968FAF-82D0-4531-0A99-67908483553A}" v="2" dt="2026-09-10T17:18:00.978"/>
    <p1510:client id="{F6FD22FE-FEA1-5707-C840-316B6B86A03D}" v="395" dt="2026-09-10T09:59:07.601"/>
    <p1510:client id="{F7A7A5DA-AB9C-24BD-D200-86356B0AF82B}" v="88" dt="2026-09-10T06:55:16.130"/>
  </p1510:revLst>
</p1510:revInfo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OST Tabelle">
    <a:wholeTbl>
      <a:tcTxStyle>
        <a:fontRef idx="minor">
          <a:prstClr val="black"/>
        </a:fontRef>
        <a:schemeClr val="dk1"/>
      </a:tcTxStyle>
      <a:tcStyle>
        <a:tcBdr>
          <a:left>
            <a:ln w="28575" cmpd="sng">
              <a:solidFill>
                <a:srgbClr val="56276D"/>
              </a:solidFill>
            </a:ln>
          </a:left>
          <a:right>
            <a:ln w="28575" cmpd="sng">
              <a:solidFill>
                <a:srgbClr val="56276D"/>
              </a:solidFill>
            </a:ln>
          </a:right>
          <a:top>
            <a:ln w="28575" cmpd="sng">
              <a:solidFill>
                <a:srgbClr val="56276D"/>
              </a:solidFill>
            </a:ln>
          </a:top>
          <a:bottom>
            <a:ln w="28575" cmpd="sng">
              <a:solidFill>
                <a:srgbClr val="56276D"/>
              </a:solidFill>
            </a:ln>
          </a:bottom>
          <a:insideH>
            <a:ln w="28575" cmpd="sng">
              <a:solidFill>
                <a:srgbClr val="56276D"/>
              </a:solidFill>
            </a:ln>
          </a:insideH>
          <a:insideV>
            <a:ln w="28575" cmpd="sng">
              <a:solidFill>
                <a:srgbClr val="56276D"/>
              </a:solidFill>
            </a:ln>
          </a:insideV>
        </a:tcBdr>
        <a:fill>
          <a:noFill/>
        </a:fill>
      </a:tcStyle>
    </a:wholeTbl>
    <a:firstCol>
      <a:tcTxStyle b="on">
        <a:fontRef idx="minor"/>
        <a:srgbClr val="000000"/>
      </a:tcTxStyle>
      <a:tcStyle>
        <a:tcBdr/>
        <a:fill>
          <a:noFill/>
        </a:fill>
      </a:tcStyle>
    </a:firstCol>
    <a:firstRow>
      <a:tcTxStyle b="on">
        <a:fontRef idx="minor"/>
        <a:srgbClr val="000000"/>
      </a:tcTxStyle>
      <a:tcStyle>
        <a:tcBdr/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8E594-98F6-3A40-9CB1-890EFD882430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A8F55-2519-6F41-91E3-24F0254F6F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05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DA80C-0032-A04F-8DC3-1D9FA424B670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8BABC-F464-1C42-81DA-2E65C84DE5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0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Roboto"/>
              <a:cs typeface="Robo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ea typeface="Roboto"/>
              <a:cs typeface="Robo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Roboto"/>
              <a:cs typeface="Robo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Roboto"/>
              <a:cs typeface="Robo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1" y="0"/>
            <a:ext cx="1219835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5404" y="679931"/>
            <a:ext cx="8222947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42407" y="1910668"/>
            <a:ext cx="6555944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8700" y="3239457"/>
            <a:ext cx="6790944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2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 Titelfolie</a:t>
            </a:r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6177" y="1533510"/>
            <a:ext cx="2691819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3464" y="5641975"/>
            <a:ext cx="1445099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200">
                <a:latin typeface="+mn-lt"/>
              </a:defRPr>
            </a:lvl1pPr>
          </a:lstStyle>
          <a:p>
            <a:fld id="{36BABC78-0EB0-4DA2-9B80-B0BD4015C56E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835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6200774"/>
            <a:ext cx="5541757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de-CH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8700" y="4410388"/>
            <a:ext cx="6790944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3464" y="5342714"/>
            <a:ext cx="5546993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lt"/>
              </a:defRPr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6AD7A2-0FC9-213A-8A96-BD35C9EDFF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94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1804" y="5947634"/>
            <a:ext cx="1558409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835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8531" y="3427353"/>
            <a:ext cx="5957391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 Titelfolie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9363" y="6453187"/>
            <a:ext cx="3377345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BD21A0A-A5F5-4E77-B96A-C541D567B37C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7514" y="4224664"/>
            <a:ext cx="4064000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9363" y="5949950"/>
            <a:ext cx="3365053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50" y="5949950"/>
            <a:ext cx="4532081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de-CH"/>
              <a:t>Departement / Abteilung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273FBB-00B8-6E81-C22E-FB670DC172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881" y="5517352"/>
            <a:ext cx="1334168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21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10D5A-4498-4C30-8587-9915039081D8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4462" y="333375"/>
            <a:ext cx="5365751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49" y="2213149"/>
            <a:ext cx="5364164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53641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 baseline="0"/>
            </a:lvl1pPr>
          </a:lstStyle>
          <a:p>
            <a:r>
              <a:rPr lang="de-DE"/>
              <a:t>Titel Abschnittsfolie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05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835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110537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de-DE"/>
              <a:t>Titel Abschnittsfolie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E498D-AF2E-4C12-9DA2-23CA3F065D0E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50" y="2213149"/>
            <a:ext cx="7371633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0219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450" y="1449387"/>
            <a:ext cx="11053763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900" marR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2000" baseline="0"/>
            </a:lvl1pPr>
            <a:lvl2pPr marL="360363" indent="-36036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2000" b="1" baseline="0"/>
            </a:lvl2pPr>
            <a:lvl3pPr marL="628650" indent="-2682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/>
            </a:lvl3pPr>
            <a:lvl4pPr marL="895350" indent="-206375">
              <a:spcBef>
                <a:spcPts val="400"/>
              </a:spcBef>
              <a:spcAft>
                <a:spcPts val="0"/>
              </a:spcAft>
              <a:defRPr/>
            </a:lvl4pPr>
            <a:lvl5pPr marL="1163638" indent="-230188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Thema 1 [Ebene 1]</a:t>
            </a:r>
          </a:p>
          <a:p>
            <a:pPr lvl="1"/>
            <a:r>
              <a:rPr lang="de-DE"/>
              <a:t>Thema 2 aktiv [Ebene 2]</a:t>
            </a:r>
          </a:p>
          <a:p>
            <a:pPr lvl="2"/>
            <a:r>
              <a:rPr lang="de-DE"/>
              <a:t>Unterthema 1 [Ebene 3]</a:t>
            </a:r>
          </a:p>
          <a:p>
            <a:pPr lvl="2"/>
            <a:r>
              <a:rPr lang="de-DE"/>
              <a:t>Unterthema 2 [Ebene 3]</a:t>
            </a:r>
          </a:p>
          <a:p>
            <a:pPr marL="342900" marR="0" lvl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Thema 3 [Ebene 1]</a:t>
            </a:r>
          </a:p>
          <a:p>
            <a:pPr lvl="0"/>
            <a:endParaRPr lang="de-DE"/>
          </a:p>
          <a:p>
            <a:pPr lvl="2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D67DA3-EEE8-4921-9101-CAC450582C27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Semesterarbeit - Systems Engineering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450" y="333376"/>
            <a:ext cx="11053763" cy="287337"/>
          </a:xfrm>
        </p:spPr>
        <p:txBody>
          <a:bodyPr/>
          <a:lstStyle>
            <a:lvl1pPr>
              <a:defRPr lang="de-DE" sz="2000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Agenda-Titel eingeben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043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659C40F-56C0-467E-9445-F77BFE84B232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450" y="1449388"/>
            <a:ext cx="110537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193327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0F743-B2A4-4252-90A0-A69823BB18F9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450" y="1449388"/>
            <a:ext cx="53641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6050" y="1449388"/>
            <a:ext cx="53641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768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2EDC269-7DAA-49EF-8C6E-087C46928707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451" y="1449388"/>
            <a:ext cx="5364576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5072" y="1449388"/>
            <a:ext cx="5353967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450" y="1881188"/>
            <a:ext cx="5364163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4463" y="1881188"/>
            <a:ext cx="5364163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6247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31782" y="333375"/>
            <a:ext cx="4428432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BEAF-C482-4D1A-8781-9FD6F05E8138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450" y="1449388"/>
            <a:ext cx="6337300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6337301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451" y="692150"/>
            <a:ext cx="6337300" cy="684213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290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1184796-3C63-4BBF-8BE9-439CCE015DEA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247666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E54DE-A223-4674-B3FB-1F4FF86FAED6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4216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ADB-3EF0-4BA8-A13E-F9A9F82660BF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Semesterarbeit - Systems Engineering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835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106125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90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/>
              <a:t>Titel Inhaltsfolie einzeilig</a:t>
            </a:r>
            <a:endParaRPr lang="de-CH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958" y="6454845"/>
            <a:ext cx="5875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/>
            </a:lvl1pPr>
          </a:lstStyle>
          <a:p>
            <a:fld id="{C72AD4CD-F161-4EBE-AD3A-547492E18A76}" type="datetime4">
              <a:rPr lang="de-CH" smtClean="0"/>
              <a:t>10. September 2026</a:t>
            </a:fld>
            <a:endParaRPr lang="de-CH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450" y="6454845"/>
            <a:ext cx="5364163" cy="332663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200"/>
            </a:lvl1pPr>
          </a:lstStyle>
          <a:p>
            <a:r>
              <a:rPr lang="de-CH"/>
              <a:t>Semesterarbeit - Systems Engineering</a:t>
            </a:r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958" y="1449388"/>
            <a:ext cx="11057254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4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7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  <p:hf hdr="0"/>
  <p:txStyles>
    <p:titleStyle>
      <a:lvl1pPr algn="l" defTabSz="609768" rtl="0" eaLnBrk="1" latinLnBrk="0" hangingPunct="1">
        <a:lnSpc>
          <a:spcPct val="120000"/>
        </a:lnSpc>
        <a:spcBef>
          <a:spcPct val="0"/>
        </a:spcBef>
        <a:buNone/>
        <a:defRPr sz="32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609768" rtl="0" eaLnBrk="1" latinLnBrk="0" hangingPunct="1">
        <a:spcBef>
          <a:spcPts val="18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609768" rtl="0" eaLnBrk="1" latinLnBrk="0" hangingPunct="1">
        <a:spcBef>
          <a:spcPts val="1200"/>
        </a:spcBef>
        <a:buClr>
          <a:schemeClr val="tx1"/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609768" rtl="0" eaLnBrk="1" latinLnBrk="0" hangingPunct="1">
        <a:spcBef>
          <a:spcPts val="1000"/>
        </a:spcBef>
        <a:buSzPct val="90000"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609768" rtl="0" eaLnBrk="1" latinLnBrk="0" hangingPunct="1"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marR="0" indent="-252000" algn="l" defTabSz="609768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61118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4000" indent="-252000" algn="l" defTabSz="60976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257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025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6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535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30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7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83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606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37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14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 userDrawn="1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1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81415" y="-1280160"/>
            <a:ext cx="4754880" cy="4754880"/>
          </a:xfrm>
          <a:prstGeom prst="ellipse">
            <a:avLst/>
          </a:prstGeom>
          <a:ln w="31750">
            <a:solidFill>
              <a:srgbClr val="5C3A2C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3" name="Shape 1"/>
          <p:cNvSpPr/>
          <p:nvPr/>
        </p:nvSpPr>
        <p:spPr>
          <a:xfrm>
            <a:off x="9695815" y="-365760"/>
            <a:ext cx="2926080" cy="2926080"/>
          </a:xfrm>
          <a:prstGeom prst="ellipse">
            <a:avLst/>
          </a:prstGeom>
          <a:ln w="25400">
            <a:solidFill>
              <a:srgbClr val="6E4838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4" name="Shape 2"/>
          <p:cNvSpPr/>
          <p:nvPr/>
        </p:nvSpPr>
        <p:spPr>
          <a:xfrm>
            <a:off x="10198735" y="91440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5" name="Image 0" descr="icons/arrow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049" y="1140714"/>
            <a:ext cx="553212" cy="5532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0573" y="2631707"/>
            <a:ext cx="80734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kern="0" spc="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CIRCULAR ECONOMY FOR BUILDING MATERIALS</a:t>
            </a:r>
            <a:endParaRPr lang="en-US" sz="4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6135" y="4206209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700">
              <a:solidFill>
                <a:srgbClr val="E9DCD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6135" y="4892040"/>
            <a:ext cx="219456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10" name="Text 7"/>
          <p:cNvSpPr txBox="1"/>
          <p:nvPr/>
        </p:nvSpPr>
        <p:spPr>
          <a:xfrm>
            <a:off x="826135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Project Presentation  ·  Group 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50292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24" y="660929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4775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INTRODUCTION</a:t>
            </a:r>
            <a:endParaRPr lang="en-US" sz="1300"/>
          </a:p>
        </p:txBody>
      </p:sp>
      <p:sp>
        <p:nvSpPr>
          <p:cNvPr id="5" name="Text 2"/>
          <p:cNvSpPr txBox="1"/>
          <p:nvPr/>
        </p:nvSpPr>
        <p:spPr>
          <a:xfrm>
            <a:off x="1374775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/>
          </a:p>
        </p:txBody>
      </p:sp>
      <p:sp>
        <p:nvSpPr>
          <p:cNvPr id="6" name="Shape 3"/>
          <p:cNvSpPr/>
          <p:nvPr/>
        </p:nvSpPr>
        <p:spPr>
          <a:xfrm>
            <a:off x="551815" y="1481328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7" name="Text 4"/>
          <p:cNvSpPr txBox="1"/>
          <p:nvPr/>
        </p:nvSpPr>
        <p:spPr>
          <a:xfrm>
            <a:off x="551815" y="17830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Today situation:</a:t>
            </a:r>
            <a:endParaRPr lang="en-US" sz="1500"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Construction sector responsible for most produced waste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Buildings demolished, not disassembled. </a:t>
            </a:r>
            <a:endParaRPr lang="en-US" sz="1500">
              <a:solidFill>
                <a:srgbClr val="191919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Materials crushed and landfilled 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51815" y="349677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Why it matters now?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51815" y="3651985"/>
            <a:ext cx="5820909" cy="155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5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Raw materials are becoming scarcer and costlier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5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Significant waste </a:t>
            </a:r>
            <a:endParaRPr lang="en-US" sz="1500">
              <a:cs typeface="Arial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5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CO2 Emissions</a:t>
            </a:r>
            <a:endParaRPr lang="en-US" sz="1500">
              <a:cs typeface="Arial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24015" y="178308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1" name="Text 8"/>
          <p:cNvSpPr txBox="1"/>
          <p:nvPr/>
        </p:nvSpPr>
        <p:spPr>
          <a:xfrm>
            <a:off x="6998335" y="189280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35%+</a:t>
            </a:r>
            <a:endParaRPr lang="en-US" sz="4000"/>
          </a:p>
        </p:txBody>
      </p:sp>
      <p:sp>
        <p:nvSpPr>
          <p:cNvPr id="12" name="Text 9"/>
          <p:cNvSpPr txBox="1"/>
          <p:nvPr/>
        </p:nvSpPr>
        <p:spPr>
          <a:xfrm>
            <a:off x="9192895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EU waste</a:t>
            </a:r>
            <a:endParaRPr lang="en-US" sz="1250"/>
          </a:p>
        </p:txBody>
      </p:sp>
      <p:sp>
        <p:nvSpPr>
          <p:cNvPr id="13" name="Text 10"/>
          <p:cNvSpPr txBox="1"/>
          <p:nvPr/>
        </p:nvSpPr>
        <p:spPr>
          <a:xfrm>
            <a:off x="9192895" y="2404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construction</a:t>
            </a:r>
            <a:endParaRPr lang="en-US" sz="950"/>
          </a:p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demolition activity</a:t>
            </a:r>
            <a:endParaRPr lang="en-US" sz="950"/>
          </a:p>
        </p:txBody>
      </p:sp>
      <p:sp>
        <p:nvSpPr>
          <p:cNvPr id="14" name="Shape 11"/>
          <p:cNvSpPr/>
          <p:nvPr/>
        </p:nvSpPr>
        <p:spPr>
          <a:xfrm>
            <a:off x="6724015" y="320040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5" name="Text 12"/>
          <p:cNvSpPr txBox="1"/>
          <p:nvPr/>
        </p:nvSpPr>
        <p:spPr>
          <a:xfrm>
            <a:off x="6998335" y="33101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B85042"/>
                </a:solidFill>
                <a:latin typeface="Cambria"/>
                <a:ea typeface="Cambria"/>
              </a:rPr>
              <a:t>500 M</a:t>
            </a:r>
            <a:endParaRPr lang="en-US" sz="4000"/>
          </a:p>
        </p:txBody>
      </p:sp>
      <p:sp>
        <p:nvSpPr>
          <p:cNvPr id="16" name="Text 13"/>
          <p:cNvSpPr txBox="1"/>
          <p:nvPr/>
        </p:nvSpPr>
        <p:spPr>
          <a:xfrm>
            <a:off x="9192895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/ year</a:t>
            </a:r>
            <a:endParaRPr lang="en-US" sz="1250"/>
          </a:p>
        </p:txBody>
      </p:sp>
      <p:sp>
        <p:nvSpPr>
          <p:cNvPr id="17" name="Text 14"/>
          <p:cNvSpPr txBox="1"/>
          <p:nvPr/>
        </p:nvSpPr>
        <p:spPr>
          <a:xfrm>
            <a:off x="9192895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construction debris</a:t>
            </a:r>
            <a:endParaRPr lang="en-US" sz="950"/>
          </a:p>
          <a:p>
            <a:pPr>
              <a:lnSpc>
                <a:spcPct val="115000"/>
              </a:lnSpc>
            </a:pPr>
            <a:r>
              <a:rPr lang="en-US" sz="95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generated in the EU alone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6724015" y="461772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9" name="Text 16"/>
          <p:cNvSpPr txBox="1"/>
          <p:nvPr/>
        </p:nvSpPr>
        <p:spPr>
          <a:xfrm>
            <a:off x="6998335" y="47274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/>
          </a:p>
        </p:txBody>
      </p:sp>
      <p:sp>
        <p:nvSpPr>
          <p:cNvPr id="20" name="Text 17"/>
          <p:cNvSpPr txBox="1"/>
          <p:nvPr/>
        </p:nvSpPr>
        <p:spPr>
          <a:xfrm>
            <a:off x="9192895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</a:t>
            </a:r>
            <a:endParaRPr lang="en-US" sz="1250"/>
          </a:p>
          <a:p>
            <a:pPr marL="0" indent="0">
              <a:buNone/>
            </a:pPr>
            <a:r>
              <a:rPr lang="en-US" sz="1250" b="1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250"/>
          </a:p>
        </p:txBody>
      </p:sp>
      <p:sp>
        <p:nvSpPr>
          <p:cNvPr id="21" name="Text 18"/>
          <p:cNvSpPr txBox="1"/>
          <p:nvPr/>
        </p:nvSpPr>
        <p:spPr>
          <a:xfrm>
            <a:off x="9192895" y="5239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components are used</a:t>
            </a:r>
            <a:endParaRPr lang="en-US" sz="950"/>
          </a:p>
          <a:p>
            <a:pPr marL="0" indent="0">
              <a:lnSpc>
                <a:spcPct val="115000"/>
              </a:lnSpc>
              <a:buNone/>
            </a:pPr>
            <a:r>
              <a:rPr lang="en-US" sz="95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then landfilled for good</a:t>
            </a:r>
            <a:endParaRPr lang="en-US" sz="950"/>
          </a:p>
        </p:txBody>
      </p:sp>
      <p:sp>
        <p:nvSpPr>
          <p:cNvPr id="22" name="Text 19"/>
          <p:cNvSpPr txBox="1"/>
          <p:nvPr/>
        </p:nvSpPr>
        <p:spPr>
          <a:xfrm>
            <a:off x="1147929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23" name="Text 20"/>
          <p:cNvSpPr txBox="1"/>
          <p:nvPr/>
        </p:nvSpPr>
        <p:spPr>
          <a:xfrm>
            <a:off x="885388" y="6536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  <a:endParaRPr lang="en-US">
              <a:ea typeface="Calibr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50292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4" name="Text 1"/>
          <p:cNvSpPr txBox="1"/>
          <p:nvPr/>
        </p:nvSpPr>
        <p:spPr>
          <a:xfrm>
            <a:off x="1374775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2 — THE IDEA</a:t>
            </a:r>
            <a:endParaRPr lang="en-US" sz="1300"/>
          </a:p>
        </p:txBody>
      </p:sp>
      <p:sp>
        <p:nvSpPr>
          <p:cNvPr id="5" name="Text 2"/>
          <p:cNvSpPr txBox="1"/>
          <p:nvPr/>
        </p:nvSpPr>
        <p:spPr>
          <a:xfrm>
            <a:off x="1374775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Straight Line to a Loop</a:t>
            </a:r>
            <a:endParaRPr lang="en-US" sz="3000"/>
          </a:p>
        </p:txBody>
      </p:sp>
      <p:sp>
        <p:nvSpPr>
          <p:cNvPr id="6" name="Shape 3"/>
          <p:cNvSpPr/>
          <p:nvPr/>
        </p:nvSpPr>
        <p:spPr>
          <a:xfrm>
            <a:off x="551815" y="1481328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7" name="Text 4"/>
          <p:cNvSpPr txBox="1"/>
          <p:nvPr/>
        </p:nvSpPr>
        <p:spPr>
          <a:xfrm>
            <a:off x="551815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50" dirty="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TODAY — LINEAR SYSTEM</a:t>
            </a:r>
            <a:endParaRPr lang="en-US" sz="1200" b="1">
              <a:cs typeface="Arial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1815" y="2084832"/>
            <a:ext cx="777240" cy="777240"/>
          </a:xfrm>
          <a:prstGeom prst="ellipse">
            <a:avLst/>
          </a:prstGeom>
          <a:solidFill>
            <a:srgbClr val="C9B0A6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9" name="Image 1" descr="icons/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5" y="2279142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1775" y="2935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raw</a:t>
            </a:r>
            <a:endParaRPr lang="en-US" sz="11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00"/>
          </a:p>
        </p:txBody>
      </p:sp>
      <p:sp>
        <p:nvSpPr>
          <p:cNvPr id="11" name="Shape 7"/>
          <p:cNvSpPr/>
          <p:nvPr/>
        </p:nvSpPr>
        <p:spPr>
          <a:xfrm>
            <a:off x="1438783" y="2391156"/>
            <a:ext cx="1609344" cy="164592"/>
          </a:xfrm>
          <a:prstGeom prst="rightArrow">
            <a:avLst/>
          </a:prstGeom>
          <a:solidFill>
            <a:srgbClr val="D9CCC4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12" name="Shape 8"/>
          <p:cNvSpPr/>
          <p:nvPr/>
        </p:nvSpPr>
        <p:spPr>
          <a:xfrm>
            <a:off x="3157855" y="2084832"/>
            <a:ext cx="777240" cy="777240"/>
          </a:xfrm>
          <a:prstGeom prst="ellipse">
            <a:avLst/>
          </a:prstGeom>
          <a:solidFill>
            <a:srgbClr val="C9B0A6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3" name="Image 2" descr="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165" y="2279142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37815" y="2935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/>
          </a:p>
        </p:txBody>
      </p:sp>
      <p:sp>
        <p:nvSpPr>
          <p:cNvPr id="15" name="Shape 10"/>
          <p:cNvSpPr/>
          <p:nvPr/>
        </p:nvSpPr>
        <p:spPr>
          <a:xfrm>
            <a:off x="4044823" y="2391156"/>
            <a:ext cx="1609344" cy="164592"/>
          </a:xfrm>
          <a:prstGeom prst="rightArrow">
            <a:avLst/>
          </a:prstGeom>
          <a:solidFill>
            <a:srgbClr val="D9CCC4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16" name="Shape 11"/>
          <p:cNvSpPr/>
          <p:nvPr/>
        </p:nvSpPr>
        <p:spPr>
          <a:xfrm>
            <a:off x="5763895" y="2084832"/>
            <a:ext cx="777240" cy="777240"/>
          </a:xfrm>
          <a:prstGeom prst="ellipse">
            <a:avLst/>
          </a:prstGeom>
          <a:solidFill>
            <a:srgbClr val="C9B0A6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7" name="Image 3" descr="icons/ham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205" y="2279142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3855" y="2935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Demolish</a:t>
            </a:r>
            <a:endParaRPr lang="en-US" sz="1100"/>
          </a:p>
        </p:txBody>
      </p:sp>
      <p:sp>
        <p:nvSpPr>
          <p:cNvPr id="19" name="Shape 13"/>
          <p:cNvSpPr/>
          <p:nvPr/>
        </p:nvSpPr>
        <p:spPr>
          <a:xfrm>
            <a:off x="6650863" y="2391156"/>
            <a:ext cx="1609344" cy="164592"/>
          </a:xfrm>
          <a:prstGeom prst="rightArrow">
            <a:avLst/>
          </a:prstGeom>
          <a:solidFill>
            <a:srgbClr val="D9CCC4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20" name="Shape 14"/>
          <p:cNvSpPr/>
          <p:nvPr/>
        </p:nvSpPr>
        <p:spPr>
          <a:xfrm>
            <a:off x="8369935" y="2084832"/>
            <a:ext cx="777240" cy="777240"/>
          </a:xfrm>
          <a:prstGeom prst="ellipse">
            <a:avLst/>
          </a:prstGeom>
          <a:solidFill>
            <a:srgbClr val="C9B0A6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21" name="Image 4" descr="icons/tr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45" y="2279142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49895" y="2935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</a:t>
            </a:r>
            <a:endParaRPr lang="en-US" sz="1100"/>
          </a:p>
        </p:txBody>
      </p:sp>
      <p:sp>
        <p:nvSpPr>
          <p:cNvPr id="23" name="Shape 16"/>
          <p:cNvSpPr/>
          <p:nvPr/>
        </p:nvSpPr>
        <p:spPr>
          <a:xfrm>
            <a:off x="561847" y="3843929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dash"/>
          </a:ln>
        </p:spPr>
        <p:txBody>
          <a:bodyPr/>
          <a:lstStyle/>
          <a:p>
            <a:endParaRPr lang="de-CH" sz="1800"/>
          </a:p>
        </p:txBody>
      </p:sp>
      <p:sp>
        <p:nvSpPr>
          <p:cNvPr id="24" name="Text 17"/>
          <p:cNvSpPr txBox="1"/>
          <p:nvPr/>
        </p:nvSpPr>
        <p:spPr>
          <a:xfrm>
            <a:off x="561847" y="400852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5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GOAL </a:t>
            </a:r>
            <a:r>
              <a:rPr lang="en-US" sz="1200" b="1" kern="0" spc="15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—</a:t>
            </a:r>
            <a:r>
              <a:rPr lang="en-US" sz="1200" b="1" kern="0" spc="15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 CIRCULAR SYSTEM</a:t>
            </a:r>
            <a:endParaRPr lang="en-US" sz="1200"/>
          </a:p>
        </p:txBody>
      </p:sp>
      <p:sp>
        <p:nvSpPr>
          <p:cNvPr id="25" name="Shape 18"/>
          <p:cNvSpPr/>
          <p:nvPr/>
        </p:nvSpPr>
        <p:spPr>
          <a:xfrm>
            <a:off x="561847" y="4392569"/>
            <a:ext cx="777240" cy="777240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27" name="Text 19"/>
          <p:cNvSpPr txBox="1"/>
          <p:nvPr/>
        </p:nvSpPr>
        <p:spPr>
          <a:xfrm>
            <a:off x="241807" y="5242961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/>
          </a:p>
        </p:txBody>
      </p:sp>
      <p:sp>
        <p:nvSpPr>
          <p:cNvPr id="28" name="Shape 20"/>
          <p:cNvSpPr/>
          <p:nvPr/>
        </p:nvSpPr>
        <p:spPr>
          <a:xfrm>
            <a:off x="1412238" y="4708037"/>
            <a:ext cx="1225296" cy="146304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29" name="Shape 21"/>
          <p:cNvSpPr/>
          <p:nvPr/>
        </p:nvSpPr>
        <p:spPr>
          <a:xfrm>
            <a:off x="2710687" y="4392569"/>
            <a:ext cx="777240" cy="777240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31" name="Text 22"/>
          <p:cNvSpPr txBox="1"/>
          <p:nvPr/>
        </p:nvSpPr>
        <p:spPr>
          <a:xfrm>
            <a:off x="2390647" y="5242961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Build 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3561079" y="4708037"/>
            <a:ext cx="1225296" cy="146304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33" name="Shape 24"/>
          <p:cNvSpPr/>
          <p:nvPr/>
        </p:nvSpPr>
        <p:spPr>
          <a:xfrm>
            <a:off x="4859527" y="4392569"/>
            <a:ext cx="777240" cy="777240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34" name="Image 7" descr="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836" y="4586879"/>
            <a:ext cx="388620" cy="3886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539487" y="5242961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Disassemble</a:t>
            </a:r>
            <a:endParaRPr lang="en-US" sz="1100">
              <a:solidFill>
                <a:srgbClr val="2A232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5709919" y="4708037"/>
            <a:ext cx="1225296" cy="146304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37" name="Shape 27"/>
          <p:cNvSpPr/>
          <p:nvPr/>
        </p:nvSpPr>
        <p:spPr>
          <a:xfrm>
            <a:off x="7008367" y="4392569"/>
            <a:ext cx="777240" cy="777240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39" name="Text 28"/>
          <p:cNvSpPr txBox="1"/>
          <p:nvPr/>
        </p:nvSpPr>
        <p:spPr>
          <a:xfrm>
            <a:off x="6688327" y="5242961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</a:t>
            </a:r>
            <a:endParaRPr lang="en-US" sz="110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parts</a:t>
            </a:r>
            <a:endParaRPr lang="en-US" sz="1100"/>
          </a:p>
        </p:txBody>
      </p:sp>
      <p:sp>
        <p:nvSpPr>
          <p:cNvPr id="40" name="Shape 29"/>
          <p:cNvSpPr/>
          <p:nvPr/>
        </p:nvSpPr>
        <p:spPr>
          <a:xfrm>
            <a:off x="7858758" y="4708037"/>
            <a:ext cx="1225296" cy="146304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41" name="Shape 30"/>
          <p:cNvSpPr/>
          <p:nvPr/>
        </p:nvSpPr>
        <p:spPr>
          <a:xfrm>
            <a:off x="9157207" y="4392569"/>
            <a:ext cx="777240" cy="777240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43" name="Text 31"/>
          <p:cNvSpPr txBox="1"/>
          <p:nvPr/>
        </p:nvSpPr>
        <p:spPr>
          <a:xfrm>
            <a:off x="8837167" y="5242961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Reuse and rebuild</a:t>
            </a:r>
            <a:endParaRPr lang="en-US" sz="1100"/>
          </a:p>
        </p:txBody>
      </p:sp>
      <p:sp>
        <p:nvSpPr>
          <p:cNvPr id="47" name="Text 34"/>
          <p:cNvSpPr txBox="1"/>
          <p:nvPr/>
        </p:nvSpPr>
        <p:spPr>
          <a:xfrm>
            <a:off x="11500766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C2C44E2-C36B-6D78-A193-30705EBDE6A8}"/>
              </a:ext>
            </a:extLst>
          </p:cNvPr>
          <p:cNvSpPr txBox="1"/>
          <p:nvPr/>
        </p:nvSpPr>
        <p:spPr>
          <a:xfrm>
            <a:off x="885388" y="6536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  <a:endParaRPr lang="en-US">
              <a:ea typeface="Calibri"/>
              <a:cs typeface="Arial"/>
            </a:endParaRPr>
          </a:p>
        </p:txBody>
      </p:sp>
      <p:pic>
        <p:nvPicPr>
          <p:cNvPr id="26" name="Image 5" descr="icons/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57" y="4586879"/>
            <a:ext cx="388620" cy="388620"/>
          </a:xfrm>
          <a:prstGeom prst="rect">
            <a:avLst/>
          </a:prstGeom>
        </p:spPr>
      </p:pic>
      <p:pic>
        <p:nvPicPr>
          <p:cNvPr id="30" name="Image 6" descr="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997" y="4586879"/>
            <a:ext cx="388620" cy="388620"/>
          </a:xfrm>
          <a:prstGeom prst="rect">
            <a:avLst/>
          </a:prstGeom>
        </p:spPr>
      </p:pic>
      <p:pic>
        <p:nvPicPr>
          <p:cNvPr id="38" name="Image 8" descr="icons/sortbo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2677" y="4586879"/>
            <a:ext cx="388620" cy="388620"/>
          </a:xfrm>
          <a:prstGeom prst="rect">
            <a:avLst/>
          </a:prstGeom>
        </p:spPr>
      </p:pic>
      <p:pic>
        <p:nvPicPr>
          <p:cNvPr id="42" name="Image 9" descr="icons/reu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1517" y="4586879"/>
            <a:ext cx="388620" cy="388620"/>
          </a:xfrm>
          <a:prstGeom prst="rect">
            <a:avLst/>
          </a:prstGeom>
        </p:spPr>
      </p:pic>
      <p:pic>
        <p:nvPicPr>
          <p:cNvPr id="51" name="Image 0" descr="icons/lightbulb.png">
            <a:extLst>
              <a:ext uri="{FF2B5EF4-FFF2-40B4-BE49-F238E27FC236}">
                <a16:creationId xmlns:a16="http://schemas.microsoft.com/office/drawing/2014/main" id="{CEBD2889-8524-FDB9-9702-9A9D18A6EA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824" y="660929"/>
            <a:ext cx="342351" cy="3423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50292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4" name="Text 1"/>
          <p:cNvSpPr txBox="1"/>
          <p:nvPr/>
        </p:nvSpPr>
        <p:spPr>
          <a:xfrm>
            <a:off x="1374775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3 — HOW IT WORKS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374775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Disassembly</a:t>
            </a:r>
            <a:endParaRPr lang="en-US" sz="3000"/>
          </a:p>
        </p:txBody>
      </p:sp>
      <p:sp>
        <p:nvSpPr>
          <p:cNvPr id="6" name="Shape 3"/>
          <p:cNvSpPr/>
          <p:nvPr/>
        </p:nvSpPr>
        <p:spPr>
          <a:xfrm>
            <a:off x="551815" y="1481328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7" name="Text 4"/>
          <p:cNvSpPr txBox="1"/>
          <p:nvPr/>
        </p:nvSpPr>
        <p:spPr>
          <a:xfrm>
            <a:off x="551815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Design buildings so they can be taken apart at end of life.</a:t>
            </a:r>
            <a:endParaRPr lang="en-US" sz="1550">
              <a:solidFill>
                <a:srgbClr val="191919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55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Every component should become a traceable, reusable part.</a:t>
            </a:r>
            <a:endParaRPr lang="en-US" sz="155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1815" y="28803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9" name="Shape 6"/>
          <p:cNvSpPr/>
          <p:nvPr/>
        </p:nvSpPr>
        <p:spPr>
          <a:xfrm>
            <a:off x="826135" y="3200400"/>
            <a:ext cx="749808" cy="74980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0" name="Image 1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87" y="3387852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6135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 connections</a:t>
            </a:r>
            <a:endParaRPr lang="en-US" sz="1650"/>
          </a:p>
        </p:txBody>
      </p:sp>
      <p:sp>
        <p:nvSpPr>
          <p:cNvPr id="12" name="Text 8"/>
          <p:cNvSpPr txBox="1"/>
          <p:nvPr/>
        </p:nvSpPr>
        <p:spPr>
          <a:xfrm>
            <a:off x="826135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en-US" sz="125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Bolted, screwed and clamped joints instead of glue and welds.</a:t>
            </a:r>
          </a:p>
        </p:txBody>
      </p:sp>
      <p:sp>
        <p:nvSpPr>
          <p:cNvPr id="13" name="Shape 9"/>
          <p:cNvSpPr/>
          <p:nvPr/>
        </p:nvSpPr>
        <p:spPr>
          <a:xfrm>
            <a:off x="4346575" y="28803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4" name="Shape 10"/>
          <p:cNvSpPr/>
          <p:nvPr/>
        </p:nvSpPr>
        <p:spPr>
          <a:xfrm>
            <a:off x="4620895" y="3200400"/>
            <a:ext cx="749808" cy="74980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5" name="Image 2" descr="icons/qr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47" y="3387852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20895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passports</a:t>
            </a:r>
            <a:endParaRPr lang="en-US" sz="1650"/>
          </a:p>
        </p:txBody>
      </p:sp>
      <p:sp>
        <p:nvSpPr>
          <p:cNvPr id="17" name="Text 12"/>
          <p:cNvSpPr txBox="1"/>
          <p:nvPr/>
        </p:nvSpPr>
        <p:spPr>
          <a:xfrm>
            <a:off x="4620895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en-US" sz="125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A tag on every component links to its origin, composition and condition, this makes it traceable fore the future.</a:t>
            </a:r>
            <a:endParaRPr lang="en-US" sz="1250"/>
          </a:p>
        </p:txBody>
      </p:sp>
      <p:sp>
        <p:nvSpPr>
          <p:cNvPr id="18" name="Shape 13"/>
          <p:cNvSpPr/>
          <p:nvPr/>
        </p:nvSpPr>
        <p:spPr>
          <a:xfrm>
            <a:off x="8141335" y="28803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9" name="Shape 14"/>
          <p:cNvSpPr/>
          <p:nvPr/>
        </p:nvSpPr>
        <p:spPr>
          <a:xfrm>
            <a:off x="8415655" y="3200400"/>
            <a:ext cx="749808" cy="74980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20" name="Image 3" descr="icons/recy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3107" y="3387852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15655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as a bank</a:t>
            </a:r>
            <a:endParaRPr lang="en-US" sz="1650"/>
          </a:p>
        </p:txBody>
      </p:sp>
      <p:sp>
        <p:nvSpPr>
          <p:cNvPr id="22" name="Text 16"/>
          <p:cNvSpPr txBox="1"/>
          <p:nvPr/>
        </p:nvSpPr>
        <p:spPr>
          <a:xfrm>
            <a:off x="8415655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end of life, a building becomes a catalogue of ready-to-use parts for the next one.</a:t>
            </a:r>
            <a:endParaRPr lang="en-US" sz="1250"/>
          </a:p>
        </p:txBody>
      </p:sp>
      <p:sp>
        <p:nvSpPr>
          <p:cNvPr id="24" name="Text 18"/>
          <p:cNvSpPr txBox="1"/>
          <p:nvPr/>
        </p:nvSpPr>
        <p:spPr>
          <a:xfrm>
            <a:off x="115329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EA1F5D9-37EE-6887-F9EB-62E6CC6197F1}"/>
              </a:ext>
            </a:extLst>
          </p:cNvPr>
          <p:cNvSpPr txBox="1"/>
          <p:nvPr/>
        </p:nvSpPr>
        <p:spPr>
          <a:xfrm>
            <a:off x="885388" y="6536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  <a:endParaRPr lang="en-US">
              <a:ea typeface="Calibri"/>
              <a:cs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2EB46CE-F823-3BD7-57E8-2F7048C44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73" y="600827"/>
            <a:ext cx="563773" cy="412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50292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3" name="Image 0" descr="icons/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24" y="660929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4775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4 — HOW IT WORKS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374775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Material Passport</a:t>
            </a:r>
            <a:endParaRPr lang="en-US" sz="3000"/>
          </a:p>
        </p:txBody>
      </p:sp>
      <p:sp>
        <p:nvSpPr>
          <p:cNvPr id="6" name="Shape 3"/>
          <p:cNvSpPr/>
          <p:nvPr/>
        </p:nvSpPr>
        <p:spPr>
          <a:xfrm>
            <a:off x="551815" y="1481328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7" name="Shape 4"/>
          <p:cNvSpPr/>
          <p:nvPr/>
        </p:nvSpPr>
        <p:spPr>
          <a:xfrm>
            <a:off x="551815" y="18288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7F3EE"/>
          </a:solidFill>
          <a:ln w="12700">
            <a:solidFill>
              <a:srgbClr val="E3DAD3"/>
            </a:solidFill>
            <a:prstDash val="solid"/>
          </a:ln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8" name="Shape 5"/>
          <p:cNvSpPr/>
          <p:nvPr/>
        </p:nvSpPr>
        <p:spPr>
          <a:xfrm>
            <a:off x="871855" y="2148840"/>
            <a:ext cx="868680" cy="8686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9" name="Image 1" descr="icons/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25" y="236601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3415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Steel Beam · Unit #B-114</a:t>
            </a:r>
            <a:endParaRPr lang="en-US" sz="1700"/>
          </a:p>
        </p:txBody>
      </p:sp>
      <p:sp>
        <p:nvSpPr>
          <p:cNvPr id="11" name="Text 7"/>
          <p:cNvSpPr txBox="1"/>
          <p:nvPr/>
        </p:nvSpPr>
        <p:spPr>
          <a:xfrm>
            <a:off x="1923415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QR / RFID at installation</a:t>
            </a:r>
            <a:endParaRPr lang="en-US" sz="1100"/>
          </a:p>
        </p:txBody>
      </p:sp>
      <p:sp>
        <p:nvSpPr>
          <p:cNvPr id="12" name="Shape 8"/>
          <p:cNvSpPr/>
          <p:nvPr/>
        </p:nvSpPr>
        <p:spPr>
          <a:xfrm>
            <a:off x="4620895" y="2148840"/>
            <a:ext cx="868680" cy="868680"/>
          </a:xfrm>
          <a:prstGeom prst="ellipse">
            <a:avLst/>
          </a:prstGeom>
          <a:solidFill>
            <a:srgbClr val="3A2119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3" name="Image 2" descr="icons/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348" y="2344293"/>
            <a:ext cx="477774" cy="4777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1855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950"/>
          </a:p>
        </p:txBody>
      </p:sp>
      <p:sp>
        <p:nvSpPr>
          <p:cNvPr id="15" name="Text 10"/>
          <p:cNvSpPr txBox="1"/>
          <p:nvPr/>
        </p:nvSpPr>
        <p:spPr>
          <a:xfrm>
            <a:off x="2609215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steel, S355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871855" y="3630168"/>
            <a:ext cx="4480560" cy="0"/>
          </a:xfrm>
          <a:prstGeom prst="line">
            <a:avLst/>
          </a:prstGeom>
          <a:noFill/>
          <a:ln w="9525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17" name="Text 12"/>
          <p:cNvSpPr txBox="1"/>
          <p:nvPr/>
        </p:nvSpPr>
        <p:spPr>
          <a:xfrm>
            <a:off x="871855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5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MANUFACTURED/INSTALLED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2609215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11.2013 / 09.2014</a:t>
            </a:r>
            <a:endParaRPr lang="en-US" sz="1150">
              <a:ea typeface="Calibri"/>
              <a:cs typeface="Arial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71855" y="4178808"/>
            <a:ext cx="4480560" cy="0"/>
          </a:xfrm>
          <a:prstGeom prst="line">
            <a:avLst/>
          </a:prstGeom>
          <a:noFill/>
          <a:ln w="9525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20" name="Text 15"/>
          <p:cNvSpPr txBox="1"/>
          <p:nvPr/>
        </p:nvSpPr>
        <p:spPr>
          <a:xfrm>
            <a:off x="871855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5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DIMENSIONS W/H/L</a:t>
            </a:r>
          </a:p>
        </p:txBody>
      </p:sp>
      <p:sp>
        <p:nvSpPr>
          <p:cNvPr id="21" name="Text 16"/>
          <p:cNvSpPr txBox="1"/>
          <p:nvPr/>
        </p:nvSpPr>
        <p:spPr>
          <a:xfrm>
            <a:off x="2609215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215 x 215 x 440</a:t>
            </a:r>
          </a:p>
        </p:txBody>
      </p:sp>
      <p:sp>
        <p:nvSpPr>
          <p:cNvPr id="22" name="Shape 17"/>
          <p:cNvSpPr/>
          <p:nvPr/>
        </p:nvSpPr>
        <p:spPr>
          <a:xfrm>
            <a:off x="871855" y="4727448"/>
            <a:ext cx="4480560" cy="0"/>
          </a:xfrm>
          <a:prstGeom prst="line">
            <a:avLst/>
          </a:prstGeom>
          <a:noFill/>
          <a:ln w="9525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23" name="Text 18"/>
          <p:cNvSpPr txBox="1"/>
          <p:nvPr/>
        </p:nvSpPr>
        <p:spPr>
          <a:xfrm>
            <a:off x="871855" y="4892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5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USED FOR</a:t>
            </a:r>
          </a:p>
        </p:txBody>
      </p:sp>
      <p:sp>
        <p:nvSpPr>
          <p:cNvPr id="24" name="Text 19"/>
          <p:cNvSpPr txBox="1"/>
          <p:nvPr/>
        </p:nvSpPr>
        <p:spPr>
          <a:xfrm>
            <a:off x="2609215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Structural load-bearing</a:t>
            </a:r>
          </a:p>
        </p:txBody>
      </p:sp>
      <p:sp>
        <p:nvSpPr>
          <p:cNvPr id="25" name="Shape 20"/>
          <p:cNvSpPr/>
          <p:nvPr/>
        </p:nvSpPr>
        <p:spPr>
          <a:xfrm>
            <a:off x="871855" y="5276088"/>
            <a:ext cx="4480560" cy="0"/>
          </a:xfrm>
          <a:prstGeom prst="line">
            <a:avLst/>
          </a:prstGeom>
          <a:noFill/>
          <a:ln w="9525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26" name="Text 21"/>
          <p:cNvSpPr txBox="1"/>
          <p:nvPr/>
        </p:nvSpPr>
        <p:spPr>
          <a:xfrm>
            <a:off x="871855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5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METHOD OF FIXING</a:t>
            </a:r>
          </a:p>
        </p:txBody>
      </p:sp>
      <p:sp>
        <p:nvSpPr>
          <p:cNvPr id="27" name="Text 22"/>
          <p:cNvSpPr txBox="1"/>
          <p:nvPr/>
        </p:nvSpPr>
        <p:spPr>
          <a:xfrm>
            <a:off x="2609215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Bolted connection</a:t>
            </a:r>
            <a:endParaRPr lang="en-US" sz="1150"/>
          </a:p>
        </p:txBody>
      </p:sp>
      <p:sp>
        <p:nvSpPr>
          <p:cNvPr id="28" name="Shape 23"/>
          <p:cNvSpPr/>
          <p:nvPr/>
        </p:nvSpPr>
        <p:spPr>
          <a:xfrm>
            <a:off x="871855" y="5824728"/>
            <a:ext cx="4480560" cy="0"/>
          </a:xfrm>
          <a:prstGeom prst="line">
            <a:avLst/>
          </a:prstGeom>
          <a:noFill/>
          <a:ln w="9525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29" name="Text 24"/>
          <p:cNvSpPr txBox="1"/>
          <p:nvPr/>
        </p:nvSpPr>
        <p:spPr>
          <a:xfrm>
            <a:off x="5992495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 off</a:t>
            </a:r>
            <a:endParaRPr lang="en-US" sz="1400"/>
          </a:p>
        </p:txBody>
      </p:sp>
      <p:sp>
        <p:nvSpPr>
          <p:cNvPr id="30" name="Shape 25"/>
          <p:cNvSpPr/>
          <p:nvPr/>
        </p:nvSpPr>
        <p:spPr>
          <a:xfrm>
            <a:off x="5992495" y="224028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3A2119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31" name="Text 26"/>
          <p:cNvSpPr txBox="1"/>
          <p:nvPr/>
        </p:nvSpPr>
        <p:spPr>
          <a:xfrm>
            <a:off x="6312535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~1.8–2 t CO₂</a:t>
            </a:r>
            <a:endParaRPr lang="en-US" sz="3400"/>
          </a:p>
        </p:txBody>
      </p:sp>
      <p:sp>
        <p:nvSpPr>
          <p:cNvPr id="32" name="Text 27"/>
          <p:cNvSpPr txBox="1"/>
          <p:nvPr/>
        </p:nvSpPr>
        <p:spPr>
          <a:xfrm>
            <a:off x="6312535" y="31272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E9DCD4"/>
                </a:solidFill>
                <a:latin typeface="Calibri"/>
                <a:ea typeface="Calibri"/>
                <a:cs typeface="Calibri"/>
              </a:rPr>
              <a:t>Saved per ton of steel reused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250">
                <a:solidFill>
                  <a:srgbClr val="E9DCD4"/>
                </a:solidFill>
                <a:latin typeface="Calibri"/>
                <a:ea typeface="Calibri"/>
                <a:cs typeface="Calibri"/>
              </a:rPr>
              <a:t>That's equivalent to burn 1.5 cubic meter of coal</a:t>
            </a:r>
          </a:p>
        </p:txBody>
      </p:sp>
      <p:sp>
        <p:nvSpPr>
          <p:cNvPr id="33" name="Text 28"/>
          <p:cNvSpPr txBox="1"/>
          <p:nvPr/>
        </p:nvSpPr>
        <p:spPr>
          <a:xfrm>
            <a:off x="5992495" y="4114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scanned tag replaces days of manual material testing before reuse</a:t>
            </a:r>
            <a:endParaRPr lang="en-US" sz="130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demolition crews see reuse value before a single wall comes down</a:t>
            </a:r>
            <a:endParaRPr lang="en-US" sz="130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material database turns a building into a searchable inventory</a:t>
            </a:r>
            <a:endParaRPr lang="en-US" sz="1300"/>
          </a:p>
        </p:txBody>
      </p:sp>
      <p:sp>
        <p:nvSpPr>
          <p:cNvPr id="34" name="Text 29"/>
          <p:cNvSpPr txBox="1"/>
          <p:nvPr/>
        </p:nvSpPr>
        <p:spPr>
          <a:xfrm>
            <a:off x="11511504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32B6FEA5-E4DD-F336-94C7-D624148C44E0}"/>
              </a:ext>
            </a:extLst>
          </p:cNvPr>
          <p:cNvSpPr txBox="1"/>
          <p:nvPr/>
        </p:nvSpPr>
        <p:spPr>
          <a:xfrm>
            <a:off x="885388" y="6536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  <a:endParaRPr lang="en-US">
              <a:ea typeface="Calibr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50292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3" name="Image 0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24" y="660929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4775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IMPACT</a:t>
            </a:r>
            <a:endParaRPr lang="en-US" sz="1300"/>
          </a:p>
        </p:txBody>
      </p:sp>
      <p:sp>
        <p:nvSpPr>
          <p:cNvPr id="5" name="Text 2"/>
          <p:cNvSpPr txBox="1"/>
          <p:nvPr/>
        </p:nvSpPr>
        <p:spPr>
          <a:xfrm>
            <a:off x="1374775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Impact</a:t>
            </a:r>
            <a:endParaRPr lang="en-US" sz="3000"/>
          </a:p>
        </p:txBody>
      </p:sp>
      <p:sp>
        <p:nvSpPr>
          <p:cNvPr id="6" name="Shape 3"/>
          <p:cNvSpPr/>
          <p:nvPr/>
        </p:nvSpPr>
        <p:spPr>
          <a:xfrm>
            <a:off x="551815" y="1481328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7" name="Shape 4"/>
          <p:cNvSpPr/>
          <p:nvPr/>
        </p:nvSpPr>
        <p:spPr>
          <a:xfrm>
            <a:off x="551815" y="178308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8" name="Shape 5"/>
          <p:cNvSpPr/>
          <p:nvPr/>
        </p:nvSpPr>
        <p:spPr>
          <a:xfrm>
            <a:off x="826135" y="20574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9" name="Image 1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27" y="22219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3375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700"/>
          </a:p>
        </p:txBody>
      </p:sp>
      <p:sp>
        <p:nvSpPr>
          <p:cNvPr id="11" name="Text 7"/>
          <p:cNvSpPr txBox="1"/>
          <p:nvPr/>
        </p:nvSpPr>
        <p:spPr>
          <a:xfrm>
            <a:off x="826135" y="28346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raw material extraction</a:t>
            </a:r>
            <a:endParaRPr lang="en-US" sz="1200"/>
          </a:p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landfilled debris</a:t>
            </a:r>
            <a:endParaRPr lang="en-US" sz="1200"/>
          </a:p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embodied carbon per building</a:t>
            </a:r>
            <a:endParaRPr lang="en-US" sz="1200"/>
          </a:p>
        </p:txBody>
      </p:sp>
      <p:sp>
        <p:nvSpPr>
          <p:cNvPr id="12" name="Shape 8"/>
          <p:cNvSpPr/>
          <p:nvPr/>
        </p:nvSpPr>
        <p:spPr>
          <a:xfrm>
            <a:off x="4346575" y="178308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3" name="Shape 9"/>
          <p:cNvSpPr/>
          <p:nvPr/>
        </p:nvSpPr>
        <p:spPr>
          <a:xfrm>
            <a:off x="4620895" y="20574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4" name="Image 2" descr="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487" y="22219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8135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700"/>
          </a:p>
        </p:txBody>
      </p:sp>
      <p:sp>
        <p:nvSpPr>
          <p:cNvPr id="16" name="Text 11"/>
          <p:cNvSpPr txBox="1"/>
          <p:nvPr/>
        </p:nvSpPr>
        <p:spPr>
          <a:xfrm>
            <a:off x="4620895" y="28346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local deconstruction jobs</a:t>
            </a:r>
            <a:endParaRPr lang="en-US" sz="1200"/>
          </a:p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skilled trades &amp; training paths</a:t>
            </a:r>
            <a:endParaRPr lang="en-US" sz="1200"/>
          </a:p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material-reuse hubs</a:t>
            </a:r>
            <a:endParaRPr lang="en-US" sz="1200"/>
          </a:p>
        </p:txBody>
      </p:sp>
      <p:sp>
        <p:nvSpPr>
          <p:cNvPr id="17" name="Shape 12"/>
          <p:cNvSpPr/>
          <p:nvPr/>
        </p:nvSpPr>
        <p:spPr>
          <a:xfrm>
            <a:off x="8141335" y="178308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7F3EE"/>
          </a:solidFill>
          <a:ln/>
          <a:effectLst>
            <a:outerShdw blurRad="76200" dist="25400" dir="5400000" algn="bl" rotWithShape="0">
              <a:srgbClr val="B7A99E">
                <a:alpha val="25000"/>
              </a:srgbClr>
            </a:outerShdw>
          </a:effectLst>
        </p:spPr>
        <p:txBody>
          <a:bodyPr/>
          <a:lstStyle/>
          <a:p>
            <a:endParaRPr lang="de-CH" sz="1800"/>
          </a:p>
        </p:txBody>
      </p:sp>
      <p:sp>
        <p:nvSpPr>
          <p:cNvPr id="18" name="Shape 13"/>
          <p:cNvSpPr/>
          <p:nvPr/>
        </p:nvSpPr>
        <p:spPr>
          <a:xfrm>
            <a:off x="8415655" y="20574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19" name="Image 3" descr="icons/co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247" y="222199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92895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700"/>
          </a:p>
        </p:txBody>
      </p:sp>
      <p:sp>
        <p:nvSpPr>
          <p:cNvPr id="21" name="Text 15"/>
          <p:cNvSpPr txBox="1"/>
          <p:nvPr/>
        </p:nvSpPr>
        <p:spPr>
          <a:xfrm>
            <a:off x="8415655" y="28346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inputs from reclaimed stock</a:t>
            </a:r>
            <a:endParaRPr lang="en-US" sz="1200"/>
          </a:p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value for owners at end of life</a:t>
            </a:r>
            <a:endParaRPr lang="en-US" sz="1200"/>
          </a:p>
          <a:p>
            <a:pPr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reuse-logistics business models</a:t>
            </a:r>
            <a:endParaRPr lang="en-US" sz="1200"/>
          </a:p>
        </p:txBody>
      </p:sp>
      <p:sp>
        <p:nvSpPr>
          <p:cNvPr id="22" name="Shape 16"/>
          <p:cNvSpPr/>
          <p:nvPr/>
        </p:nvSpPr>
        <p:spPr>
          <a:xfrm>
            <a:off x="551815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1E4DF"/>
          </a:solidFill>
          <a:ln/>
        </p:spPr>
        <p:txBody>
          <a:bodyPr/>
          <a:lstStyle/>
          <a:p>
            <a:endParaRPr lang="de-CH" sz="1800"/>
          </a:p>
        </p:txBody>
      </p:sp>
      <p:sp>
        <p:nvSpPr>
          <p:cNvPr id="23" name="Shape 17"/>
          <p:cNvSpPr/>
          <p:nvPr/>
        </p:nvSpPr>
        <p:spPr>
          <a:xfrm>
            <a:off x="826135" y="5029200"/>
            <a:ext cx="685800" cy="685800"/>
          </a:xfrm>
          <a:prstGeom prst="ellipse">
            <a:avLst/>
          </a:prstGeom>
          <a:solidFill>
            <a:srgbClr val="3A2119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24" name="Image 4" descr="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85" y="5200650"/>
            <a:ext cx="342900" cy="3429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94815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A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to manage</a:t>
            </a:r>
            <a:endParaRPr lang="en-US" sz="1300"/>
          </a:p>
        </p:txBody>
      </p:sp>
      <p:sp>
        <p:nvSpPr>
          <p:cNvPr id="26" name="Text 19"/>
          <p:cNvSpPr txBox="1"/>
          <p:nvPr/>
        </p:nvSpPr>
        <p:spPr>
          <a:xfrm>
            <a:off x="1694815" y="53218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Higher upfront costs due to more work time for each piece and higher cost in deconstruction, as skilled </a:t>
            </a:r>
            <a:r>
              <a:rPr lang="en-US" sz="1200" err="1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labour</a:t>
            </a:r>
            <a:r>
              <a:rPr lang="en-US" sz="12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 is needed.</a:t>
            </a:r>
          </a:p>
        </p:txBody>
      </p:sp>
      <p:sp>
        <p:nvSpPr>
          <p:cNvPr id="27" name="Text 20"/>
          <p:cNvSpPr txBox="1"/>
          <p:nvPr/>
        </p:nvSpPr>
        <p:spPr>
          <a:xfrm>
            <a:off x="1152224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B1450C89-A9CB-4B8C-298B-C95CD411BE28}"/>
              </a:ext>
            </a:extLst>
          </p:cNvPr>
          <p:cNvSpPr txBox="1"/>
          <p:nvPr/>
        </p:nvSpPr>
        <p:spPr>
          <a:xfrm>
            <a:off x="885388" y="6536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  <a:endParaRPr lang="en-US">
              <a:ea typeface="Calibr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50292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3" name="Image 0" descr="icons/g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24" y="660929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4775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IMPLEMENTATION</a:t>
            </a:r>
            <a:endParaRPr lang="en-US" sz="1300"/>
          </a:p>
        </p:txBody>
      </p:sp>
      <p:sp>
        <p:nvSpPr>
          <p:cNvPr id="5" name="Text 2"/>
          <p:cNvSpPr txBox="1"/>
          <p:nvPr/>
        </p:nvSpPr>
        <p:spPr>
          <a:xfrm>
            <a:off x="1374775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Real</a:t>
            </a:r>
            <a:endParaRPr lang="en-US" sz="3000"/>
          </a:p>
        </p:txBody>
      </p:sp>
      <p:sp>
        <p:nvSpPr>
          <p:cNvPr id="6" name="Shape 3"/>
          <p:cNvSpPr/>
          <p:nvPr/>
        </p:nvSpPr>
        <p:spPr>
          <a:xfrm>
            <a:off x="551815" y="1481328"/>
            <a:ext cx="11091672" cy="0"/>
          </a:xfrm>
          <a:prstGeom prst="line">
            <a:avLst/>
          </a:prstGeom>
          <a:noFill/>
          <a:ln w="12700">
            <a:solidFill>
              <a:srgbClr val="E3DAD3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7" name="Text 4"/>
          <p:cNvSpPr txBox="1"/>
          <p:nvPr/>
        </p:nvSpPr>
        <p:spPr>
          <a:xfrm>
            <a:off x="551815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B85042"/>
                </a:solidFill>
                <a:ea typeface="+mn-lt"/>
                <a:cs typeface="+mn-lt"/>
              </a:rPr>
              <a:t>Possible solution: Digital Material Passports </a:t>
            </a:r>
            <a:endParaRPr lang="en-US" sz="1600"/>
          </a:p>
        </p:txBody>
      </p:sp>
      <p:sp>
        <p:nvSpPr>
          <p:cNvPr id="24" name="Text 17"/>
          <p:cNvSpPr txBox="1"/>
          <p:nvPr/>
        </p:nvSpPr>
        <p:spPr>
          <a:xfrm>
            <a:off x="8082188" y="4425225"/>
            <a:ext cx="3064101" cy="32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&amp; bottlenecks</a:t>
            </a:r>
            <a:endParaRPr lang="en-US" sz="1600"/>
          </a:p>
        </p:txBody>
      </p:sp>
      <p:sp>
        <p:nvSpPr>
          <p:cNvPr id="25" name="Text 18"/>
          <p:cNvSpPr txBox="1"/>
          <p:nvPr/>
        </p:nvSpPr>
        <p:spPr>
          <a:xfrm>
            <a:off x="8082188" y="4754422"/>
            <a:ext cx="2465764" cy="153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Information</a:t>
            </a:r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Quality &amp; certification</a:t>
            </a:r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Economics</a:t>
            </a:r>
          </a:p>
        </p:txBody>
      </p:sp>
      <p:sp>
        <p:nvSpPr>
          <p:cNvPr id="40" name="Text 33"/>
          <p:cNvSpPr txBox="1"/>
          <p:nvPr/>
        </p:nvSpPr>
        <p:spPr>
          <a:xfrm>
            <a:off x="11500766" y="6411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1CC02614-5826-44EE-10C8-39FBE4F9924C}"/>
              </a:ext>
            </a:extLst>
          </p:cNvPr>
          <p:cNvSpPr txBox="1"/>
          <p:nvPr/>
        </p:nvSpPr>
        <p:spPr>
          <a:xfrm>
            <a:off x="885388" y="6536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7A6F68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  <a:endParaRPr lang="en-US">
              <a:ea typeface="Calibri"/>
              <a:cs typeface="Arial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B4AE5FD0-574E-3D71-6BBF-A6080E973660}"/>
              </a:ext>
            </a:extLst>
          </p:cNvPr>
          <p:cNvSpPr txBox="1"/>
          <p:nvPr/>
        </p:nvSpPr>
        <p:spPr>
          <a:xfrm>
            <a:off x="8102287" y="1847070"/>
            <a:ext cx="3073753" cy="33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Who needs to be involved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91E04CDE-5551-E421-B8F0-1EDFA69A2C4D}"/>
              </a:ext>
            </a:extLst>
          </p:cNvPr>
          <p:cNvSpPr txBox="1"/>
          <p:nvPr/>
        </p:nvSpPr>
        <p:spPr>
          <a:xfrm>
            <a:off x="8102288" y="2183895"/>
            <a:ext cx="3054452" cy="1892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Government</a:t>
            </a:r>
            <a:endParaRPr lang="en-US" sz="1600">
              <a:solidFill>
                <a:srgbClr val="191919"/>
              </a:solidFill>
              <a:latin typeface="Arial" panose="020B0604020202020204"/>
              <a:ea typeface="Calibri"/>
              <a:cs typeface="Arial" panose="020B0604020202020204"/>
            </a:endParaRPr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Architects and engineers</a:t>
            </a:r>
            <a:endParaRPr lang="en-US" sz="160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,Sans-Serif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Material producers</a:t>
            </a:r>
            <a:endParaRPr lang="en-US" sz="1600">
              <a:solidFill>
                <a:srgbClr val="191919"/>
              </a:solidFill>
              <a:latin typeface="Calibri"/>
              <a:ea typeface="Calibri"/>
              <a:cs typeface="Calibri"/>
            </a:endParaRPr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Deconstruction company's</a:t>
            </a:r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2A2320"/>
                </a:solidFill>
                <a:latin typeface="Calibri"/>
                <a:ea typeface="Calibri"/>
                <a:cs typeface="Calibri"/>
              </a:rPr>
              <a:t>Logistics &amp; storage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EEF0165-F83F-50BE-0DAC-41C479FC0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95" y="2074142"/>
            <a:ext cx="6555665" cy="4331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21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2745" y="4206240"/>
            <a:ext cx="4754880" cy="4754880"/>
          </a:xfrm>
          <a:prstGeom prst="ellipse">
            <a:avLst/>
          </a:prstGeom>
          <a:ln w="31750">
            <a:solidFill>
              <a:srgbClr val="5C3A2C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3" name="Shape 1"/>
          <p:cNvSpPr/>
          <p:nvPr/>
        </p:nvSpPr>
        <p:spPr>
          <a:xfrm>
            <a:off x="-728345" y="5120640"/>
            <a:ext cx="2926080" cy="2926080"/>
          </a:xfrm>
          <a:prstGeom prst="ellipse">
            <a:avLst/>
          </a:prstGeom>
          <a:ln w="25400">
            <a:solidFill>
              <a:srgbClr val="6E4838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4" name="Shape 2"/>
          <p:cNvSpPr/>
          <p:nvPr/>
        </p:nvSpPr>
        <p:spPr>
          <a:xfrm>
            <a:off x="826135" y="914400"/>
            <a:ext cx="868680" cy="8686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 sz="1800"/>
          </a:p>
        </p:txBody>
      </p:sp>
      <p:pic>
        <p:nvPicPr>
          <p:cNvPr id="5" name="Image 0" descr="icons/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18" y="11228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31975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TAKE-HOME MESSAGE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6135" y="228600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building we put up today</a:t>
            </a:r>
            <a:endParaRPr lang="en-US" sz="420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tomorrow’s material bank.</a:t>
            </a:r>
            <a:endParaRPr lang="en-US" sz="4200"/>
          </a:p>
        </p:txBody>
      </p:sp>
      <p:sp>
        <p:nvSpPr>
          <p:cNvPr id="8" name="Text 5"/>
          <p:cNvSpPr txBox="1"/>
          <p:nvPr/>
        </p:nvSpPr>
        <p:spPr>
          <a:xfrm>
            <a:off x="826135" y="4343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>
                <a:solidFill>
                  <a:srgbClr val="E9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design for disassembly instead of demolition, we stop treating buildings as waste-in-waiting — and start treating them as the raw material for what we build next.</a:t>
            </a:r>
            <a:endParaRPr lang="en-US" sz="1550"/>
          </a:p>
        </p:txBody>
      </p:sp>
      <p:sp>
        <p:nvSpPr>
          <p:cNvPr id="9" name="Shape 6"/>
          <p:cNvSpPr/>
          <p:nvPr/>
        </p:nvSpPr>
        <p:spPr>
          <a:xfrm>
            <a:off x="826135" y="5440680"/>
            <a:ext cx="219456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de-CH" sz="1800"/>
          </a:p>
        </p:txBody>
      </p:sp>
      <p:sp>
        <p:nvSpPr>
          <p:cNvPr id="10" name="Text 7"/>
          <p:cNvSpPr txBox="1"/>
          <p:nvPr/>
        </p:nvSpPr>
        <p:spPr>
          <a:xfrm>
            <a:off x="826135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9B8AF"/>
                </a:solidFill>
                <a:latin typeface="Calibri"/>
                <a:ea typeface="Calibri"/>
                <a:cs typeface="Calibri"/>
              </a:rPr>
              <a:t>Thank you </a:t>
            </a:r>
            <a:endParaRPr lang="en-US" sz="1200">
              <a:latin typeface="Arial"/>
              <a:ea typeface="Calibri"/>
              <a:cs typeface="Arial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93888" y="6426355"/>
            <a:ext cx="5486400" cy="31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>
                <a:solidFill>
                  <a:srgbClr val="C9B8AF"/>
                </a:solidFill>
                <a:latin typeface="Calibri"/>
                <a:ea typeface="Calibri"/>
                <a:cs typeface="Calibri"/>
              </a:rPr>
              <a:t>Speelman Babette, Ricca Aaron, Giamboni Nicola, Balsiger Reto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ST-Vorlage">
  <a:themeElements>
    <a:clrScheme name="Benutzerdefiniert 19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_Vorlage_DE_16zu9_neu" id="{D7C7A5E9-89DD-CC4A-A52F-879FFFDF8FAC}" vid="{B98DD9FB-5494-A142-BC32-9F3D2D281A01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056a99-e238-4cb8-8a3c-01e27e94cbdf">
      <Terms xmlns="http://schemas.microsoft.com/office/infopath/2007/PartnerControls"/>
    </lcf76f155ced4ddcb4097134ff3c332f>
    <TaxCatchAll xmlns="f9708297-dea4-4e24-929f-3be66c6a11f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87B4E54265374DA0FF9F369ACFA571" ma:contentTypeVersion="10" ma:contentTypeDescription="Ein neues Dokument erstellen." ma:contentTypeScope="" ma:versionID="2ac3f1e4e3b7b1bacd70a00bbdbbc41d">
  <xsd:schema xmlns:xsd="http://www.w3.org/2001/XMLSchema" xmlns:xs="http://www.w3.org/2001/XMLSchema" xmlns:p="http://schemas.microsoft.com/office/2006/metadata/properties" xmlns:ns2="cd056a99-e238-4cb8-8a3c-01e27e94cbdf" xmlns:ns3="f9708297-dea4-4e24-929f-3be66c6a11f5" targetNamespace="http://schemas.microsoft.com/office/2006/metadata/properties" ma:root="true" ma:fieldsID="ef930eaee0bf94aae8be8087b71bd080" ns2:_="" ns3:_="">
    <xsd:import namespace="cd056a99-e238-4cb8-8a3c-01e27e94cbdf"/>
    <xsd:import namespace="f9708297-dea4-4e24-929f-3be66c6a1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56a99-e238-4cb8-8a3c-01e27e94c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212c26d-ba8a-401b-a725-3045b2045b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708297-dea4-4e24-929f-3be66c6a11f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34146f-46a8-4e05-b04b-de4ee258f999}" ma:internalName="TaxCatchAll" ma:showField="CatchAllData" ma:web="f9708297-dea4-4e24-929f-3be66c6a11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DD79DD-F50A-4495-9D66-10BF7989B624}">
  <ds:schemaRefs>
    <ds:schemaRef ds:uri="cd056a99-e238-4cb8-8a3c-01e27e94cbdf"/>
    <ds:schemaRef ds:uri="f9708297-dea4-4e24-929f-3be66c6a11f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AAAE065-BA2A-4D55-877C-38BD59228B24}">
  <ds:schemaRefs>
    <ds:schemaRef ds:uri="cd056a99-e238-4cb8-8a3c-01e27e94cbdf"/>
    <ds:schemaRef ds:uri="f9708297-dea4-4e24-929f-3be66c6a11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876913-4CC8-4A47-87C7-6724FA3749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OST_Vorlage_DE_16zu9_neu</Template>
  <TotalTime>4</TotalTime>
  <Words>588</Words>
  <Application>Microsoft Office PowerPoint</Application>
  <PresentationFormat>Benutzerdefiniert</PresentationFormat>
  <Paragraphs>127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Arial,Sans-Serif</vt:lpstr>
      <vt:lpstr>Calibri</vt:lpstr>
      <vt:lpstr>Cambria</vt:lpstr>
      <vt:lpstr>Roboto</vt:lpstr>
      <vt:lpstr>Symbol</vt:lpstr>
      <vt:lpstr>OST-Vorlage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Beatrice Geissbühler</dc:creator>
  <cp:lastModifiedBy>Nicola Giamboni</cp:lastModifiedBy>
  <cp:revision>34</cp:revision>
  <cp:lastPrinted>2019-10-30T10:24:00Z</cp:lastPrinted>
  <dcterms:created xsi:type="dcterms:W3CDTF">2026-03-20T14:35:30Z</dcterms:created>
  <dcterms:modified xsi:type="dcterms:W3CDTF">2026-09-10T20:29:30Z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0x0101007E87B4E54265374DA0FF9F369ACFA571</vt:lpwstr>
  </property>
</Properties>
</file>