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68" r:id="rId2"/>
    <p:sldId id="269" r:id="rId3"/>
    <p:sldId id="284" r:id="rId4"/>
    <p:sldId id="283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90" r:id="rId13"/>
    <p:sldId id="286" r:id="rId14"/>
    <p:sldId id="291" r:id="rId15"/>
    <p:sldId id="287" r:id="rId16"/>
    <p:sldId id="288" r:id="rId17"/>
    <p:sldId id="289" r:id="rId1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F00"/>
    <a:srgbClr val="E3C5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558D0E-80D9-4095-A5B0-272BEC7C0079}" v="638" dt="2026-09-10T06:36:48.746"/>
    <p1510:client id="{57E1C530-214E-0DDF-8462-1DC10403BD13}" v="1060" dt="2026-09-09T07:49:46.374"/>
    <p1510:client id="{661400D5-0565-48EA-29A3-0F17539146DC}" v="7" dt="2026-09-10T06:29:15.432"/>
    <p1510:client id="{8283CD12-83AF-BF48-8806-6A65AF9BA16E}" v="1817" dt="2026-09-10T06:39:39.236"/>
    <p1510:client id="{84050C86-0A80-4A29-F723-124EEFD011B3}" v="3" dt="2026-09-09T10:00:54.6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0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233D6C-67B3-484D-B8E9-2F975B734138}" type="datetimeFigureOut">
              <a:rPr lang="en-US" smtClean="0"/>
              <a:t>9/10/26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F3E56D-7D68-D64A-9ABB-87A7BD6AC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287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/>
              <a:t>philpp</a:t>
            </a:r>
            <a:endParaRPr lang="de-LI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F3E56D-7D68-D64A-9ABB-87A7BD6ACA7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7702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philipp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932E09-1361-394B-ADAC-D92118F9F89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5601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192AE-3A7A-E9DF-F90D-5B37C11F3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D9955B-715A-6E2E-8CB0-764083578D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C06AD2-6F95-E7C4-1FE3-E537854996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Philipp</a:t>
            </a:r>
          </a:p>
          <a:p>
            <a:r>
              <a:rPr lang="en-US"/>
              <a:t>We present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E34120-CD2B-EA97-3B12-190EF619BD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932E09-1361-394B-ADAC-D92118F9F89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4643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/>
              <a:t>philipp</a:t>
            </a:r>
            <a:endParaRPr lang="de-LI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F3E56D-7D68-D64A-9ABB-87A7BD6ACA7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7944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/>
              <a:t>Daniel</a:t>
            </a:r>
          </a:p>
          <a:p>
            <a:endParaRPr lang="de-CH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F3E56D-7D68-D64A-9ABB-87A7BD6ACA7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8901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/>
              <a:t>daniel</a:t>
            </a:r>
            <a:endParaRPr lang="de-LI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F3E56D-7D68-D64A-9ABB-87A7BD6ACA7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7394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err="1"/>
              <a:t>stefan</a:t>
            </a:r>
            <a:endParaRPr lang="de-LI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F3E56D-7D68-D64A-9ABB-87A7BD6ACA7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0182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/>
              <a:t>stefan</a:t>
            </a:r>
            <a:endParaRPr lang="de-LI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F3E56D-7D68-D64A-9ABB-87A7BD6ACA7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9426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RAPHI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F3E56D-7D68-D64A-9ABB-87A7BD6ACA7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8498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RAPHI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F3E56D-7D68-D64A-9ABB-87A7BD6ACA7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9913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err="1"/>
              <a:t>mattia</a:t>
            </a:r>
            <a:endParaRPr lang="de-LI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F3E56D-7D68-D64A-9ABB-87A7BD6ACA7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2076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/>
              <a:t>mattia</a:t>
            </a:r>
            <a:endParaRPr lang="de-LI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F3E56D-7D68-D64A-9ABB-87A7BD6ACA7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1941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5B5DC-B8E8-31A5-CEDB-B3AD08F99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0918C9-0B90-EAD6-3B48-AA70D5BDD2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F5D86F-AFDB-5BD9-3E42-BD7C2F83C4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mattia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9ECD20-A801-9F10-68D4-1280C6FB52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932E09-1361-394B-ADAC-D92118F9F89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6846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18E21-70DB-0C81-1996-4E680A2BD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954730-8105-BE87-0BCF-D500CD465C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73BB17-EF1B-7CE0-4C4F-49673894A6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Daniel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626A00-3E04-095E-3958-238878F7BA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932E09-1361-394B-ADAC-D92118F9F89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3412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765F6-9CFC-EE7F-E81B-5333E9BF6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BF2953-19BB-011E-A700-0634934AC0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AAF844-80AE-0B74-8D9A-6CB7F9E3C3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daniel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903189-5A9C-E524-81ED-CE052B85B4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932E09-1361-394B-ADAC-D92118F9F89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6342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FA087-60F7-9D28-8CFC-F09DADCD1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A0D974-09E7-23ED-8E99-A10228AA0F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88D047-15D3-838D-FA1B-D22C011E1B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mattia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402996-C05E-D60E-B54B-9C240B7380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932E09-1361-394B-ADAC-D92118F9F89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768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9BC57-5A56-B13D-18D2-BC1253D6D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F91D4B-5286-B26C-07BD-C2ED7487E6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6FB757-ECCC-71BF-FAD2-ADC494F061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mattia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2C8EF6-3D1D-B7C8-931E-598FDC950F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932E09-1361-394B-ADAC-D92118F9F89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4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70A05-DCA8-4948-8B78-D86843F90DDD}" type="datetime1">
              <a:rPr lang="de-DE" smtClean="0"/>
              <a:t>10.09.26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3166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AB633-B895-4157-95A0-612503D21EC5}" type="datetime1">
              <a:rPr lang="de-DE" smtClean="0"/>
              <a:t>10.09.26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3200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0B690-1AA3-4883-A11C-EA1D3994357C}" type="datetime1">
              <a:rPr lang="de-DE" smtClean="0"/>
              <a:t>10.09.26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5585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E9117-1452-4539-9944-D8CFBD1DA366}" type="datetime1">
              <a:rPr lang="de-DE" smtClean="0"/>
              <a:t>10.09.26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2901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3D87A-8539-4577-9EBF-3D4872393ED0}" type="datetime1">
              <a:rPr lang="de-DE" smtClean="0"/>
              <a:t>10.09.26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4084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8A9D2-5421-42BD-BBBD-23A96C1EAB90}" type="datetime1">
              <a:rPr lang="de-DE" smtClean="0"/>
              <a:t>10.09.26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40206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13DC0-28DE-488B-9C19-7760170656A4}" type="datetime1">
              <a:rPr lang="de-DE" smtClean="0"/>
              <a:t>10.09.26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7692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E0CD-031F-4123-8E12-1B421A35F829}" type="datetime1">
              <a:rPr lang="de-DE" smtClean="0"/>
              <a:t>10.09.26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3883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3406C-E83B-4CD7-8EC6-D93AE691BCB7}" type="datetime1">
              <a:rPr lang="de-DE" smtClean="0"/>
              <a:t>10.09.26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9888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EE693-FC6B-4A63-B2E1-BDDD3A7EAC94}" type="datetime1">
              <a:rPr lang="de-DE" smtClean="0"/>
              <a:t>10.09.26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9206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5096C-67A0-4D3D-9935-2BA2879E7D16}" type="datetime1">
              <a:rPr lang="de-DE" smtClean="0"/>
              <a:t>10.09.26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9958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AB53DE-6A0F-4A07-B6BF-25A73F54BB01}" type="datetime1">
              <a:rPr lang="de-DE" smtClean="0"/>
              <a:t>10.09.26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4725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4" name="TextBox 3"/>
          <p:cNvSpPr txBox="1"/>
          <p:nvPr/>
        </p:nvSpPr>
        <p:spPr>
          <a:xfrm>
            <a:off x="746607" y="875065"/>
            <a:ext cx="106984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 Light"/>
              </a:defRPr>
            </a:pPr>
            <a:r>
              <a:rPr lang="en-US" noProof="0"/>
              <a:t>Build a Net Zero Social Hub with 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24419" y="1866976"/>
            <a:ext cx="434285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Calibri"/>
              </a:defRPr>
            </a:pPr>
            <a:r>
              <a:rPr lang="en-US" noProof="0"/>
              <a:t>Daniel, Mattia, Philipp, Raphaël, Ştefan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B83D9A-44F4-8003-2FF8-8A2569735C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0911" y="1866976"/>
            <a:ext cx="9110177" cy="4991024"/>
          </a:xfrm>
          <a:prstGeom prst="rect">
            <a:avLst/>
          </a:prstGeom>
        </p:spPr>
      </p:pic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0982BDA-B195-2A35-3DDF-108A3813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67732-C9CE-433E-B8D8-7DA5867A6E46}" type="datetime1">
              <a:rPr lang="de-DE" smtClean="0"/>
              <a:t>10.09.26</a:t>
            </a:fld>
            <a:endParaRPr lang="de-DE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46F9A697-D2A6-3CD3-4118-5A68C5AE2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1</a:t>
            </a:fld>
            <a:endParaRPr lang="de-D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5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5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" name="Rectangle 4"/>
          <p:cNvSpPr/>
          <p:nvPr/>
        </p:nvSpPr>
        <p:spPr>
          <a:xfrm>
            <a:off x="228600" y="0"/>
            <a:ext cx="11963095" cy="1188720"/>
          </a:xfrm>
          <a:prstGeom prst="rect">
            <a:avLst/>
          </a:prstGeom>
          <a:solidFill>
            <a:srgbClr val="005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6" name="TextBox 5"/>
          <p:cNvSpPr txBox="1"/>
          <p:nvPr/>
        </p:nvSpPr>
        <p:spPr>
          <a:xfrm>
            <a:off x="548640" y="228600"/>
            <a:ext cx="5315814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rPr lang="en-US" noProof="0"/>
              <a:t>What is a Net Zero Building?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5913F2-FE65-1571-4969-6927DCF90BBB}"/>
              </a:ext>
            </a:extLst>
          </p:cNvPr>
          <p:cNvSpPr txBox="1"/>
          <p:nvPr/>
        </p:nvSpPr>
        <p:spPr>
          <a:xfrm>
            <a:off x="1937553" y="1877270"/>
            <a:ext cx="83165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noProof="0"/>
              <a:t>Emissions Produced = Emissions Removed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20C44BC-4780-B99E-96ED-C7A5873BBD97}"/>
              </a:ext>
            </a:extLst>
          </p:cNvPr>
          <p:cNvGrpSpPr/>
          <p:nvPr/>
        </p:nvGrpSpPr>
        <p:grpSpPr>
          <a:xfrm>
            <a:off x="1883061" y="3599548"/>
            <a:ext cx="1575119" cy="1974233"/>
            <a:chOff x="657819" y="4767016"/>
            <a:chExt cx="1575119" cy="1974233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B1B27C6-E254-1409-6037-8C4A34C864B3}"/>
                </a:ext>
              </a:extLst>
            </p:cNvPr>
            <p:cNvGrpSpPr/>
            <p:nvPr/>
          </p:nvGrpSpPr>
          <p:grpSpPr>
            <a:xfrm>
              <a:off x="850345" y="4767016"/>
              <a:ext cx="1190068" cy="1190068"/>
              <a:chOff x="1903229" y="5029200"/>
              <a:chExt cx="1190068" cy="1190068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668039E9-8833-1675-C24D-CAC12E66556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03229" y="5029200"/>
                <a:ext cx="1190068" cy="1190068"/>
              </a:xfrm>
              <a:prstGeom prst="ellipse">
                <a:avLst/>
              </a:prstGeom>
              <a:solidFill>
                <a:srgbClr val="C8D6B8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/>
              </a:p>
            </p:txBody>
          </p:sp>
          <p:pic>
            <p:nvPicPr>
              <p:cNvPr id="13" name="Graphic 12" descr="Construction Barricade with solid fill">
                <a:extLst>
                  <a:ext uri="{FF2B5EF4-FFF2-40B4-BE49-F238E27FC236}">
                    <a16:creationId xmlns:a16="http://schemas.microsoft.com/office/drawing/2014/main" id="{AB4AE4D0-9536-0CFC-C996-1153CF7821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041063" y="5167034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A165B65-6AB5-3B24-8183-86EE76E1664B}"/>
                </a:ext>
              </a:extLst>
            </p:cNvPr>
            <p:cNvSpPr txBox="1"/>
            <p:nvPr/>
          </p:nvSpPr>
          <p:spPr>
            <a:xfrm>
              <a:off x="657819" y="6094918"/>
              <a:ext cx="157511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noProof="0"/>
                <a:t>Materials &amp; Construction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C30DFA15-DBDB-2EB1-E2EC-2CDEAAA15494}"/>
              </a:ext>
            </a:extLst>
          </p:cNvPr>
          <p:cNvGrpSpPr/>
          <p:nvPr/>
        </p:nvGrpSpPr>
        <p:grpSpPr>
          <a:xfrm>
            <a:off x="5362777" y="3599548"/>
            <a:ext cx="1466135" cy="1974233"/>
            <a:chOff x="2953159" y="3599548"/>
            <a:chExt cx="1466135" cy="1974233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3A01D93F-9686-DE3D-6302-E66E6E1D296A}"/>
                </a:ext>
              </a:extLst>
            </p:cNvPr>
            <p:cNvGrpSpPr/>
            <p:nvPr/>
          </p:nvGrpSpPr>
          <p:grpSpPr>
            <a:xfrm>
              <a:off x="2953159" y="3599548"/>
              <a:ext cx="1466135" cy="1974233"/>
              <a:chOff x="712311" y="4767016"/>
              <a:chExt cx="1466135" cy="1974233"/>
            </a:xfrm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24DBF1CC-420C-EA9E-7CFA-20246254981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50345" y="4767016"/>
                <a:ext cx="1190068" cy="1190068"/>
              </a:xfrm>
              <a:prstGeom prst="ellipse">
                <a:avLst/>
              </a:prstGeom>
              <a:solidFill>
                <a:srgbClr val="C8D6B8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A83AE50-C5B7-0E31-54FB-EC1E873A6251}"/>
                  </a:ext>
                </a:extLst>
              </p:cNvPr>
              <p:cNvSpPr txBox="1"/>
              <p:nvPr/>
            </p:nvSpPr>
            <p:spPr>
              <a:xfrm>
                <a:off x="712311" y="6094918"/>
                <a:ext cx="146613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noProof="0"/>
                  <a:t>Daily Energy Use</a:t>
                </a:r>
              </a:p>
            </p:txBody>
          </p:sp>
        </p:grpSp>
        <p:pic>
          <p:nvPicPr>
            <p:cNvPr id="23" name="Graphic 22" descr="Refresh with solid fill">
              <a:extLst>
                <a:ext uri="{FF2B5EF4-FFF2-40B4-BE49-F238E27FC236}">
                  <a16:creationId xmlns:a16="http://schemas.microsoft.com/office/drawing/2014/main" id="{68FA80DA-12B9-491F-6AF1-E67BB4002C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294343" y="3737382"/>
              <a:ext cx="914400" cy="914400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D5780AA-9C37-04F8-096C-7D9B223242F0}"/>
              </a:ext>
            </a:extLst>
          </p:cNvPr>
          <p:cNvGrpSpPr/>
          <p:nvPr/>
        </p:nvGrpSpPr>
        <p:grpSpPr>
          <a:xfrm>
            <a:off x="8471871" y="3594270"/>
            <a:ext cx="1880424" cy="1979511"/>
            <a:chOff x="505165" y="4767016"/>
            <a:chExt cx="1880424" cy="1979511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7138F042-0AAD-9EEE-17D4-72AE7AB5FEA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50345" y="4767016"/>
              <a:ext cx="1190068" cy="1190068"/>
            </a:xfrm>
            <a:prstGeom prst="ellipse">
              <a:avLst/>
            </a:prstGeom>
            <a:solidFill>
              <a:srgbClr val="C8D6B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DCEEA22-5D96-1A16-A59A-A4508BC82274}"/>
                </a:ext>
              </a:extLst>
            </p:cNvPr>
            <p:cNvSpPr txBox="1"/>
            <p:nvPr/>
          </p:nvSpPr>
          <p:spPr>
            <a:xfrm>
              <a:off x="505165" y="6100196"/>
              <a:ext cx="188042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noProof="0"/>
                <a:t>Whole-Life &amp;</a:t>
              </a:r>
              <a:br>
                <a:rPr lang="en-US" noProof="0"/>
              </a:br>
              <a:r>
                <a:rPr lang="en-US" noProof="0"/>
                <a:t>Deconstruction</a:t>
              </a:r>
            </a:p>
          </p:txBody>
        </p:sp>
      </p:grpSp>
      <p:pic>
        <p:nvPicPr>
          <p:cNvPr id="25" name="Graphic 24" descr="Clock with solid fill">
            <a:extLst>
              <a:ext uri="{FF2B5EF4-FFF2-40B4-BE49-F238E27FC236}">
                <a16:creationId xmlns:a16="http://schemas.microsoft.com/office/drawing/2014/main" id="{04943C9C-D7BF-13E1-C3BB-BA7E4A6DAF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85967" y="3663187"/>
            <a:ext cx="1052233" cy="1052233"/>
          </a:xfrm>
          <a:prstGeom prst="rect">
            <a:avLst/>
          </a:prstGeom>
        </p:spPr>
      </p:pic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3FC42A12-C379-5FCD-FE10-3885C4927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3AAB7-3216-4C33-9368-08731BE4E336}" type="datetime1">
              <a:rPr lang="de-DE" smtClean="0"/>
              <a:t>10.09.26</a:t>
            </a:fld>
            <a:endParaRPr lang="de-DE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F97E2FD0-9149-49C8-5B2B-36423DA49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2</a:t>
            </a:fld>
            <a:endParaRPr lang="de-D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83EF1-E81F-E03C-7F44-FFB389BE9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FBB1B68-2EF6-BE92-0197-DEF6544AECD1}"/>
              </a:ext>
            </a:extLst>
          </p:cNvPr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5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4819A5-4212-959D-2ACF-EA6763C3376B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1D67CB3-3375-A05A-BAE7-CAEDEE0C1574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5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92BF85-1B95-11A0-BB67-D383C0B19093}"/>
              </a:ext>
            </a:extLst>
          </p:cNvPr>
          <p:cNvSpPr/>
          <p:nvPr/>
        </p:nvSpPr>
        <p:spPr>
          <a:xfrm>
            <a:off x="228600" y="0"/>
            <a:ext cx="11963095" cy="1188720"/>
          </a:xfrm>
          <a:prstGeom prst="rect">
            <a:avLst/>
          </a:prstGeom>
          <a:solidFill>
            <a:srgbClr val="005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3F47FC-5E4E-A94C-6940-6F36CDBD5E28}"/>
              </a:ext>
            </a:extLst>
          </p:cNvPr>
          <p:cNvSpPr txBox="1"/>
          <p:nvPr/>
        </p:nvSpPr>
        <p:spPr>
          <a:xfrm>
            <a:off x="1937554" y="2971800"/>
            <a:ext cx="831658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noProof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8 phases of building our Net Zero Social Hub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F261C659-BD92-9499-0202-DC21290E7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960D3-D8F2-4363-AE98-50EF3DEB2003}" type="datetime1">
              <a:rPr lang="de-DE" smtClean="0"/>
              <a:t>10.09.26</a:t>
            </a:fld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0781F4B-28E6-B296-3462-B7F630111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98492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88832-8B8E-58FA-7183-FB29C6DF5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7954EC5-95CB-3E82-BC7F-E35AF6217037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716E3C-F6B1-7D69-7D8C-8F5593F0E047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4A2531-9528-0283-A534-891AD1FF8AB7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5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E27A76-3A78-9DEA-B0FE-E763EC0602C7}"/>
              </a:ext>
            </a:extLst>
          </p:cNvPr>
          <p:cNvSpPr/>
          <p:nvPr/>
        </p:nvSpPr>
        <p:spPr>
          <a:xfrm>
            <a:off x="228600" y="0"/>
            <a:ext cx="11963095" cy="1188720"/>
          </a:xfrm>
          <a:prstGeom prst="rect">
            <a:avLst/>
          </a:prstGeom>
          <a:solidFill>
            <a:srgbClr val="005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0230EE-B6D4-F792-C647-23A17BF0DD29}"/>
              </a:ext>
            </a:extLst>
          </p:cNvPr>
          <p:cNvSpPr txBox="1"/>
          <p:nvPr/>
        </p:nvSpPr>
        <p:spPr>
          <a:xfrm>
            <a:off x="548640" y="228600"/>
            <a:ext cx="9515234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rPr lang="en-US" noProof="0"/>
              <a:t>Phase 1 — Building Site Preparation &amp; Terraforming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93D512-16AA-603F-A807-C7E10FF5579F}"/>
              </a:ext>
            </a:extLst>
          </p:cNvPr>
          <p:cNvSpPr txBox="1"/>
          <p:nvPr/>
        </p:nvSpPr>
        <p:spPr>
          <a:xfrm>
            <a:off x="647700" y="2176700"/>
            <a:ext cx="58801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noProof="0"/>
              <a:t>Brownfield Regeneration</a:t>
            </a:r>
          </a:p>
          <a:p>
            <a:pPr marL="285750" indent="-285750">
              <a:buFont typeface="Wingdings" pitchFamily="2" charset="2"/>
              <a:buChar char="è"/>
            </a:pPr>
            <a:r>
              <a:rPr lang="en-US" noProof="0"/>
              <a:t>re-use already used land. Don’t waste anymore green space</a:t>
            </a:r>
          </a:p>
          <a:p>
            <a:endParaRPr lang="en-US" noProof="0"/>
          </a:p>
          <a:p>
            <a:pPr marL="285750" indent="-285750">
              <a:buFont typeface="Wingdings" pitchFamily="2" charset="2"/>
              <a:buChar char="è"/>
            </a:pPr>
            <a:endParaRPr lang="en-US" noProof="0"/>
          </a:p>
          <a:p>
            <a:r>
              <a:rPr lang="en-US" sz="2400" b="1" noProof="0"/>
              <a:t>Electric Machinery</a:t>
            </a:r>
          </a:p>
          <a:p>
            <a:pPr marL="285750" indent="-285750">
              <a:buFont typeface="Wingdings" pitchFamily="2" charset="2"/>
              <a:buChar char="è"/>
            </a:pPr>
            <a:r>
              <a:rPr lang="en-US" noProof="0"/>
              <a:t>If possible, avoid fossil fueled machinery</a:t>
            </a:r>
          </a:p>
          <a:p>
            <a:endParaRPr lang="en-US" noProof="0"/>
          </a:p>
          <a:p>
            <a:endParaRPr lang="en-US" noProof="0"/>
          </a:p>
          <a:p>
            <a:r>
              <a:rPr lang="en-US" sz="2400" b="1" noProof="0"/>
              <a:t>Minimizing Soil Transport</a:t>
            </a:r>
          </a:p>
          <a:p>
            <a:pPr marL="285750" indent="-285750">
              <a:buFont typeface="Wingdings" pitchFamily="2" charset="2"/>
              <a:buChar char="è"/>
            </a:pPr>
            <a:r>
              <a:rPr lang="en-US" noProof="0"/>
              <a:t>By re-using sealed land, we could minimize the soil transport</a:t>
            </a:r>
          </a:p>
        </p:txBody>
      </p:sp>
      <p:pic>
        <p:nvPicPr>
          <p:cNvPr id="8" name="Picture 7" descr="Reduce, Reuse, Recycle: what does it mean?">
            <a:extLst>
              <a:ext uri="{FF2B5EF4-FFF2-40B4-BE49-F238E27FC236}">
                <a16:creationId xmlns:a16="http://schemas.microsoft.com/office/drawing/2014/main" id="{DE7494DE-A014-439B-E848-7594FB6B96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0300" y="2207260"/>
            <a:ext cx="4064000" cy="3632200"/>
          </a:xfrm>
          <a:prstGeom prst="rect">
            <a:avLst/>
          </a:prstGeom>
        </p:spPr>
      </p:pic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601B1860-FEDF-3C3A-03B8-6F1BF3E98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AEDB7-E478-499F-80FF-CCD4B1D1D34E}" type="datetime1">
              <a:rPr lang="de-DE" smtClean="0"/>
              <a:t>10.09.26</a:t>
            </a:fld>
            <a:endParaRPr lang="de-DE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E1F7F745-E3A4-830A-CB5B-4A77C7A2D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88352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5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" name="Rectangle 4"/>
          <p:cNvSpPr/>
          <p:nvPr/>
        </p:nvSpPr>
        <p:spPr>
          <a:xfrm>
            <a:off x="228600" y="0"/>
            <a:ext cx="11963095" cy="1188720"/>
          </a:xfrm>
          <a:prstGeom prst="rect">
            <a:avLst/>
          </a:prstGeom>
          <a:solidFill>
            <a:srgbClr val="005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6" name="TextBox 5"/>
          <p:cNvSpPr txBox="1"/>
          <p:nvPr/>
        </p:nvSpPr>
        <p:spPr>
          <a:xfrm>
            <a:off x="548640" y="228600"/>
            <a:ext cx="506581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rPr lang="en-US" noProof="0"/>
              <a:t>Phase 2 — The Foundation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spcAft>
                <a:spcPts val="1000"/>
              </a:spcAft>
              <a:defRPr sz="2400">
                <a:solidFill>
                  <a:srgbClr val="282828"/>
                </a:solidFill>
                <a:latin typeface="Calibri"/>
              </a:defRPr>
            </a:pPr>
            <a:endParaRPr lang="en-US" sz="2400" b="1" noProof="0">
              <a:solidFill>
                <a:srgbClr val="282828"/>
              </a:solidFill>
              <a:latin typeface="Calibri"/>
            </a:endParaRPr>
          </a:p>
          <a:p>
            <a:pPr>
              <a:spcBef>
                <a:spcPts val="1800"/>
              </a:spcBef>
              <a:spcAft>
                <a:spcPts val="1000"/>
              </a:spcAft>
              <a:defRPr sz="2400">
                <a:solidFill>
                  <a:srgbClr val="282828"/>
                </a:solidFill>
                <a:latin typeface="Calibri"/>
              </a:defRPr>
            </a:pPr>
            <a:r>
              <a:rPr lang="en-US" sz="3600" b="1" noProof="0">
                <a:solidFill>
                  <a:srgbClr val="282828"/>
                </a:solidFill>
                <a:latin typeface="Calibri"/>
              </a:rPr>
              <a:t>Traditional Concrete = High CO₂</a:t>
            </a:r>
          </a:p>
          <a:p>
            <a:pPr>
              <a:spcBef>
                <a:spcPts val="1800"/>
              </a:spcBef>
              <a:spcAft>
                <a:spcPts val="1000"/>
              </a:spcAft>
              <a:defRPr sz="2400">
                <a:solidFill>
                  <a:srgbClr val="282828"/>
                </a:solidFill>
                <a:latin typeface="Calibri"/>
              </a:defRPr>
            </a:pPr>
            <a:endParaRPr lang="en-US" sz="2400" b="1" noProof="0">
              <a:solidFill>
                <a:srgbClr val="282828"/>
              </a:solidFill>
              <a:latin typeface="Calibri"/>
            </a:endParaRPr>
          </a:p>
          <a:p>
            <a:pPr>
              <a:spcBef>
                <a:spcPts val="1800"/>
              </a:spcBef>
              <a:spcAft>
                <a:spcPts val="1000"/>
              </a:spcAft>
              <a:defRPr sz="2400">
                <a:solidFill>
                  <a:srgbClr val="282828"/>
                </a:solidFill>
                <a:latin typeface="Calibri"/>
              </a:defRPr>
            </a:pPr>
            <a:r>
              <a:rPr lang="en-US" sz="2400" b="1" noProof="0">
                <a:solidFill>
                  <a:srgbClr val="282828"/>
                </a:solidFill>
                <a:latin typeface="Calibri"/>
              </a:rPr>
              <a:t>Our Solution: </a:t>
            </a:r>
          </a:p>
          <a:p>
            <a:pPr marL="342900" indent="-342900">
              <a:spcBef>
                <a:spcPts val="1800"/>
              </a:spcBef>
              <a:spcAft>
                <a:spcPts val="1000"/>
              </a:spcAft>
              <a:buFont typeface="Wingdings" pitchFamily="2" charset="2"/>
              <a:buChar char="è"/>
              <a:defRPr sz="2400">
                <a:solidFill>
                  <a:srgbClr val="282828"/>
                </a:solidFill>
                <a:latin typeface="Calibri"/>
              </a:defRPr>
            </a:pPr>
            <a:r>
              <a:rPr lang="en-US" noProof="0"/>
              <a:t>Steel ground Screws</a:t>
            </a:r>
          </a:p>
          <a:p>
            <a:pPr marL="342900" indent="-342900">
              <a:spcBef>
                <a:spcPts val="1800"/>
              </a:spcBef>
              <a:spcAft>
                <a:spcPts val="1000"/>
              </a:spcAft>
              <a:buFont typeface="Wingdings" pitchFamily="2" charset="2"/>
              <a:buChar char="è"/>
              <a:defRPr sz="2400">
                <a:solidFill>
                  <a:srgbClr val="282828"/>
                </a:solidFill>
                <a:latin typeface="Calibri"/>
              </a:defRPr>
            </a:pPr>
            <a:r>
              <a:rPr lang="en-US" noProof="0"/>
              <a:t>Low-Carbon Concrete (cement-free concrete)</a:t>
            </a:r>
          </a:p>
          <a:p>
            <a:pPr marL="342900" indent="-342900">
              <a:spcBef>
                <a:spcPts val="1800"/>
              </a:spcBef>
              <a:spcAft>
                <a:spcPts val="1000"/>
              </a:spcAft>
              <a:buFont typeface="Wingdings" pitchFamily="2" charset="2"/>
              <a:buChar char="è"/>
              <a:defRPr sz="2400">
                <a:solidFill>
                  <a:srgbClr val="282828"/>
                </a:solidFill>
                <a:latin typeface="Calibri"/>
              </a:defRPr>
            </a:pPr>
            <a:r>
              <a:rPr lang="en-US" noProof="0"/>
              <a:t>Recycled Steel Reinforcement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88F8EA9-D245-C183-AE9F-A5FA92ED52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65" r="14253"/>
          <a:stretch>
            <a:fillRect/>
          </a:stretch>
        </p:blipFill>
        <p:spPr>
          <a:xfrm>
            <a:off x="8288985" y="3802986"/>
            <a:ext cx="3323895" cy="253995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4BB6E90-999B-CBAC-580E-F7E4D08262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3195" y="1463040"/>
            <a:ext cx="1998294" cy="199829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91B6F6A-6CFC-F02F-518C-5F7B9C9B32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9180" y="2178292"/>
            <a:ext cx="772160" cy="3586254"/>
          </a:xfrm>
          <a:prstGeom prst="rect">
            <a:avLst/>
          </a:prstGeom>
        </p:spPr>
      </p:pic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32BF70B5-97D0-947D-085F-608E569F2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58FA9-3390-417B-A29B-1A3FF06A0E9B}" type="datetime1">
              <a:rPr lang="de-DE" smtClean="0"/>
              <a:t>10.09.26</a:t>
            </a:fld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A3B1570-1FDF-5E59-0BCE-BB855B6A9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5</a:t>
            </a:fld>
            <a:endParaRPr lang="de-D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5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" name="Rectangle 4"/>
          <p:cNvSpPr/>
          <p:nvPr/>
        </p:nvSpPr>
        <p:spPr>
          <a:xfrm>
            <a:off x="228600" y="0"/>
            <a:ext cx="11963095" cy="1188720"/>
          </a:xfrm>
          <a:prstGeom prst="rect">
            <a:avLst/>
          </a:prstGeom>
          <a:solidFill>
            <a:srgbClr val="005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6" name="TextBox 5"/>
          <p:cNvSpPr txBox="1"/>
          <p:nvPr/>
        </p:nvSpPr>
        <p:spPr>
          <a:xfrm>
            <a:off x="548640" y="228600"/>
            <a:ext cx="524489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rPr lang="en-US" noProof="0"/>
              <a:t>Phase 3 — Structural Frame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85D6A97-EFD1-274A-8283-CEF079C9E2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2610" y="1998669"/>
            <a:ext cx="5413149" cy="36087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23747" y="1998669"/>
            <a:ext cx="5658863" cy="3026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spcAft>
                <a:spcPts val="1000"/>
              </a:spcAft>
              <a:defRPr sz="2400">
                <a:solidFill>
                  <a:srgbClr val="282828"/>
                </a:solidFill>
                <a:latin typeface="Calibri"/>
              </a:defRPr>
            </a:pPr>
            <a:r>
              <a:rPr lang="en-US" sz="2400" b="1" noProof="0"/>
              <a:t>Cross-Laminated Timber (CLT)</a:t>
            </a:r>
          </a:p>
          <a:p>
            <a:pPr marL="342900" indent="-342900">
              <a:spcBef>
                <a:spcPts val="1800"/>
              </a:spcBef>
              <a:spcAft>
                <a:spcPts val="1000"/>
              </a:spcAft>
              <a:buFont typeface="Wingdings" pitchFamily="2" charset="2"/>
              <a:buChar char="è"/>
              <a:defRPr sz="2400">
                <a:solidFill>
                  <a:srgbClr val="282828"/>
                </a:solidFill>
                <a:latin typeface="Calibri"/>
              </a:defRPr>
            </a:pPr>
            <a:r>
              <a:rPr lang="en-US" sz="2400" noProof="0"/>
              <a:t>Utilizing modular, prefabricated, or </a:t>
            </a:r>
            <a:br>
              <a:rPr lang="en-US" sz="2400" noProof="0"/>
            </a:br>
            <a:r>
              <a:rPr lang="en-US" sz="2400" noProof="0"/>
              <a:t>demountable cassettes and bolted connections</a:t>
            </a:r>
          </a:p>
          <a:p>
            <a:pPr marL="342900" indent="-342900">
              <a:spcBef>
                <a:spcPts val="1800"/>
              </a:spcBef>
              <a:spcAft>
                <a:spcPts val="1000"/>
              </a:spcAft>
              <a:buFont typeface="Wingdings" pitchFamily="2" charset="2"/>
              <a:buChar char="è"/>
              <a:defRPr sz="2400">
                <a:solidFill>
                  <a:srgbClr val="282828"/>
                </a:solidFill>
                <a:latin typeface="Calibri"/>
              </a:defRPr>
            </a:pPr>
            <a:r>
              <a:rPr lang="en-US" noProof="0"/>
              <a:t>Used CLT will promote Carbon sequestration (CLT stores C0</a:t>
            </a:r>
            <a:r>
              <a:rPr lang="en-US" baseline="-25000" noProof="0"/>
              <a:t>2</a:t>
            </a:r>
            <a:r>
              <a:rPr lang="en-US" noProof="0"/>
              <a:t>) 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0535851F-F73D-F7C0-909F-98CA7094F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D8BC5-ABAC-473A-9B56-3B4D3F43F0ED}" type="datetime1">
              <a:rPr lang="de-DE" smtClean="0"/>
              <a:t>10.09.26</a:t>
            </a:fld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B30D4905-6558-AF5A-B9F6-521AF31F5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6</a:t>
            </a:fld>
            <a:endParaRPr lang="de-D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69530"/>
            <a:ext cx="12191695" cy="6858000"/>
          </a:xfrm>
          <a:prstGeom prst="rect">
            <a:avLst/>
          </a:prstGeom>
          <a:solidFill>
            <a:srgbClr val="F5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5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" name="Rectangle 4"/>
          <p:cNvSpPr/>
          <p:nvPr/>
        </p:nvSpPr>
        <p:spPr>
          <a:xfrm>
            <a:off x="228600" y="0"/>
            <a:ext cx="11963095" cy="1188720"/>
          </a:xfrm>
          <a:prstGeom prst="rect">
            <a:avLst/>
          </a:prstGeom>
          <a:solidFill>
            <a:srgbClr val="005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6" name="TextBox 5"/>
          <p:cNvSpPr txBox="1"/>
          <p:nvPr/>
        </p:nvSpPr>
        <p:spPr>
          <a:xfrm>
            <a:off x="548640" y="228600"/>
            <a:ext cx="4712572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rPr lang="en-US" noProof="0"/>
              <a:t>Phase 4 — Floor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747" y="2185295"/>
            <a:ext cx="5639346" cy="3026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spcAft>
                <a:spcPts val="1000"/>
              </a:spcAft>
              <a:defRPr sz="2400">
                <a:solidFill>
                  <a:srgbClr val="282828"/>
                </a:solidFill>
                <a:latin typeface="Calibri"/>
              </a:defRPr>
            </a:pPr>
            <a:r>
              <a:rPr lang="en-US" sz="2400" b="1">
                <a:solidFill>
                  <a:srgbClr val="282828"/>
                </a:solidFill>
                <a:latin typeface="Calibri"/>
              </a:rPr>
              <a:t>Timber-Concrete Composite Floors</a:t>
            </a:r>
            <a:br>
              <a:rPr lang="en-US" noProof="0"/>
            </a:br>
            <a:r>
              <a:rPr lang="en-US" noProof="0"/>
              <a:t>-&gt; less harmful</a:t>
            </a:r>
          </a:p>
          <a:p>
            <a:pPr>
              <a:spcBef>
                <a:spcPts val="1800"/>
              </a:spcBef>
              <a:spcAft>
                <a:spcPts val="1000"/>
              </a:spcAft>
              <a:defRPr sz="2400">
                <a:solidFill>
                  <a:srgbClr val="282828"/>
                </a:solidFill>
                <a:latin typeface="Calibri"/>
              </a:defRPr>
            </a:pPr>
            <a:r>
              <a:rPr lang="en-US" sz="2400" b="1">
                <a:solidFill>
                  <a:srgbClr val="282828"/>
                </a:solidFill>
                <a:latin typeface="Calibri"/>
              </a:rPr>
              <a:t>Modular Construction</a:t>
            </a:r>
            <a:br>
              <a:rPr lang="en-US" noProof="0"/>
            </a:br>
            <a:r>
              <a:rPr lang="en-US" noProof="0"/>
              <a:t>-&gt; no need for heavy equipment on site</a:t>
            </a:r>
          </a:p>
          <a:p>
            <a:pPr>
              <a:spcBef>
                <a:spcPts val="1800"/>
              </a:spcBef>
              <a:spcAft>
                <a:spcPts val="1000"/>
              </a:spcAft>
              <a:defRPr sz="2400">
                <a:solidFill>
                  <a:srgbClr val="282828"/>
                </a:solidFill>
                <a:latin typeface="Calibri"/>
              </a:defRPr>
            </a:pPr>
            <a:r>
              <a:rPr lang="en-US" sz="2400" b="1">
                <a:solidFill>
                  <a:srgbClr val="282828"/>
                </a:solidFill>
                <a:latin typeface="Calibri"/>
              </a:rPr>
              <a:t>Less Waste, Faster Build</a:t>
            </a:r>
            <a:br>
              <a:rPr lang="en-US"/>
            </a:br>
            <a:r>
              <a:rPr lang="en-US"/>
              <a:t>-&gt; no adhesive = less water &amp; faster</a:t>
            </a:r>
            <a:endParaRPr lang="en-US" noProof="0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0E4BA42A-3C6A-192E-151D-1EF25E5DF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5596E-34CF-4760-B13D-2CDAA20165BE}" type="datetime1">
              <a:rPr lang="de-DE" smtClean="0"/>
              <a:t>10.09.26</a:t>
            </a:fld>
            <a:endParaRPr lang="de-DE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564ACAEF-13C2-C30A-DF48-0C463E6F6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7</a:t>
            </a:fld>
            <a:endParaRPr lang="de-DE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A29E274-A6A5-3A64-04E6-A17ACEBFA1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2948" y="1357726"/>
            <a:ext cx="3749340" cy="234080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55F518D-48D5-036A-1F8D-12CB776C37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6626" y="2694532"/>
            <a:ext cx="4163468" cy="41634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5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" name="Rectangle 4"/>
          <p:cNvSpPr/>
          <p:nvPr/>
        </p:nvSpPr>
        <p:spPr>
          <a:xfrm>
            <a:off x="228600" y="0"/>
            <a:ext cx="11963095" cy="1188720"/>
          </a:xfrm>
          <a:prstGeom prst="rect">
            <a:avLst/>
          </a:prstGeom>
          <a:solidFill>
            <a:srgbClr val="005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6" name="TextBox 5"/>
          <p:cNvSpPr txBox="1"/>
          <p:nvPr/>
        </p:nvSpPr>
        <p:spPr>
          <a:xfrm>
            <a:off x="548640" y="228600"/>
            <a:ext cx="489326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rPr lang="en-US" noProof="0"/>
              <a:t>Phase 5 — Wall Insulation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747" y="1727352"/>
            <a:ext cx="10972800" cy="4103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spcAft>
                <a:spcPts val="1000"/>
              </a:spcAft>
              <a:defRPr sz="2400">
                <a:solidFill>
                  <a:srgbClr val="282828"/>
                </a:solidFill>
                <a:latin typeface="Calibri"/>
              </a:defRPr>
            </a:pPr>
            <a:r>
              <a:rPr lang="en-US" sz="2400" b="1">
                <a:solidFill>
                  <a:srgbClr val="282828"/>
                </a:solidFill>
                <a:latin typeface="Calibri"/>
              </a:rPr>
              <a:t>Passive House Standards</a:t>
            </a:r>
          </a:p>
          <a:p>
            <a:pPr marL="342900" indent="-342900">
              <a:spcBef>
                <a:spcPts val="1800"/>
              </a:spcBef>
              <a:spcAft>
                <a:spcPts val="1000"/>
              </a:spcAft>
              <a:buFont typeface="Wingdings" pitchFamily="2" charset="2"/>
              <a:buChar char="è"/>
              <a:defRPr sz="2400">
                <a:solidFill>
                  <a:srgbClr val="282828"/>
                </a:solidFill>
                <a:latin typeface="Calibri"/>
              </a:defRPr>
            </a:pPr>
            <a:r>
              <a:rPr lang="en-US" sz="2400">
                <a:solidFill>
                  <a:srgbClr val="282828"/>
                </a:solidFill>
                <a:latin typeface="Calibri"/>
              </a:rPr>
              <a:t>Superinsulation</a:t>
            </a:r>
          </a:p>
          <a:p>
            <a:pPr marL="342900" indent="-342900">
              <a:spcBef>
                <a:spcPts val="1800"/>
              </a:spcBef>
              <a:spcAft>
                <a:spcPts val="1000"/>
              </a:spcAft>
              <a:buFont typeface="Wingdings" pitchFamily="2" charset="2"/>
              <a:buChar char="è"/>
              <a:defRPr sz="2400">
                <a:solidFill>
                  <a:srgbClr val="282828"/>
                </a:solidFill>
                <a:latin typeface="Calibri"/>
              </a:defRPr>
            </a:pPr>
            <a:r>
              <a:rPr lang="en-US" sz="2400">
                <a:solidFill>
                  <a:srgbClr val="282828"/>
                </a:solidFill>
                <a:latin typeface="Calibri"/>
              </a:rPr>
              <a:t>Airtightness</a:t>
            </a:r>
          </a:p>
          <a:p>
            <a:pPr marL="342900" indent="-342900">
              <a:spcBef>
                <a:spcPts val="1800"/>
              </a:spcBef>
              <a:spcAft>
                <a:spcPts val="1000"/>
              </a:spcAft>
              <a:buFont typeface="Wingdings" pitchFamily="2" charset="2"/>
              <a:buChar char="è"/>
              <a:defRPr sz="2400">
                <a:solidFill>
                  <a:srgbClr val="282828"/>
                </a:solidFill>
                <a:latin typeface="Calibri"/>
              </a:defRPr>
            </a:pPr>
            <a:r>
              <a:rPr lang="en-US" sz="2400">
                <a:solidFill>
                  <a:srgbClr val="282828"/>
                </a:solidFill>
                <a:latin typeface="Calibri"/>
              </a:rPr>
              <a:t>Thermal Bridge-Free Design</a:t>
            </a:r>
          </a:p>
          <a:p>
            <a:pPr marL="342900" indent="-342900">
              <a:spcBef>
                <a:spcPts val="1800"/>
              </a:spcBef>
              <a:spcAft>
                <a:spcPts val="1000"/>
              </a:spcAft>
              <a:buFont typeface="Wingdings" pitchFamily="2" charset="2"/>
              <a:buChar char="è"/>
              <a:defRPr sz="2400">
                <a:solidFill>
                  <a:srgbClr val="282828"/>
                </a:solidFill>
                <a:latin typeface="Calibri"/>
              </a:defRPr>
            </a:pPr>
            <a:endParaRPr lang="en-US" sz="2400">
              <a:solidFill>
                <a:srgbClr val="282828"/>
              </a:solidFill>
              <a:latin typeface="Calibri"/>
            </a:endParaRPr>
          </a:p>
          <a:p>
            <a:pPr>
              <a:spcBef>
                <a:spcPts val="1800"/>
              </a:spcBef>
              <a:spcAft>
                <a:spcPts val="1000"/>
              </a:spcAft>
              <a:defRPr sz="2400">
                <a:solidFill>
                  <a:srgbClr val="282828"/>
                </a:solidFill>
                <a:latin typeface="Calibri"/>
              </a:defRPr>
            </a:pPr>
            <a:r>
              <a:rPr lang="en-US" sz="2400" b="1">
                <a:solidFill>
                  <a:srgbClr val="282828"/>
                </a:solidFill>
                <a:latin typeface="Calibri"/>
              </a:rPr>
              <a:t>Bio-based Insulation (Hemp, Cellulose)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8883E75A-1084-66DB-5EEA-CAF82B343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E84E9-DB6A-4779-8892-A0D5DCF91E54}" type="datetime1">
              <a:rPr lang="de-DE" smtClean="0"/>
              <a:t>10.09.26</a:t>
            </a:fld>
            <a:endParaRPr lang="de-DE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3B946EC4-D7D7-1990-7B12-35D0B2F6D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8</a:t>
            </a:fld>
            <a:endParaRPr lang="de-DE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0EEB70D-1D74-2AA3-D31C-E68515422D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4549" y="1930642"/>
            <a:ext cx="6629572" cy="39003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5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" name="Rectangle 4"/>
          <p:cNvSpPr/>
          <p:nvPr/>
        </p:nvSpPr>
        <p:spPr>
          <a:xfrm>
            <a:off x="228600" y="0"/>
            <a:ext cx="11963095" cy="1188720"/>
          </a:xfrm>
          <a:prstGeom prst="rect">
            <a:avLst/>
          </a:prstGeom>
          <a:solidFill>
            <a:srgbClr val="005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6" name="TextBox 5"/>
          <p:cNvSpPr txBox="1"/>
          <p:nvPr/>
        </p:nvSpPr>
        <p:spPr>
          <a:xfrm>
            <a:off x="548640" y="228600"/>
            <a:ext cx="5729132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rPr lang="en-US" noProof="0"/>
              <a:t>Phase 6 — Windows &amp; Glazing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38873"/>
            <a:ext cx="5806101" cy="4103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spcAft>
                <a:spcPts val="1000"/>
              </a:spcAft>
              <a:defRPr sz="2400">
                <a:solidFill>
                  <a:srgbClr val="282828"/>
                </a:solidFill>
                <a:latin typeface="Calibri"/>
              </a:defRPr>
            </a:pPr>
            <a:r>
              <a:rPr lang="en-US" sz="2400" b="1" noProof="0">
                <a:solidFill>
                  <a:srgbClr val="282828"/>
                </a:solidFill>
                <a:latin typeface="Calibri"/>
              </a:rPr>
              <a:t>Well isolated windows</a:t>
            </a:r>
          </a:p>
          <a:p>
            <a:pPr marL="342900" indent="-342900">
              <a:spcBef>
                <a:spcPts val="1800"/>
              </a:spcBef>
              <a:spcAft>
                <a:spcPts val="1000"/>
              </a:spcAft>
              <a:buFont typeface="Wingdings" pitchFamily="2" charset="2"/>
              <a:buChar char="è"/>
              <a:defRPr sz="2400">
                <a:solidFill>
                  <a:srgbClr val="282828"/>
                </a:solidFill>
                <a:latin typeface="Calibri"/>
              </a:defRPr>
            </a:pPr>
            <a:r>
              <a:rPr lang="en-US" noProof="0"/>
              <a:t>High-Performance Double &amp; Triple Glazing</a:t>
            </a:r>
          </a:p>
          <a:p>
            <a:pPr marL="342900" indent="-342900">
              <a:spcBef>
                <a:spcPts val="1800"/>
              </a:spcBef>
              <a:spcAft>
                <a:spcPts val="1000"/>
              </a:spcAft>
              <a:buFont typeface="Wingdings" pitchFamily="2" charset="2"/>
              <a:buChar char="è"/>
              <a:defRPr sz="2400">
                <a:solidFill>
                  <a:srgbClr val="282828"/>
                </a:solidFill>
                <a:latin typeface="Calibri"/>
              </a:defRPr>
            </a:pPr>
            <a:r>
              <a:rPr lang="en-US" noProof="0"/>
              <a:t>Argon Gas Fillings</a:t>
            </a:r>
          </a:p>
          <a:p>
            <a:pPr>
              <a:spcBef>
                <a:spcPts val="1800"/>
              </a:spcBef>
              <a:spcAft>
                <a:spcPts val="1000"/>
              </a:spcAft>
              <a:defRPr sz="2400">
                <a:solidFill>
                  <a:srgbClr val="282828"/>
                </a:solidFill>
                <a:latin typeface="Calibri"/>
              </a:defRPr>
            </a:pPr>
            <a:r>
              <a:rPr lang="en-US" sz="2400" b="1" noProof="0">
                <a:solidFill>
                  <a:srgbClr val="282828"/>
                </a:solidFill>
                <a:latin typeface="Calibri"/>
              </a:rPr>
              <a:t>Smart placement of openings</a:t>
            </a:r>
          </a:p>
          <a:p>
            <a:pPr marL="342900" indent="-342900">
              <a:spcBef>
                <a:spcPts val="1800"/>
              </a:spcBef>
              <a:spcAft>
                <a:spcPts val="1000"/>
              </a:spcAft>
              <a:buFont typeface="Wingdings" pitchFamily="2" charset="2"/>
              <a:buChar char="è"/>
              <a:defRPr sz="2400">
                <a:solidFill>
                  <a:srgbClr val="282828"/>
                </a:solidFill>
                <a:latin typeface="Calibri"/>
              </a:defRPr>
            </a:pPr>
            <a:r>
              <a:rPr lang="en-US" sz="2400" noProof="0">
                <a:solidFill>
                  <a:srgbClr val="282828"/>
                </a:solidFill>
                <a:latin typeface="Calibri"/>
              </a:rPr>
              <a:t>Shade off Sun in Summer</a:t>
            </a:r>
          </a:p>
          <a:p>
            <a:pPr marL="342900" indent="-342900">
              <a:spcBef>
                <a:spcPts val="1800"/>
              </a:spcBef>
              <a:spcAft>
                <a:spcPts val="1000"/>
              </a:spcAft>
              <a:buFont typeface="Wingdings" pitchFamily="2" charset="2"/>
              <a:buChar char="è"/>
              <a:defRPr sz="2400">
                <a:solidFill>
                  <a:srgbClr val="282828"/>
                </a:solidFill>
                <a:latin typeface="Calibri"/>
              </a:defRPr>
            </a:pPr>
            <a:r>
              <a:rPr lang="en-US" sz="2400" noProof="0">
                <a:solidFill>
                  <a:srgbClr val="282828"/>
                </a:solidFill>
                <a:latin typeface="Calibri"/>
              </a:rPr>
              <a:t>Use Sun as Heater in Winter</a:t>
            </a:r>
          </a:p>
        </p:txBody>
      </p:sp>
      <p:pic>
        <p:nvPicPr>
          <p:cNvPr id="10" name="Picture 9" descr="Passive Solar Design - Daniel Krienbuehl Contractors Inc.">
            <a:extLst>
              <a:ext uri="{FF2B5EF4-FFF2-40B4-BE49-F238E27FC236}">
                <a16:creationId xmlns:a16="http://schemas.microsoft.com/office/drawing/2014/main" id="{2724C3B7-F645-29F5-76D8-A6E612F82E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5548" y="2049124"/>
            <a:ext cx="5330436" cy="3948471"/>
          </a:xfrm>
          <a:prstGeom prst="rect">
            <a:avLst/>
          </a:prstGeom>
        </p:spPr>
      </p:pic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FE823472-583C-D8BB-4CD7-62A89EF3E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1F7A1-399B-4D9A-B9E5-F052054320C9}" type="datetime1">
              <a:rPr lang="de-DE" smtClean="0"/>
              <a:t>10.09.26</a:t>
            </a:fld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C515802-A474-A7A8-A01C-3547F1841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9</a:t>
            </a:fld>
            <a:endParaRPr lang="de-D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5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" name="Rectangle 4"/>
          <p:cNvSpPr/>
          <p:nvPr/>
        </p:nvSpPr>
        <p:spPr>
          <a:xfrm>
            <a:off x="228600" y="0"/>
            <a:ext cx="11963095" cy="1188720"/>
          </a:xfrm>
          <a:prstGeom prst="rect">
            <a:avLst/>
          </a:prstGeom>
          <a:solidFill>
            <a:srgbClr val="005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6" name="TextBox 5"/>
          <p:cNvSpPr txBox="1"/>
          <p:nvPr/>
        </p:nvSpPr>
        <p:spPr>
          <a:xfrm>
            <a:off x="548640" y="2286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rPr lang="en-US" noProof="0"/>
              <a:t>Phase 7 — The Roof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71516"/>
            <a:ext cx="5455920" cy="41036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spcBef>
                <a:spcPts val="1800"/>
              </a:spcBef>
              <a:spcAft>
                <a:spcPts val="1000"/>
              </a:spcAft>
              <a:defRPr sz="2400">
                <a:solidFill>
                  <a:srgbClr val="282828"/>
                </a:solidFill>
                <a:latin typeface="Calibri"/>
              </a:defRPr>
            </a:pPr>
            <a:r>
              <a:rPr lang="en-US" sz="2400" b="1">
                <a:solidFill>
                  <a:srgbClr val="282828"/>
                </a:solidFill>
                <a:latin typeface="Calibri"/>
              </a:rPr>
              <a:t>Green Roof System</a:t>
            </a:r>
          </a:p>
          <a:p>
            <a:pPr marL="342900" indent="-342900">
              <a:spcBef>
                <a:spcPts val="1800"/>
              </a:spcBef>
              <a:spcAft>
                <a:spcPts val="1000"/>
              </a:spcAft>
              <a:buFont typeface="Wingdings" pitchFamily="2" charset="2"/>
              <a:buChar char="è"/>
              <a:defRPr sz="2400">
                <a:solidFill>
                  <a:srgbClr val="282828"/>
                </a:solidFill>
                <a:latin typeface="Calibri"/>
              </a:defRPr>
            </a:pPr>
            <a:r>
              <a:rPr lang="en-US" noProof="0"/>
              <a:t>Natural Cooling &amp; Insulation</a:t>
            </a:r>
            <a:endParaRPr lang="en-US" noProof="0">
              <a:ea typeface="Calibri"/>
              <a:cs typeface="Calibri"/>
            </a:endParaRPr>
          </a:p>
          <a:p>
            <a:pPr marL="342900" indent="-342900">
              <a:spcBef>
                <a:spcPts val="1800"/>
              </a:spcBef>
              <a:spcAft>
                <a:spcPts val="1000"/>
              </a:spcAft>
              <a:buFont typeface="Wingdings" pitchFamily="2" charset="2"/>
              <a:buChar char="è"/>
              <a:defRPr sz="2400">
                <a:solidFill>
                  <a:srgbClr val="282828"/>
                </a:solidFill>
                <a:latin typeface="Calibri"/>
              </a:defRPr>
            </a:pPr>
            <a:r>
              <a:rPr lang="en-US" noProof="0"/>
              <a:t>Rainwater Management</a:t>
            </a:r>
            <a:endParaRPr lang="en-US" noProof="0">
              <a:ea typeface="Calibri"/>
              <a:cs typeface="Calibri"/>
            </a:endParaRPr>
          </a:p>
          <a:p>
            <a:pPr>
              <a:spcBef>
                <a:spcPts val="1800"/>
              </a:spcBef>
              <a:spcAft>
                <a:spcPts val="1000"/>
              </a:spcAft>
              <a:defRPr sz="2400">
                <a:solidFill>
                  <a:srgbClr val="282828"/>
                </a:solidFill>
                <a:latin typeface="Calibri"/>
              </a:defRPr>
            </a:pPr>
            <a:r>
              <a:rPr lang="en-US" sz="2400" b="1">
                <a:solidFill>
                  <a:srgbClr val="282828"/>
                </a:solidFill>
                <a:latin typeface="Calibri"/>
              </a:rPr>
              <a:t>Rooftop Solar PV Array</a:t>
            </a:r>
            <a:endParaRPr lang="en-US" sz="2400" b="1">
              <a:solidFill>
                <a:srgbClr val="282828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spcBef>
                <a:spcPts val="1800"/>
              </a:spcBef>
              <a:spcAft>
                <a:spcPts val="1000"/>
              </a:spcAft>
              <a:buFont typeface="Wingdings" pitchFamily="2" charset="2"/>
              <a:buChar char="è"/>
              <a:defRPr sz="2400">
                <a:solidFill>
                  <a:srgbClr val="282828"/>
                </a:solidFill>
                <a:latin typeface="Calibri"/>
              </a:defRPr>
            </a:pPr>
            <a:r>
              <a:rPr lang="en-US" noProof="0"/>
              <a:t>Building-Integrated Photovoltaics (BIPV)</a:t>
            </a:r>
            <a:endParaRPr lang="en-US" noProof="0">
              <a:ea typeface="Calibri"/>
              <a:cs typeface="Calibri"/>
            </a:endParaRPr>
          </a:p>
          <a:p>
            <a:pPr marL="342900" indent="-342900">
              <a:spcBef>
                <a:spcPts val="1800"/>
              </a:spcBef>
              <a:spcAft>
                <a:spcPts val="1000"/>
              </a:spcAft>
              <a:buFont typeface="Wingdings" pitchFamily="2" charset="2"/>
              <a:buChar char="è"/>
              <a:defRPr sz="2400">
                <a:solidFill>
                  <a:srgbClr val="282828"/>
                </a:solidFill>
                <a:latin typeface="Calibri"/>
              </a:defRPr>
            </a:pPr>
            <a:r>
              <a:rPr lang="en-US" noProof="0"/>
              <a:t>Battery Storage System</a:t>
            </a:r>
            <a:endParaRPr lang="en-US" noProof="0">
              <a:ea typeface="Calibri"/>
              <a:cs typeface="Calibri"/>
            </a:endParaRP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9548EB04-8C6B-A446-D271-94B5C7CE4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90ACD-805E-4BF9-A4FB-AC9F35EDFA6C}" type="datetime1">
              <a:rPr lang="de-DE" smtClean="0"/>
              <a:t>10.09.26</a:t>
            </a:fld>
            <a:endParaRPr lang="de-DE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48D3943-4CD5-BE29-5D58-C0C713C80F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8852" y="2636291"/>
            <a:ext cx="6263148" cy="4221709"/>
          </a:xfrm>
          <a:prstGeom prst="rect">
            <a:avLst/>
          </a:prstGeom>
        </p:spPr>
      </p:pic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45247410-016E-9F6B-F492-11DDB0E56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10</a:t>
            </a:fld>
            <a:endParaRPr lang="de-DE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5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" name="Rectangle 4"/>
          <p:cNvSpPr/>
          <p:nvPr/>
        </p:nvSpPr>
        <p:spPr>
          <a:xfrm>
            <a:off x="228600" y="0"/>
            <a:ext cx="11963095" cy="1188720"/>
          </a:xfrm>
          <a:prstGeom prst="rect">
            <a:avLst/>
          </a:prstGeom>
          <a:solidFill>
            <a:srgbClr val="005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6" name="TextBox 5"/>
          <p:cNvSpPr txBox="1"/>
          <p:nvPr/>
        </p:nvSpPr>
        <p:spPr>
          <a:xfrm>
            <a:off x="548640" y="228600"/>
            <a:ext cx="548772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rPr lang="en-US" noProof="0"/>
              <a:t>Phase 8 — Heating &amp; Cooling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7E923688-9E71-40F5-CF25-48370FADD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B1116-250A-4A15-966B-4D6F37446464}" type="datetime1">
              <a:rPr lang="de-DE" smtClean="0"/>
              <a:t>10.09.26</a:t>
            </a:fld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18AA97C-8510-02D5-3745-E0E225D7E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11</a:t>
            </a:fld>
            <a:endParaRPr lang="de-DE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C7E851-EF77-9026-A44D-74A8892129C8}"/>
              </a:ext>
            </a:extLst>
          </p:cNvPr>
          <p:cNvSpPr txBox="1"/>
          <p:nvPr/>
        </p:nvSpPr>
        <p:spPr>
          <a:xfrm>
            <a:off x="366189" y="1396512"/>
            <a:ext cx="6732317" cy="666849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Bef>
                <a:spcPts val="1800"/>
              </a:spcBef>
              <a:spcAft>
                <a:spcPts val="1000"/>
              </a:spcAft>
              <a:defRPr sz="2400">
                <a:solidFill>
                  <a:srgbClr val="282828"/>
                </a:solidFill>
                <a:latin typeface="Calibri"/>
              </a:defRPr>
            </a:pPr>
            <a:r>
              <a:rPr lang="en-US" b="1">
                <a:ea typeface="Calibri"/>
                <a:cs typeface="Calibri"/>
              </a:rPr>
              <a:t>HVAC Design Process</a:t>
            </a:r>
          </a:p>
          <a:p>
            <a:pPr>
              <a:spcBef>
                <a:spcPts val="1800"/>
              </a:spcBef>
              <a:spcAft>
                <a:spcPts val="1000"/>
              </a:spcAft>
              <a:defRPr sz="2400">
                <a:solidFill>
                  <a:srgbClr val="282828"/>
                </a:solidFill>
                <a:latin typeface="Calibri"/>
              </a:defRPr>
            </a:pPr>
            <a:r>
              <a:rPr lang="en-US">
                <a:ea typeface="Calibri"/>
                <a:cs typeface="Calibri"/>
              </a:rPr>
              <a:t>Load Calculations: The Foundation of Efficient Design</a:t>
            </a:r>
          </a:p>
          <a:p>
            <a:pPr>
              <a:spcBef>
                <a:spcPts val="1800"/>
              </a:spcBef>
              <a:spcAft>
                <a:spcPts val="1000"/>
              </a:spcAft>
              <a:defRPr sz="2400">
                <a:solidFill>
                  <a:srgbClr val="282828"/>
                </a:solidFill>
                <a:latin typeface="Calibri"/>
              </a:defRPr>
            </a:pPr>
            <a:r>
              <a:rPr lang="en-US">
                <a:ea typeface="Calibri"/>
                <a:cs typeface="Calibri"/>
              </a:rPr>
              <a:t>System Selection: Choosing the Right Technology</a:t>
            </a:r>
          </a:p>
          <a:p>
            <a:pPr>
              <a:spcBef>
                <a:spcPts val="1800"/>
              </a:spcBef>
              <a:spcAft>
                <a:spcPts val="1000"/>
              </a:spcAft>
              <a:defRPr sz="2400">
                <a:solidFill>
                  <a:srgbClr val="282828"/>
                </a:solidFill>
                <a:latin typeface="Calibri"/>
              </a:defRPr>
            </a:pPr>
            <a:r>
              <a:rPr lang="en-US">
                <a:ea typeface="Calibri"/>
                <a:cs typeface="Calibri"/>
              </a:rPr>
              <a:t>Zoning and Distribution Design </a:t>
            </a:r>
            <a:r>
              <a:rPr lang="en-US">
                <a:solidFill>
                  <a:srgbClr val="FF7F00"/>
                </a:solidFill>
                <a:ea typeface="Calibri"/>
                <a:cs typeface="Calibri"/>
              </a:rPr>
              <a:t>(40% less energy)</a:t>
            </a:r>
          </a:p>
          <a:p>
            <a:pPr>
              <a:spcBef>
                <a:spcPts val="1800"/>
              </a:spcBef>
              <a:spcAft>
                <a:spcPts val="1000"/>
              </a:spcAft>
              <a:defRPr sz="2400">
                <a:solidFill>
                  <a:srgbClr val="282828"/>
                </a:solidFill>
                <a:latin typeface="Calibri"/>
              </a:defRPr>
            </a:pPr>
            <a:r>
              <a:rPr lang="en-US">
                <a:ea typeface="Calibri"/>
                <a:cs typeface="Calibri"/>
              </a:rPr>
              <a:t>Control System Integration </a:t>
            </a:r>
            <a:r>
              <a:rPr lang="en-US">
                <a:solidFill>
                  <a:srgbClr val="FF7F00"/>
                </a:solidFill>
                <a:ea typeface="Calibri"/>
                <a:cs typeface="Calibri"/>
              </a:rPr>
              <a:t>(Building Management System -&gt; KNX)</a:t>
            </a:r>
          </a:p>
          <a:p>
            <a:pPr>
              <a:spcBef>
                <a:spcPts val="1800"/>
              </a:spcBef>
              <a:spcAft>
                <a:spcPts val="1000"/>
              </a:spcAft>
              <a:defRPr sz="2400">
                <a:solidFill>
                  <a:srgbClr val="282828"/>
                </a:solidFill>
                <a:latin typeface="Calibri"/>
              </a:defRPr>
            </a:pPr>
            <a:r>
              <a:rPr lang="en-US">
                <a:ea typeface="Calibri"/>
                <a:cs typeface="Calibri"/>
              </a:rPr>
              <a:t>Compliance and Performance Planning</a:t>
            </a:r>
          </a:p>
          <a:p>
            <a:pPr>
              <a:spcBef>
                <a:spcPts val="1800"/>
              </a:spcBef>
              <a:spcAft>
                <a:spcPts val="1000"/>
              </a:spcAft>
              <a:defRPr sz="2400">
                <a:solidFill>
                  <a:srgbClr val="282828"/>
                </a:solidFill>
                <a:latin typeface="Calibri"/>
              </a:defRPr>
            </a:pPr>
            <a:endParaRPr lang="en-US">
              <a:ea typeface="Calibri"/>
              <a:cs typeface="Calibri"/>
            </a:endParaRPr>
          </a:p>
          <a:p>
            <a:pPr>
              <a:defRPr sz="2400">
                <a:solidFill>
                  <a:srgbClr val="282828"/>
                </a:solidFill>
                <a:latin typeface="Calibri"/>
              </a:defRPr>
            </a:pPr>
            <a:endParaRPr lang="en-US">
              <a:ea typeface="Calibri"/>
              <a:cs typeface="Calibri"/>
            </a:endParaRPr>
          </a:p>
          <a:p>
            <a:pPr>
              <a:defRPr sz="2400">
                <a:solidFill>
                  <a:srgbClr val="282828"/>
                </a:solidFill>
                <a:latin typeface="Calibri"/>
              </a:defRPr>
            </a:pPr>
            <a:endParaRPr lang="en-US">
              <a:ea typeface="Calibri"/>
              <a:cs typeface="Calibri"/>
            </a:endParaRPr>
          </a:p>
          <a:p>
            <a:pPr>
              <a:spcBef>
                <a:spcPts val="1800"/>
              </a:spcBef>
              <a:spcAft>
                <a:spcPts val="1000"/>
              </a:spcAft>
              <a:defRPr sz="2400">
                <a:solidFill>
                  <a:srgbClr val="282828"/>
                </a:solidFill>
                <a:latin typeface="Calibri"/>
              </a:defRPr>
            </a:pPr>
            <a:endParaRPr lang="en-US">
              <a:ea typeface="Calibri"/>
              <a:cs typeface="Calibr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DA15314-D2FE-C7B9-FC71-00A98D40F635}"/>
              </a:ext>
            </a:extLst>
          </p:cNvPr>
          <p:cNvSpPr txBox="1"/>
          <p:nvPr/>
        </p:nvSpPr>
        <p:spPr>
          <a:xfrm>
            <a:off x="9025881" y="39078"/>
            <a:ext cx="287481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>
                <a:solidFill>
                  <a:srgbClr val="FF7F00"/>
                </a:solidFill>
              </a:rPr>
              <a:t>DAUERWERBESENDUNG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7D5120C-517D-D069-CA85-9AFCA2C256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261" y="1393236"/>
            <a:ext cx="6750677" cy="2135619"/>
          </a:xfrm>
          <a:prstGeom prst="rect">
            <a:avLst/>
          </a:prstGeom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64CCFE0-9C02-BDFB-B156-5A2E1166E8A6}"/>
              </a:ext>
            </a:extLst>
          </p:cNvPr>
          <p:cNvCxnSpPr/>
          <p:nvPr/>
        </p:nvCxnSpPr>
        <p:spPr>
          <a:xfrm flipV="1">
            <a:off x="3756605" y="3005284"/>
            <a:ext cx="1138365" cy="762704"/>
          </a:xfrm>
          <a:prstGeom prst="straightConnector1">
            <a:avLst/>
          </a:prstGeom>
          <a:ln w="28575">
            <a:solidFill>
              <a:srgbClr val="FF7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7D20A6D0-BE54-994C-6C4E-821CFE63F9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9878" y="4958041"/>
            <a:ext cx="5645241" cy="1763434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723C266-5B20-9423-4514-7073DAFF853B}"/>
              </a:ext>
            </a:extLst>
          </p:cNvPr>
          <p:cNvCxnSpPr>
            <a:cxnSpLocks/>
          </p:cNvCxnSpPr>
          <p:nvPr/>
        </p:nvCxnSpPr>
        <p:spPr>
          <a:xfrm>
            <a:off x="2490182" y="5088072"/>
            <a:ext cx="2898477" cy="256873"/>
          </a:xfrm>
          <a:prstGeom prst="straightConnector1">
            <a:avLst/>
          </a:prstGeom>
          <a:ln w="28575">
            <a:solidFill>
              <a:srgbClr val="FF7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F0A21-AA31-0415-AD45-3D0DCA44C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84CE9B9-A526-0725-21B6-B0FD048FFAB6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E2E0EB-8F24-0719-795B-C7871101022F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7015FC-3047-D511-A108-B2018137870A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5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CD2769-33FB-85AC-E1C7-3977B2760AE7}"/>
              </a:ext>
            </a:extLst>
          </p:cNvPr>
          <p:cNvSpPr/>
          <p:nvPr/>
        </p:nvSpPr>
        <p:spPr>
          <a:xfrm>
            <a:off x="228600" y="0"/>
            <a:ext cx="11963095" cy="1188720"/>
          </a:xfrm>
          <a:prstGeom prst="rect">
            <a:avLst/>
          </a:prstGeom>
          <a:solidFill>
            <a:srgbClr val="005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043B88-38F2-E6D2-7400-3FCA0A864E8A}"/>
              </a:ext>
            </a:extLst>
          </p:cNvPr>
          <p:cNvSpPr txBox="1"/>
          <p:nvPr/>
        </p:nvSpPr>
        <p:spPr>
          <a:xfrm>
            <a:off x="548640" y="228600"/>
            <a:ext cx="548772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rPr lang="en-US" noProof="0"/>
              <a:t>Phase 8 — Heating &amp; Cooling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BFD386FA-EA9E-DEC4-CBF2-D4D3F21C2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B1116-250A-4A15-966B-4D6F37446464}" type="datetime1">
              <a:rPr lang="de-DE" smtClean="0"/>
              <a:t>10.09.26</a:t>
            </a:fld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58A688A-0DE5-56F4-A070-806A8CC5C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12</a:t>
            </a:fld>
            <a:endParaRPr lang="de-DE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3914D3B-4C65-D8DF-D149-CDF60A0C58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1817" y="2143933"/>
            <a:ext cx="2895112" cy="384072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71E9B72-ADE4-7606-C9B2-27B0A8F16B62}"/>
              </a:ext>
            </a:extLst>
          </p:cNvPr>
          <p:cNvSpPr txBox="1"/>
          <p:nvPr/>
        </p:nvSpPr>
        <p:spPr>
          <a:xfrm>
            <a:off x="9025881" y="39078"/>
            <a:ext cx="287481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>
                <a:solidFill>
                  <a:srgbClr val="FF7F00"/>
                </a:solidFill>
              </a:rPr>
              <a:t>DAUERWERBESENDUNG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9B1D1F-A381-7DFA-D465-FF2EAF3BC9B0}"/>
              </a:ext>
            </a:extLst>
          </p:cNvPr>
          <p:cNvSpPr txBox="1"/>
          <p:nvPr/>
        </p:nvSpPr>
        <p:spPr>
          <a:xfrm>
            <a:off x="548640" y="1316970"/>
            <a:ext cx="7982778" cy="522194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Bef>
                <a:spcPts val="1800"/>
              </a:spcBef>
              <a:spcAft>
                <a:spcPts val="1000"/>
              </a:spcAft>
              <a:defRPr sz="2400">
                <a:solidFill>
                  <a:srgbClr val="282828"/>
                </a:solidFill>
                <a:latin typeface="Calibri"/>
              </a:defRPr>
            </a:pPr>
            <a:r>
              <a:rPr lang="en-US" sz="2000" b="1">
                <a:solidFill>
                  <a:srgbClr val="282828"/>
                </a:solidFill>
                <a:latin typeface="Calibri"/>
              </a:rPr>
              <a:t>BELIMO </a:t>
            </a:r>
            <a:r>
              <a:rPr lang="en-US" sz="2000" b="1" err="1">
                <a:solidFill>
                  <a:srgbClr val="282828"/>
                </a:solidFill>
                <a:latin typeface="Calibri"/>
              </a:rPr>
              <a:t>RetroFIT</a:t>
            </a:r>
            <a:r>
              <a:rPr lang="en-US" sz="2000" b="1">
                <a:solidFill>
                  <a:srgbClr val="282828"/>
                </a:solidFill>
                <a:latin typeface="Calibri"/>
              </a:rPr>
              <a:t>+</a:t>
            </a:r>
          </a:p>
          <a:p>
            <a:pPr>
              <a:spcBef>
                <a:spcPts val="1800"/>
              </a:spcBef>
              <a:spcAft>
                <a:spcPts val="1000"/>
              </a:spcAft>
              <a:defRPr sz="2400">
                <a:solidFill>
                  <a:srgbClr val="282828"/>
                </a:solidFill>
                <a:latin typeface="Calibri"/>
              </a:defRPr>
            </a:pPr>
            <a:r>
              <a:rPr lang="en-US" sz="2000" b="1">
                <a:solidFill>
                  <a:srgbClr val="282828"/>
                </a:solidFill>
                <a:latin typeface="Calibri"/>
              </a:rPr>
              <a:t>Project</a:t>
            </a:r>
            <a:br>
              <a:rPr lang="en-US" sz="2000" b="1">
                <a:solidFill>
                  <a:srgbClr val="282828"/>
                </a:solidFill>
                <a:latin typeface="Calibri"/>
              </a:rPr>
            </a:br>
            <a:r>
              <a:rPr lang="en-US" sz="2000">
                <a:ea typeface="Calibri"/>
                <a:cs typeface="Calibri"/>
              </a:rPr>
              <a:t>Casta Diva Group, Milano. </a:t>
            </a:r>
            <a:r>
              <a:rPr lang="en-US" sz="2000" err="1">
                <a:ea typeface="Calibri"/>
                <a:cs typeface="Calibri"/>
              </a:rPr>
              <a:t>Officebuilding</a:t>
            </a:r>
            <a:r>
              <a:rPr lang="en-US" sz="2000">
                <a:ea typeface="Calibri"/>
                <a:cs typeface="Calibri"/>
              </a:rPr>
              <a:t> 1950s</a:t>
            </a:r>
            <a:endParaRPr lang="en-US" sz="2000"/>
          </a:p>
          <a:p>
            <a:pPr>
              <a:spcBef>
                <a:spcPts val="1800"/>
              </a:spcBef>
              <a:spcAft>
                <a:spcPts val="1000"/>
              </a:spcAft>
              <a:defRPr sz="2400">
                <a:solidFill>
                  <a:srgbClr val="282828"/>
                </a:solidFill>
                <a:latin typeface="Calibri"/>
              </a:defRPr>
            </a:pPr>
            <a:r>
              <a:rPr lang="en-US" sz="2000" b="1">
                <a:ea typeface="+mn-lt"/>
                <a:cs typeface="+mn-lt"/>
              </a:rPr>
              <a:t>Challenge</a:t>
            </a:r>
            <a:br>
              <a:rPr lang="en-US" sz="2000" b="1">
                <a:ea typeface="+mn-lt"/>
                <a:cs typeface="+mn-lt"/>
              </a:rPr>
            </a:br>
            <a:r>
              <a:rPr lang="en-US" sz="2000">
                <a:ea typeface="+mn-lt"/>
                <a:cs typeface="+mn-lt"/>
              </a:rPr>
              <a:t>Two independent expansion units serving a two-story duct loop system caused temperature deviations</a:t>
            </a:r>
            <a:endParaRPr lang="en-US" sz="2000"/>
          </a:p>
          <a:p>
            <a:pPr>
              <a:spcBef>
                <a:spcPts val="1800"/>
              </a:spcBef>
              <a:spcAft>
                <a:spcPts val="1000"/>
              </a:spcAft>
              <a:defRPr sz="2400">
                <a:solidFill>
                  <a:srgbClr val="282828"/>
                </a:solidFill>
                <a:latin typeface="Calibri"/>
              </a:defRPr>
            </a:pPr>
            <a:r>
              <a:rPr lang="en-US" sz="2000" b="1">
                <a:ea typeface="+mn-lt"/>
                <a:cs typeface="+mn-lt"/>
              </a:rPr>
              <a:t>Solution</a:t>
            </a:r>
            <a:br>
              <a:rPr lang="en-US" sz="2000" b="1">
                <a:ea typeface="+mn-lt"/>
                <a:cs typeface="+mn-lt"/>
              </a:rPr>
            </a:br>
            <a:r>
              <a:rPr lang="en-US" sz="2000" err="1">
                <a:ea typeface="+mn-lt"/>
                <a:cs typeface="+mn-lt"/>
              </a:rPr>
              <a:t>RetroFIT</a:t>
            </a:r>
            <a:r>
              <a:rPr lang="en-US" sz="2000">
                <a:ea typeface="+mn-lt"/>
                <a:cs typeface="+mn-lt"/>
              </a:rPr>
              <a:t>+ project with Belimo ZoneEase™ actuators. Room-by-room VAV implementation for improved comfort control</a:t>
            </a:r>
            <a:endParaRPr lang="en-US" sz="2000"/>
          </a:p>
          <a:p>
            <a:pPr>
              <a:spcBef>
                <a:spcPts val="1800"/>
              </a:spcBef>
              <a:spcAft>
                <a:spcPts val="1000"/>
              </a:spcAft>
              <a:defRPr sz="2400">
                <a:solidFill>
                  <a:srgbClr val="282828"/>
                </a:solidFill>
                <a:latin typeface="Calibri"/>
              </a:defRPr>
            </a:pPr>
            <a:r>
              <a:rPr lang="en-US" sz="2000" b="1">
                <a:ea typeface="+mn-lt"/>
                <a:cs typeface="+mn-lt"/>
              </a:rPr>
              <a:t>Result</a:t>
            </a:r>
            <a:br>
              <a:rPr lang="en-US" sz="2000" b="1">
                <a:ea typeface="+mn-lt"/>
                <a:cs typeface="+mn-lt"/>
              </a:rPr>
            </a:br>
            <a:r>
              <a:rPr lang="en-US" sz="2000">
                <a:ea typeface="+mn-lt"/>
                <a:cs typeface="+mn-lt"/>
              </a:rPr>
              <a:t>53% reduction in energy consumption, more stable room temperatures, monitoring and UX</a:t>
            </a:r>
            <a:endParaRPr lang="en-US" sz="20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373620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7A496-C742-57B9-1331-501E15F8F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FD43269-38CA-3341-1427-18E06A650ACD}"/>
              </a:ext>
            </a:extLst>
          </p:cNvPr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5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A63052-398A-B6B7-1D3B-84BD03B38ACA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D9FA61-6FD9-B75E-7C88-CFF1256A2E7B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5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82DB0A-0B8A-903E-A3FB-51F9EA4ADE93}"/>
              </a:ext>
            </a:extLst>
          </p:cNvPr>
          <p:cNvSpPr/>
          <p:nvPr/>
        </p:nvSpPr>
        <p:spPr>
          <a:xfrm>
            <a:off x="228600" y="0"/>
            <a:ext cx="11963095" cy="1188720"/>
          </a:xfrm>
          <a:prstGeom prst="rect">
            <a:avLst/>
          </a:prstGeom>
          <a:solidFill>
            <a:srgbClr val="005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6411FD49-13D1-0D0C-5001-199F0AEF8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331DC-4891-475E-8DD6-626133E0EE5F}" type="datetime1">
              <a:rPr lang="de-DE" smtClean="0"/>
              <a:t>10.09.26</a:t>
            </a:fld>
            <a:endParaRPr lang="de-DE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72A28A14-C6AD-DB8A-1145-95E81CC56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13</a:t>
            </a:fld>
            <a:endParaRPr lang="de-DE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1691E9-2596-514A-D312-91CDDA02079E}"/>
              </a:ext>
            </a:extLst>
          </p:cNvPr>
          <p:cNvSpPr txBox="1"/>
          <p:nvPr/>
        </p:nvSpPr>
        <p:spPr>
          <a:xfrm>
            <a:off x="548640" y="228600"/>
            <a:ext cx="217078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rPr lang="en-US" noProof="0"/>
              <a:t>Challenges</a:t>
            </a:r>
          </a:p>
        </p:txBody>
      </p:sp>
      <p:sp>
        <p:nvSpPr>
          <p:cNvPr id="11" name="TextBox 15">
            <a:extLst>
              <a:ext uri="{FF2B5EF4-FFF2-40B4-BE49-F238E27FC236}">
                <a16:creationId xmlns:a16="http://schemas.microsoft.com/office/drawing/2014/main" id="{500B231C-5D4C-6D07-D4EF-546903059AC7}"/>
              </a:ext>
            </a:extLst>
          </p:cNvPr>
          <p:cNvSpPr txBox="1"/>
          <p:nvPr/>
        </p:nvSpPr>
        <p:spPr>
          <a:xfrm>
            <a:off x="914707" y="1899033"/>
            <a:ext cx="5333386" cy="334174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lnSpc>
                <a:spcPct val="200000"/>
              </a:lnSpc>
              <a:buFont typeface="Wingdings" pitchFamily="2" charset="2"/>
              <a:buChar char="è"/>
            </a:pPr>
            <a:r>
              <a:rPr lang="de-LI"/>
              <a:t>High initial </a:t>
            </a:r>
            <a:r>
              <a:rPr lang="de-LI" err="1"/>
              <a:t>costs</a:t>
            </a:r>
            <a:r>
              <a:rPr lang="de-LI"/>
              <a:t> 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è"/>
            </a:pPr>
            <a:r>
              <a:rPr lang="de-LI"/>
              <a:t>Overheating in </a:t>
            </a:r>
            <a:r>
              <a:rPr lang="de-LI" err="1"/>
              <a:t>summer</a:t>
            </a:r>
            <a:r>
              <a:rPr lang="de-LI"/>
              <a:t> 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è"/>
            </a:pPr>
            <a:r>
              <a:rPr lang="de-LI" err="1"/>
              <a:t>Balancing</a:t>
            </a:r>
            <a:r>
              <a:rPr lang="de-LI"/>
              <a:t> </a:t>
            </a:r>
            <a:r>
              <a:rPr lang="de-LI" err="1"/>
              <a:t>daylight</a:t>
            </a:r>
            <a:r>
              <a:rPr lang="de-LI"/>
              <a:t> and </a:t>
            </a:r>
            <a:r>
              <a:rPr lang="de-LI" err="1"/>
              <a:t>energy</a:t>
            </a:r>
            <a:r>
              <a:rPr lang="de-LI"/>
              <a:t> </a:t>
            </a:r>
            <a:r>
              <a:rPr lang="de-LI" err="1"/>
              <a:t>performance</a:t>
            </a:r>
            <a:endParaRPr lang="de-LI"/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è"/>
            </a:pPr>
            <a:r>
              <a:rPr lang="de-LI"/>
              <a:t>Natural </a:t>
            </a:r>
            <a:r>
              <a:rPr lang="de-LI" err="1"/>
              <a:t>ventilation</a:t>
            </a:r>
            <a:r>
              <a:rPr lang="de-LI"/>
              <a:t> vs. </a:t>
            </a:r>
            <a:r>
              <a:rPr lang="de-LI" err="1"/>
              <a:t>airtightness</a:t>
            </a:r>
            <a:r>
              <a:rPr lang="de-LI"/>
              <a:t> 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è"/>
            </a:pPr>
            <a:r>
              <a:rPr lang="de-LI"/>
              <a:t>Energy </a:t>
            </a:r>
            <a:r>
              <a:rPr lang="de-LI" err="1"/>
              <a:t>production</a:t>
            </a:r>
            <a:r>
              <a:rPr lang="de-LI"/>
              <a:t> </a:t>
            </a:r>
            <a:r>
              <a:rPr lang="de-LI" err="1"/>
              <a:t>depends</a:t>
            </a:r>
            <a:r>
              <a:rPr lang="de-LI"/>
              <a:t> on </a:t>
            </a:r>
            <a:r>
              <a:rPr lang="de-LI" err="1"/>
              <a:t>the</a:t>
            </a:r>
            <a:r>
              <a:rPr lang="de-LI"/>
              <a:t> </a:t>
            </a:r>
            <a:r>
              <a:rPr lang="de-LI" err="1"/>
              <a:t>climate</a:t>
            </a:r>
            <a:endParaRPr lang="de-LI"/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è"/>
            </a:pPr>
            <a:r>
              <a:rPr lang="de-LI"/>
              <a:t>Design </a:t>
            </a:r>
            <a:r>
              <a:rPr lang="de-LI" err="1"/>
              <a:t>complexity</a:t>
            </a:r>
            <a:endParaRPr lang="en-US">
              <a:ea typeface="Calibri"/>
              <a:cs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8EEBC8-CB29-FD03-E3ED-16924950CA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254" b="-339"/>
          <a:stretch>
            <a:fillRect/>
          </a:stretch>
        </p:blipFill>
        <p:spPr>
          <a:xfrm>
            <a:off x="6869740" y="2001559"/>
            <a:ext cx="4484060" cy="3374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8488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CC155-5538-C73E-00A8-2981B60D1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8859ECF-1971-F601-6BB1-FEA65C0C5634}"/>
              </a:ext>
            </a:extLst>
          </p:cNvPr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5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7D8B0B-2414-D836-2332-306E7B1F5B0E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B240480-19DA-30AD-7F6D-46FC363136B4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5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9517B2-2D51-986F-787E-4FB471E66C09}"/>
              </a:ext>
            </a:extLst>
          </p:cNvPr>
          <p:cNvSpPr/>
          <p:nvPr/>
        </p:nvSpPr>
        <p:spPr>
          <a:xfrm>
            <a:off x="228600" y="0"/>
            <a:ext cx="11963095" cy="1188720"/>
          </a:xfrm>
          <a:prstGeom prst="rect">
            <a:avLst/>
          </a:prstGeom>
          <a:solidFill>
            <a:srgbClr val="005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8425A7FA-BD1F-E7A9-0F67-92D66350B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331DC-4891-475E-8DD6-626133E0EE5F}" type="datetime1">
              <a:rPr lang="de-DE" smtClean="0"/>
              <a:t>10.09.26</a:t>
            </a:fld>
            <a:endParaRPr lang="de-DE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1545BC85-24F3-6EC3-3A67-370982C17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14</a:t>
            </a:fld>
            <a:endParaRPr lang="de-DE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6A3B3B-A14C-160E-3641-693771B4AAAC}"/>
              </a:ext>
            </a:extLst>
          </p:cNvPr>
          <p:cNvSpPr txBox="1"/>
          <p:nvPr/>
        </p:nvSpPr>
        <p:spPr>
          <a:xfrm>
            <a:off x="548640" y="228600"/>
            <a:ext cx="217078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rPr lang="en-US" noProof="0"/>
              <a:t>Conclusion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50E0D4C-C25E-42EC-EC7C-C1CFEE8CCD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9462" y="1353446"/>
            <a:ext cx="7772400" cy="5185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9204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31E3F-4007-3097-82D7-0EE797028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63F747-F634-85AD-526F-323F8E1A586D}"/>
              </a:ext>
            </a:extLst>
          </p:cNvPr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5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6A056E-F787-470D-DF3C-AEFCFB642819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290F62-ABB0-E226-00A0-77D98F90588E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5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DDEDF9-FDB2-63D2-1117-F54EF80F4AB3}"/>
              </a:ext>
            </a:extLst>
          </p:cNvPr>
          <p:cNvSpPr/>
          <p:nvPr/>
        </p:nvSpPr>
        <p:spPr>
          <a:xfrm>
            <a:off x="228600" y="0"/>
            <a:ext cx="11963095" cy="1188720"/>
          </a:xfrm>
          <a:prstGeom prst="rect">
            <a:avLst/>
          </a:prstGeom>
          <a:solidFill>
            <a:srgbClr val="005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3B6EBF-3B0D-6891-B760-F9BC42450C2A}"/>
              </a:ext>
            </a:extLst>
          </p:cNvPr>
          <p:cNvSpPr txBox="1"/>
          <p:nvPr/>
        </p:nvSpPr>
        <p:spPr>
          <a:xfrm>
            <a:off x="228905" y="2592199"/>
            <a:ext cx="1196309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noProof="0"/>
              <a:t>Net-zero starts with the design of the building, not with photovoltaic panels on the roof.</a:t>
            </a:r>
            <a:endParaRPr lang="en-US" sz="6000" b="1" noProof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81057394-D453-7ED7-F870-4829A2C8E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C5B5A-751A-44F9-8130-FCB1149E2571}" type="datetime1">
              <a:rPr lang="de-DE" smtClean="0"/>
              <a:t>10.09.26</a:t>
            </a:fld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09D7F56-BB86-5DEF-D1A9-7827E928E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37436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5AB43-66C9-FFEA-72C2-8B0F3F0B4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62F35E0-710B-CA1A-D04F-8848BB30F097}"/>
              </a:ext>
            </a:extLst>
          </p:cNvPr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5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B4A520-07F5-F9A7-A981-98DCB0B359B8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13308C-FB06-240E-EF6D-5F040C8DC31D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5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A56EDC-B8A0-44BB-58D0-9DC92D85A0B3}"/>
              </a:ext>
            </a:extLst>
          </p:cNvPr>
          <p:cNvSpPr/>
          <p:nvPr/>
        </p:nvSpPr>
        <p:spPr>
          <a:xfrm>
            <a:off x="228600" y="0"/>
            <a:ext cx="11963095" cy="1188720"/>
          </a:xfrm>
          <a:prstGeom prst="rect">
            <a:avLst/>
          </a:prstGeom>
          <a:solidFill>
            <a:srgbClr val="005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18D3EF-893E-D82E-8980-404A7E3FE0CC}"/>
              </a:ext>
            </a:extLst>
          </p:cNvPr>
          <p:cNvSpPr txBox="1"/>
          <p:nvPr/>
        </p:nvSpPr>
        <p:spPr>
          <a:xfrm>
            <a:off x="1937554" y="2948503"/>
            <a:ext cx="83165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noProof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QUIZ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DFC997F8-BBC7-E25F-1DF4-9E796D1E5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5A5D0-924F-4783-8430-C3B36E683FE9}" type="datetime1">
              <a:rPr lang="de-DE" smtClean="0"/>
              <a:t>10.09.26</a:t>
            </a:fld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A80C586-E12D-4E63-5AEF-0AAE96620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98099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87C24-7C82-C213-310C-02DD318C7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A7F0EC1-1BC8-B599-5085-CD9CD54A27ED}"/>
              </a:ext>
            </a:extLst>
          </p:cNvPr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5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3A80E5-8E75-C64B-87BB-81EA9F03B184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7A4316-3980-1B8A-2B11-08DC3A22C40E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5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345DAD-609D-E71E-B18C-AE97935E3BAC}"/>
              </a:ext>
            </a:extLst>
          </p:cNvPr>
          <p:cNvSpPr/>
          <p:nvPr/>
        </p:nvSpPr>
        <p:spPr>
          <a:xfrm>
            <a:off x="228600" y="0"/>
            <a:ext cx="11963095" cy="1188720"/>
          </a:xfrm>
          <a:prstGeom prst="rect">
            <a:avLst/>
          </a:prstGeom>
          <a:solidFill>
            <a:srgbClr val="005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BE81F3C-97B9-A19C-65FF-70BF4793A1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7958" y="965360"/>
            <a:ext cx="5195776" cy="5818187"/>
          </a:xfrm>
          <a:prstGeom prst="rect">
            <a:avLst/>
          </a:prstGeom>
        </p:spPr>
      </p:pic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A7F12B13-0447-A4D5-C727-6F650B37F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5A5D0-924F-4783-8430-C3B36E683FE9}" type="datetime1">
              <a:rPr lang="de-DE" smtClean="0"/>
              <a:t>10.09.26</a:t>
            </a:fld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CDDABBE-1FCF-AFEB-8C9E-91D0C1F2D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17</a:t>
            </a:fld>
            <a:endParaRPr lang="de-D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A0F4F1-DE73-C8ED-8342-FA8E250B68B3}"/>
              </a:ext>
            </a:extLst>
          </p:cNvPr>
          <p:cNvSpPr txBox="1"/>
          <p:nvPr/>
        </p:nvSpPr>
        <p:spPr>
          <a:xfrm>
            <a:off x="1712402" y="2970470"/>
            <a:ext cx="899548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noProof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Thank you for your attention</a:t>
            </a:r>
          </a:p>
        </p:txBody>
      </p:sp>
    </p:spTree>
    <p:extLst>
      <p:ext uri="{BB962C8B-B14F-4D97-AF65-F5344CB8AC3E}">
        <p14:creationId xmlns:p14="http://schemas.microsoft.com/office/powerpoint/2010/main" val="4203269009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503</Words>
  <Application>Microsoft Macintosh PowerPoint</Application>
  <PresentationFormat>Widescreen</PresentationFormat>
  <Paragraphs>153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Calibri Light</vt:lpstr>
      <vt:lpstr>Wingdings</vt:lpstr>
      <vt:lpstr>Larissa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Raphaël Seiler</cp:lastModifiedBy>
  <cp:revision>1</cp:revision>
  <cp:lastPrinted>2026-09-10T06:16:35Z</cp:lastPrinted>
  <dcterms:created xsi:type="dcterms:W3CDTF">2026-09-08T06:09:57Z</dcterms:created>
  <dcterms:modified xsi:type="dcterms:W3CDTF">2026-09-10T20:24:15Z</dcterms:modified>
  <cp:category/>
</cp:coreProperties>
</file>