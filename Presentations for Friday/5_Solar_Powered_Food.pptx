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64"/>
    <p:restoredTop sz="94610"/>
  </p:normalViewPr>
  <p:slideViewPr>
    <p:cSldViewPr snapToGrid="0" snapToObjects="1">
      <p:cViewPr>
        <p:scale>
          <a:sx n="133" d="100"/>
          <a:sy n="133" d="100"/>
        </p:scale>
        <p:origin x="944"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2011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point at the hot, empty parking lot. Ask the audience the question and pause for a moment. Then introduce the team and the topic.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today's situation using the three red markers: 1) cooling runs non-stop, 2) the power comes from the grid, 3) large surfaces like the parking lot just heat up in the sun.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and medicine both depend on reliable cooling, and hotter summers increase the demand. The curve shows the key insight: solar power and cooling demand peak at the same time of day.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sketch as before, now transformed. Walk through the five numbered parts: tracking carport as the main power source, the facade as a winter booster, the heat pump, the cold storage and the grid as backup.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Summer: plenty of solar power, surplus goes into cold storage, EVs or the grid, and the heat pump cools. Winter: less sun, but the facade and tilted carport panels catch the low sun; the heat pump heats and the grid covers the rest.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slide. Panels produce the most power when light hits them straight on. The tracking carport tilts to follow the sun. In winter the sun is low, so it hits the vertical facade almost head-on. Result: more of our own power in winter. Optional: demonstrate with a phone flashlight.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Costs: the facade replaces normal cladding, the carport uses existing space, tracking adds maintenance. Be honest about the trade-off: winter still needs the grid. Benefits: less CO2, EV charging, grid support through flexible cold storage, and safe food and medicine.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red thread: from today's supermarket that fights the sun to tomorrow's that uses it. Outlook: the idea also fits hospitals, pharmacies, logistics centers and hot countries with weak grids. End with the take-home message and open the discussion.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png"/><Relationship Id="rId7"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502920"/>
            <a:ext cx="8046720" cy="274320"/>
          </a:xfrm>
          <a:prstGeom prst="rect">
            <a:avLst/>
          </a:prstGeom>
          <a:noFill/>
          <a:ln/>
        </p:spPr>
        <p:txBody>
          <a:bodyPr wrap="square" lIns="0" tIns="0" rIns="0" bIns="0" rtlCol="0" anchor="ctr"/>
          <a:lstStyle/>
          <a:p>
            <a:pPr marL="0" indent="0">
              <a:buNone/>
            </a:pPr>
            <a:r>
              <a:rPr lang="en-US" sz="1100" b="1" kern="0" spc="200" dirty="0">
                <a:solidFill>
                  <a:srgbClr val="F7A325"/>
                </a:solidFill>
                <a:latin typeface="Calibri" pitchFamily="34" charset="0"/>
                <a:ea typeface="Calibri" pitchFamily="34" charset="-122"/>
                <a:cs typeface="Calibri" pitchFamily="34" charset="-120"/>
              </a:rPr>
              <a:t>GROUP 5  ·  SOLAR-POWERED COOLING FOR FOOD &amp; MEDICINE</a:t>
            </a:r>
            <a:endParaRPr lang="en-US" sz="1100" dirty="0"/>
          </a:p>
        </p:txBody>
      </p:sp>
      <p:sp>
        <p:nvSpPr>
          <p:cNvPr id="3" name="Text 1"/>
          <p:cNvSpPr txBox="1"/>
          <p:nvPr/>
        </p:nvSpPr>
        <p:spPr>
          <a:xfrm>
            <a:off x="548640" y="1005840"/>
            <a:ext cx="3657600" cy="1463040"/>
          </a:xfrm>
          <a:prstGeom prst="rect">
            <a:avLst/>
          </a:prstGeom>
          <a:noFill/>
          <a:ln/>
        </p:spPr>
        <p:txBody>
          <a:bodyPr wrap="square" lIns="0" tIns="0" rIns="0" bIns="0" rtlCol="0" anchor="t"/>
          <a:lstStyle/>
          <a:p>
            <a:pPr marL="0" indent="0">
              <a:buNone/>
            </a:pPr>
            <a:r>
              <a:rPr lang="en-US" sz="4600" b="1" dirty="0">
                <a:solidFill>
                  <a:srgbClr val="FFFFFF"/>
                </a:solidFill>
                <a:latin typeface="Calibri" pitchFamily="34" charset="0"/>
                <a:ea typeface="Calibri" pitchFamily="34" charset="-122"/>
                <a:cs typeface="Calibri" pitchFamily="34" charset="-120"/>
              </a:rPr>
              <a:t>Sun In,</a:t>
            </a:r>
            <a:endParaRPr lang="en-US" sz="4600" dirty="0"/>
          </a:p>
          <a:p>
            <a:pPr marL="0" indent="0">
              <a:buNone/>
            </a:pPr>
            <a:r>
              <a:rPr lang="en-US" sz="4600" b="1" dirty="0">
                <a:solidFill>
                  <a:srgbClr val="FFFFFF"/>
                </a:solidFill>
                <a:latin typeface="Calibri" pitchFamily="34" charset="0"/>
                <a:ea typeface="Calibri" pitchFamily="34" charset="-122"/>
                <a:cs typeface="Calibri" pitchFamily="34" charset="-120"/>
              </a:rPr>
              <a:t>Cold Out</a:t>
            </a:r>
            <a:endParaRPr lang="en-US" sz="4600" dirty="0"/>
          </a:p>
        </p:txBody>
      </p:sp>
      <p:sp>
        <p:nvSpPr>
          <p:cNvPr id="4" name="Text 2"/>
          <p:cNvSpPr txBox="1"/>
          <p:nvPr/>
        </p:nvSpPr>
        <p:spPr>
          <a:xfrm>
            <a:off x="548640" y="2560320"/>
            <a:ext cx="3657600" cy="365760"/>
          </a:xfrm>
          <a:prstGeom prst="rect">
            <a:avLst/>
          </a:prstGeom>
          <a:noFill/>
          <a:ln/>
        </p:spPr>
        <p:txBody>
          <a:bodyPr wrap="square" lIns="0" tIns="0" rIns="0" bIns="0" rtlCol="0" anchor="ctr"/>
          <a:lstStyle/>
          <a:p>
            <a:pPr marL="0" indent="0">
              <a:buNone/>
            </a:pPr>
            <a:r>
              <a:rPr lang="en-US" sz="2000" dirty="0">
                <a:solidFill>
                  <a:srgbClr val="CFE3EE"/>
                </a:solidFill>
                <a:latin typeface="Calibri" pitchFamily="34" charset="0"/>
                <a:ea typeface="Calibri" pitchFamily="34" charset="-122"/>
                <a:cs typeface="Calibri" pitchFamily="34" charset="-120"/>
              </a:rPr>
              <a:t>Rethinking the supermarket</a:t>
            </a:r>
            <a:endParaRPr lang="en-US" sz="2000" dirty="0"/>
          </a:p>
        </p:txBody>
      </p:sp>
      <p:sp>
        <p:nvSpPr>
          <p:cNvPr id="5" name="Text 3"/>
          <p:cNvSpPr txBox="1"/>
          <p:nvPr/>
        </p:nvSpPr>
        <p:spPr>
          <a:xfrm>
            <a:off x="548640" y="3337560"/>
            <a:ext cx="3474720" cy="731520"/>
          </a:xfrm>
          <a:prstGeom prst="rect">
            <a:avLst/>
          </a:prstGeom>
          <a:noFill/>
          <a:ln/>
        </p:spPr>
        <p:txBody>
          <a:bodyPr wrap="square" lIns="0" tIns="0" rIns="0" bIns="0" rtlCol="0" anchor="ctr"/>
          <a:lstStyle/>
          <a:p>
            <a:pPr marL="0" indent="0">
              <a:buNone/>
            </a:pPr>
            <a:r>
              <a:rPr lang="en-US" sz="1600" i="1" dirty="0">
                <a:solidFill>
                  <a:srgbClr val="F7A325"/>
                </a:solidFill>
                <a:latin typeface="Calibri" pitchFamily="34" charset="0"/>
                <a:ea typeface="Calibri" pitchFamily="34" charset="-122"/>
                <a:cs typeface="Calibri" pitchFamily="34" charset="-120"/>
              </a:rPr>
              <a:t>What if this parking lot could keep our food and medicine cold?</a:t>
            </a:r>
            <a:endParaRPr lang="en-US" sz="1600" dirty="0"/>
          </a:p>
        </p:txBody>
      </p:sp>
      <p:pic>
        <p:nvPicPr>
          <p:cNvPr id="6" name="Image 0" descr="preencoded.png"/>
          <p:cNvPicPr>
            <a:picLocks noChangeAspect="1"/>
          </p:cNvPicPr>
          <p:nvPr/>
        </p:nvPicPr>
        <p:blipFill>
          <a:blip r:embed="rId3"/>
          <a:stretch>
            <a:fillRect/>
          </a:stretch>
        </p:blipFill>
        <p:spPr>
          <a:xfrm>
            <a:off x="4343400" y="1097280"/>
            <a:ext cx="4343400" cy="24323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Today's supermarket</a:t>
            </a:r>
            <a:endParaRPr lang="en-US" sz="3200" dirty="0"/>
          </a:p>
        </p:txBody>
      </p:sp>
      <p:pic>
        <p:nvPicPr>
          <p:cNvPr id="3" name="Image 0" descr="preencoded.png"/>
          <p:cNvPicPr>
            <a:picLocks noChangeAspect="1"/>
          </p:cNvPicPr>
          <p:nvPr/>
        </p:nvPicPr>
        <p:blipFill>
          <a:blip r:embed="rId3"/>
          <a:stretch>
            <a:fillRect/>
          </a:stretch>
        </p:blipFill>
        <p:spPr>
          <a:xfrm>
            <a:off x="457200" y="1097280"/>
            <a:ext cx="4846320" cy="2715768"/>
          </a:xfrm>
          <a:prstGeom prst="rect">
            <a:avLst/>
          </a:prstGeom>
        </p:spPr>
      </p:pic>
      <p:sp>
        <p:nvSpPr>
          <p:cNvPr id="4" name="Shape 1"/>
          <p:cNvSpPr/>
          <p:nvPr/>
        </p:nvSpPr>
        <p:spPr>
          <a:xfrm>
            <a:off x="3200400" y="2072341"/>
            <a:ext cx="329184" cy="329184"/>
          </a:xfrm>
          <a:prstGeom prst="ellipse">
            <a:avLst/>
          </a:prstGeom>
          <a:solidFill>
            <a:srgbClr val="E4572E"/>
          </a:solidFill>
          <a:ln w="19050">
            <a:solidFill>
              <a:srgbClr val="FFFFFF"/>
            </a:solidFill>
            <a:prstDash val="solid"/>
          </a:ln>
        </p:spPr>
        <p:txBody>
          <a:bodyPr/>
          <a:lstStyle/>
          <a:p>
            <a:endParaRPr lang="de-DE"/>
          </a:p>
        </p:txBody>
      </p:sp>
      <p:sp>
        <p:nvSpPr>
          <p:cNvPr id="5" name="Text 2"/>
          <p:cNvSpPr txBox="1"/>
          <p:nvPr/>
        </p:nvSpPr>
        <p:spPr>
          <a:xfrm>
            <a:off x="3200400" y="2072341"/>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Shape 3"/>
          <p:cNvSpPr/>
          <p:nvPr/>
        </p:nvSpPr>
        <p:spPr>
          <a:xfrm>
            <a:off x="4983846" y="1660126"/>
            <a:ext cx="329184" cy="329184"/>
          </a:xfrm>
          <a:prstGeom prst="ellipse">
            <a:avLst/>
          </a:prstGeom>
          <a:solidFill>
            <a:srgbClr val="E4572E"/>
          </a:solidFill>
          <a:ln w="19050">
            <a:solidFill>
              <a:srgbClr val="FFFFFF"/>
            </a:solidFill>
            <a:prstDash val="solid"/>
          </a:ln>
        </p:spPr>
        <p:txBody>
          <a:bodyPr/>
          <a:lstStyle/>
          <a:p>
            <a:endParaRPr lang="de-DE"/>
          </a:p>
        </p:txBody>
      </p:sp>
      <p:sp>
        <p:nvSpPr>
          <p:cNvPr id="7" name="Text 4"/>
          <p:cNvSpPr txBox="1"/>
          <p:nvPr/>
        </p:nvSpPr>
        <p:spPr>
          <a:xfrm>
            <a:off x="4983846" y="166012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 name="Shape 5"/>
          <p:cNvSpPr/>
          <p:nvPr/>
        </p:nvSpPr>
        <p:spPr>
          <a:xfrm>
            <a:off x="1576883" y="2508803"/>
            <a:ext cx="329184" cy="329184"/>
          </a:xfrm>
          <a:prstGeom prst="ellipse">
            <a:avLst/>
          </a:prstGeom>
          <a:solidFill>
            <a:srgbClr val="E4572E"/>
          </a:solidFill>
          <a:ln w="19050">
            <a:solidFill>
              <a:srgbClr val="FFFFFF"/>
            </a:solidFill>
            <a:prstDash val="solid"/>
          </a:ln>
        </p:spPr>
        <p:txBody>
          <a:bodyPr/>
          <a:lstStyle/>
          <a:p>
            <a:endParaRPr lang="de-DE"/>
          </a:p>
        </p:txBody>
      </p:sp>
      <p:sp>
        <p:nvSpPr>
          <p:cNvPr id="9" name="Text 6"/>
          <p:cNvSpPr txBox="1"/>
          <p:nvPr/>
        </p:nvSpPr>
        <p:spPr>
          <a:xfrm>
            <a:off x="1576883" y="2508803"/>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0" name="Shape 7"/>
          <p:cNvSpPr/>
          <p:nvPr/>
        </p:nvSpPr>
        <p:spPr>
          <a:xfrm>
            <a:off x="5623560" y="1188720"/>
            <a:ext cx="384048" cy="384048"/>
          </a:xfrm>
          <a:prstGeom prst="ellipse">
            <a:avLst/>
          </a:prstGeom>
          <a:solidFill>
            <a:srgbClr val="E4572E"/>
          </a:solidFill>
          <a:ln w="19050">
            <a:solidFill>
              <a:srgbClr val="FFFFFF"/>
            </a:solidFill>
            <a:prstDash val="solid"/>
          </a:ln>
        </p:spPr>
        <p:txBody>
          <a:bodyPr/>
          <a:lstStyle/>
          <a:p>
            <a:endParaRPr lang="de-DE"/>
          </a:p>
        </p:txBody>
      </p:sp>
      <p:sp>
        <p:nvSpPr>
          <p:cNvPr id="11" name="Text 8"/>
          <p:cNvSpPr txBox="1"/>
          <p:nvPr/>
        </p:nvSpPr>
        <p:spPr>
          <a:xfrm>
            <a:off x="5623560" y="118872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9"/>
          <p:cNvSpPr txBox="1"/>
          <p:nvPr/>
        </p:nvSpPr>
        <p:spPr>
          <a:xfrm>
            <a:off x="6172200" y="1152144"/>
            <a:ext cx="2560320" cy="292608"/>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Cooling never stops</a:t>
            </a:r>
            <a:endParaRPr lang="en-US" sz="1600" dirty="0"/>
          </a:p>
        </p:txBody>
      </p:sp>
      <p:sp>
        <p:nvSpPr>
          <p:cNvPr id="13" name="Text 10"/>
          <p:cNvSpPr txBox="1"/>
          <p:nvPr/>
        </p:nvSpPr>
        <p:spPr>
          <a:xfrm>
            <a:off x="6172200" y="1463040"/>
            <a:ext cx="256032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Fridges and freezers run 24/7, all year</a:t>
            </a:r>
            <a:endParaRPr lang="en-US" sz="1300" dirty="0"/>
          </a:p>
        </p:txBody>
      </p:sp>
      <p:sp>
        <p:nvSpPr>
          <p:cNvPr id="14" name="Shape 11"/>
          <p:cNvSpPr/>
          <p:nvPr/>
        </p:nvSpPr>
        <p:spPr>
          <a:xfrm>
            <a:off x="5623560" y="2057400"/>
            <a:ext cx="384048" cy="384048"/>
          </a:xfrm>
          <a:prstGeom prst="ellipse">
            <a:avLst/>
          </a:prstGeom>
          <a:solidFill>
            <a:srgbClr val="E4572E"/>
          </a:solidFill>
          <a:ln w="19050">
            <a:solidFill>
              <a:srgbClr val="FFFFFF"/>
            </a:solidFill>
            <a:prstDash val="solid"/>
          </a:ln>
        </p:spPr>
        <p:txBody>
          <a:bodyPr/>
          <a:lstStyle/>
          <a:p>
            <a:endParaRPr lang="de-DE"/>
          </a:p>
        </p:txBody>
      </p:sp>
      <p:sp>
        <p:nvSpPr>
          <p:cNvPr id="15" name="Text 12"/>
          <p:cNvSpPr txBox="1"/>
          <p:nvPr/>
        </p:nvSpPr>
        <p:spPr>
          <a:xfrm>
            <a:off x="5623560" y="205740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txBox="1"/>
          <p:nvPr/>
        </p:nvSpPr>
        <p:spPr>
          <a:xfrm>
            <a:off x="6172200" y="2020824"/>
            <a:ext cx="2560320" cy="292608"/>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Power from the grid</a:t>
            </a:r>
            <a:endParaRPr lang="en-US" sz="1600" dirty="0"/>
          </a:p>
        </p:txBody>
      </p:sp>
      <p:sp>
        <p:nvSpPr>
          <p:cNvPr id="17" name="Text 14"/>
          <p:cNvSpPr txBox="1"/>
          <p:nvPr/>
        </p:nvSpPr>
        <p:spPr>
          <a:xfrm>
            <a:off x="6172200" y="2331720"/>
            <a:ext cx="256032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Partly still from fossil sources</a:t>
            </a:r>
            <a:endParaRPr lang="en-US" sz="1300" dirty="0"/>
          </a:p>
        </p:txBody>
      </p:sp>
      <p:sp>
        <p:nvSpPr>
          <p:cNvPr id="18" name="Shape 15"/>
          <p:cNvSpPr/>
          <p:nvPr/>
        </p:nvSpPr>
        <p:spPr>
          <a:xfrm>
            <a:off x="5623560" y="2926080"/>
            <a:ext cx="384048" cy="384048"/>
          </a:xfrm>
          <a:prstGeom prst="ellipse">
            <a:avLst/>
          </a:prstGeom>
          <a:solidFill>
            <a:srgbClr val="E4572E"/>
          </a:solidFill>
          <a:ln w="19050">
            <a:solidFill>
              <a:srgbClr val="FFFFFF"/>
            </a:solidFill>
            <a:prstDash val="solid"/>
          </a:ln>
        </p:spPr>
        <p:txBody>
          <a:bodyPr/>
          <a:lstStyle/>
          <a:p>
            <a:endParaRPr lang="de-DE"/>
          </a:p>
        </p:txBody>
      </p:sp>
      <p:sp>
        <p:nvSpPr>
          <p:cNvPr id="19" name="Text 16"/>
          <p:cNvSpPr txBox="1"/>
          <p:nvPr/>
        </p:nvSpPr>
        <p:spPr>
          <a:xfrm>
            <a:off x="5623560" y="2926080"/>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7"/>
          <p:cNvSpPr txBox="1"/>
          <p:nvPr/>
        </p:nvSpPr>
        <p:spPr>
          <a:xfrm>
            <a:off x="6172200" y="2889504"/>
            <a:ext cx="2560320" cy="292608"/>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Wasted surfaces</a:t>
            </a:r>
            <a:endParaRPr lang="en-US" sz="1600" dirty="0"/>
          </a:p>
        </p:txBody>
      </p:sp>
      <p:sp>
        <p:nvSpPr>
          <p:cNvPr id="21" name="Text 18"/>
          <p:cNvSpPr txBox="1"/>
          <p:nvPr/>
        </p:nvSpPr>
        <p:spPr>
          <a:xfrm>
            <a:off x="6172200" y="3200400"/>
            <a:ext cx="2560320" cy="457200"/>
          </a:xfrm>
          <a:prstGeom prst="rect">
            <a:avLst/>
          </a:prstGeom>
          <a:noFill/>
          <a:ln/>
        </p:spPr>
        <p:txBody>
          <a:bodyPr wrap="square" lIns="0" tIns="0" rIns="0" bIns="0" rtlCol="0" anchor="t"/>
          <a:lstStyle/>
          <a:p>
            <a:pPr marL="0" indent="0">
              <a:buNone/>
            </a:pPr>
            <a:r>
              <a:rPr lang="en-US" sz="1300" dirty="0">
                <a:solidFill>
                  <a:srgbClr val="5C6B7A"/>
                </a:solidFill>
                <a:latin typeface="Calibri" pitchFamily="34" charset="0"/>
                <a:ea typeface="Calibri" pitchFamily="34" charset="-122"/>
                <a:cs typeface="Calibri" pitchFamily="34" charset="-120"/>
              </a:rPr>
              <a:t>Parking lot, roof and facade just heat up</a:t>
            </a:r>
            <a:endParaRPr lang="en-US" sz="1300" dirty="0"/>
          </a:p>
        </p:txBody>
      </p:sp>
      <p:sp>
        <p:nvSpPr>
          <p:cNvPr id="22" name="Text 19"/>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500" i="1" dirty="0">
                <a:solidFill>
                  <a:srgbClr val="E4572E"/>
                </a:solidFill>
                <a:latin typeface="Calibri" pitchFamily="34" charset="0"/>
                <a:ea typeface="Calibri" pitchFamily="34" charset="-122"/>
                <a:cs typeface="Calibri" pitchFamily="34" charset="-120"/>
              </a:rPr>
              <a:t>A lot of energy and a lot of space, but they are not working together.</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Why cooling matters</a:t>
            </a:r>
            <a:endParaRPr lang="en-US" sz="3200" dirty="0"/>
          </a:p>
        </p:txBody>
      </p:sp>
      <p:sp>
        <p:nvSpPr>
          <p:cNvPr id="3" name="Shape 1"/>
          <p:cNvSpPr/>
          <p:nvPr/>
        </p:nvSpPr>
        <p:spPr>
          <a:xfrm>
            <a:off x="457200" y="1097280"/>
            <a:ext cx="2606040" cy="1417320"/>
          </a:xfrm>
          <a:prstGeom prst="roundRect">
            <a:avLst>
              <a:gd name="adj" fmla="val 7742"/>
            </a:avLst>
          </a:prstGeom>
          <a:solidFill>
            <a:srgbClr val="F4F7FA"/>
          </a:solidFill>
          <a:ln w="12700">
            <a:solidFill>
              <a:srgbClr val="F4F7FA"/>
            </a:solidFill>
            <a:prstDash val="solid"/>
          </a:ln>
        </p:spPr>
        <p:txBody>
          <a:bodyPr/>
          <a:lstStyle/>
          <a:p>
            <a:endParaRPr lang="de-DE"/>
          </a:p>
        </p:txBody>
      </p:sp>
      <p:sp>
        <p:nvSpPr>
          <p:cNvPr id="4" name="Shape 2"/>
          <p:cNvSpPr/>
          <p:nvPr/>
        </p:nvSpPr>
        <p:spPr>
          <a:xfrm>
            <a:off x="685800" y="1280160"/>
            <a:ext cx="548640" cy="548640"/>
          </a:xfrm>
          <a:prstGeom prst="ellipse">
            <a:avLst/>
          </a:prstGeom>
          <a:solidFill>
            <a:srgbClr val="F7A325"/>
          </a:solidFill>
          <a:ln w="12700">
            <a:solidFill>
              <a:srgbClr val="F7A325"/>
            </a:solidFill>
            <a:prstDash val="solid"/>
          </a:ln>
        </p:spPr>
        <p:txBody>
          <a:bodyPr/>
          <a:lstStyle/>
          <a:p>
            <a:endParaRPr lang="de-DE"/>
          </a:p>
        </p:txBody>
      </p:sp>
      <p:pic>
        <p:nvPicPr>
          <p:cNvPr id="5" name="Image 0" descr="preencoded.png"/>
          <p:cNvPicPr>
            <a:picLocks noChangeAspect="1"/>
          </p:cNvPicPr>
          <p:nvPr/>
        </p:nvPicPr>
        <p:blipFill>
          <a:blip r:embed="rId3"/>
          <a:stretch>
            <a:fillRect/>
          </a:stretch>
        </p:blipFill>
        <p:spPr>
          <a:xfrm>
            <a:off x="822960" y="1417320"/>
            <a:ext cx="274320" cy="274320"/>
          </a:xfrm>
          <a:prstGeom prst="rect">
            <a:avLst/>
          </a:prstGeom>
        </p:spPr>
      </p:pic>
      <p:sp>
        <p:nvSpPr>
          <p:cNvPr id="6" name="Text 3"/>
          <p:cNvSpPr txBox="1"/>
          <p:nvPr/>
        </p:nvSpPr>
        <p:spPr>
          <a:xfrm>
            <a:off x="1371600" y="1371600"/>
            <a:ext cx="1600200" cy="36576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Food</a:t>
            </a:r>
            <a:endParaRPr lang="en-US" sz="1700" dirty="0"/>
          </a:p>
        </p:txBody>
      </p:sp>
      <p:sp>
        <p:nvSpPr>
          <p:cNvPr id="7" name="Text 4"/>
          <p:cNvSpPr txBox="1"/>
          <p:nvPr/>
        </p:nvSpPr>
        <p:spPr>
          <a:xfrm>
            <a:off x="685800" y="1920240"/>
            <a:ext cx="2194560" cy="50292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Without cold, food spoils and is thrown away</a:t>
            </a:r>
            <a:endParaRPr lang="en-US" sz="1250" dirty="0"/>
          </a:p>
        </p:txBody>
      </p:sp>
      <p:sp>
        <p:nvSpPr>
          <p:cNvPr id="8" name="Shape 5"/>
          <p:cNvSpPr/>
          <p:nvPr/>
        </p:nvSpPr>
        <p:spPr>
          <a:xfrm>
            <a:off x="3291840" y="1097280"/>
            <a:ext cx="2606040" cy="1417320"/>
          </a:xfrm>
          <a:prstGeom prst="roundRect">
            <a:avLst>
              <a:gd name="adj" fmla="val 7742"/>
            </a:avLst>
          </a:prstGeom>
          <a:solidFill>
            <a:srgbClr val="F4F7FA"/>
          </a:solidFill>
          <a:ln w="12700">
            <a:solidFill>
              <a:srgbClr val="F4F7FA"/>
            </a:solidFill>
            <a:prstDash val="solid"/>
          </a:ln>
        </p:spPr>
        <p:txBody>
          <a:bodyPr/>
          <a:lstStyle/>
          <a:p>
            <a:endParaRPr lang="de-DE"/>
          </a:p>
        </p:txBody>
      </p:sp>
      <p:sp>
        <p:nvSpPr>
          <p:cNvPr id="9" name="Shape 6"/>
          <p:cNvSpPr/>
          <p:nvPr/>
        </p:nvSpPr>
        <p:spPr>
          <a:xfrm>
            <a:off x="3520440" y="1280160"/>
            <a:ext cx="548640" cy="548640"/>
          </a:xfrm>
          <a:prstGeom prst="ellipse">
            <a:avLst/>
          </a:prstGeom>
          <a:solidFill>
            <a:srgbClr val="2A8C8A"/>
          </a:solidFill>
          <a:ln w="12700">
            <a:solidFill>
              <a:srgbClr val="2A8C8A"/>
            </a:solidFill>
            <a:prstDash val="solid"/>
          </a:ln>
        </p:spPr>
        <p:txBody>
          <a:bodyPr/>
          <a:lstStyle/>
          <a:p>
            <a:endParaRPr lang="de-DE"/>
          </a:p>
        </p:txBody>
      </p:sp>
      <p:pic>
        <p:nvPicPr>
          <p:cNvPr id="10" name="Image 1" descr="preencoded.png"/>
          <p:cNvPicPr>
            <a:picLocks noChangeAspect="1"/>
          </p:cNvPicPr>
          <p:nvPr/>
        </p:nvPicPr>
        <p:blipFill>
          <a:blip r:embed="rId4"/>
          <a:stretch>
            <a:fillRect/>
          </a:stretch>
        </p:blipFill>
        <p:spPr>
          <a:xfrm>
            <a:off x="3657600" y="1417320"/>
            <a:ext cx="274320" cy="274320"/>
          </a:xfrm>
          <a:prstGeom prst="rect">
            <a:avLst/>
          </a:prstGeom>
        </p:spPr>
      </p:pic>
      <p:sp>
        <p:nvSpPr>
          <p:cNvPr id="11" name="Text 7"/>
          <p:cNvSpPr txBox="1"/>
          <p:nvPr/>
        </p:nvSpPr>
        <p:spPr>
          <a:xfrm>
            <a:off x="4206240" y="1371600"/>
            <a:ext cx="1600200" cy="36576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Medicine</a:t>
            </a:r>
            <a:endParaRPr lang="en-US" sz="1700" dirty="0"/>
          </a:p>
        </p:txBody>
      </p:sp>
      <p:sp>
        <p:nvSpPr>
          <p:cNvPr id="12" name="Text 8"/>
          <p:cNvSpPr txBox="1"/>
          <p:nvPr/>
        </p:nvSpPr>
        <p:spPr>
          <a:xfrm>
            <a:off x="3520440" y="1920240"/>
            <a:ext cx="2194560" cy="50292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Insulin and vaccines lose their effect when warm</a:t>
            </a:r>
            <a:endParaRPr lang="en-US" sz="1250" dirty="0"/>
          </a:p>
        </p:txBody>
      </p:sp>
      <p:sp>
        <p:nvSpPr>
          <p:cNvPr id="13" name="Shape 9"/>
          <p:cNvSpPr/>
          <p:nvPr/>
        </p:nvSpPr>
        <p:spPr>
          <a:xfrm>
            <a:off x="6126480" y="1097280"/>
            <a:ext cx="2606040" cy="1417320"/>
          </a:xfrm>
          <a:prstGeom prst="roundRect">
            <a:avLst>
              <a:gd name="adj" fmla="val 7742"/>
            </a:avLst>
          </a:prstGeom>
          <a:solidFill>
            <a:srgbClr val="F4F7FA"/>
          </a:solidFill>
          <a:ln w="12700">
            <a:solidFill>
              <a:srgbClr val="F4F7FA"/>
            </a:solidFill>
            <a:prstDash val="solid"/>
          </a:ln>
        </p:spPr>
        <p:txBody>
          <a:bodyPr/>
          <a:lstStyle/>
          <a:p>
            <a:endParaRPr lang="de-DE"/>
          </a:p>
        </p:txBody>
      </p:sp>
      <p:sp>
        <p:nvSpPr>
          <p:cNvPr id="14" name="Shape 10"/>
          <p:cNvSpPr/>
          <p:nvPr/>
        </p:nvSpPr>
        <p:spPr>
          <a:xfrm>
            <a:off x="6355080" y="1280160"/>
            <a:ext cx="548640" cy="548640"/>
          </a:xfrm>
          <a:prstGeom prst="ellipse">
            <a:avLst/>
          </a:prstGeom>
          <a:solidFill>
            <a:srgbClr val="E4572E"/>
          </a:solidFill>
          <a:ln w="12700">
            <a:solidFill>
              <a:srgbClr val="E4572E"/>
            </a:solidFill>
            <a:prstDash val="solid"/>
          </a:ln>
        </p:spPr>
        <p:txBody>
          <a:bodyPr/>
          <a:lstStyle/>
          <a:p>
            <a:endParaRPr lang="de-DE"/>
          </a:p>
        </p:txBody>
      </p:sp>
      <p:pic>
        <p:nvPicPr>
          <p:cNvPr id="15" name="Image 2" descr="preencoded.png"/>
          <p:cNvPicPr>
            <a:picLocks noChangeAspect="1"/>
          </p:cNvPicPr>
          <p:nvPr/>
        </p:nvPicPr>
        <p:blipFill>
          <a:blip r:embed="rId5"/>
          <a:stretch>
            <a:fillRect/>
          </a:stretch>
        </p:blipFill>
        <p:spPr>
          <a:xfrm>
            <a:off x="6492240" y="1417320"/>
            <a:ext cx="274320" cy="274320"/>
          </a:xfrm>
          <a:prstGeom prst="rect">
            <a:avLst/>
          </a:prstGeom>
        </p:spPr>
      </p:pic>
      <p:sp>
        <p:nvSpPr>
          <p:cNvPr id="16" name="Text 11"/>
          <p:cNvSpPr txBox="1"/>
          <p:nvPr/>
        </p:nvSpPr>
        <p:spPr>
          <a:xfrm>
            <a:off x="7040880" y="1371600"/>
            <a:ext cx="1600200" cy="365760"/>
          </a:xfrm>
          <a:prstGeom prst="rect">
            <a:avLst/>
          </a:prstGeom>
          <a:noFill/>
          <a:ln/>
        </p:spPr>
        <p:txBody>
          <a:bodyPr wrap="square" lIns="0" tIns="0" rIns="0" bIns="0" rtlCol="0" anchor="ctr"/>
          <a:lstStyle/>
          <a:p>
            <a:pPr marL="0" indent="0">
              <a:buNone/>
            </a:pPr>
            <a:r>
              <a:rPr lang="en-US" sz="1700" b="1" dirty="0">
                <a:solidFill>
                  <a:srgbClr val="14213D"/>
                </a:solidFill>
                <a:latin typeface="Calibri" pitchFamily="34" charset="0"/>
                <a:ea typeface="Calibri" pitchFamily="34" charset="-122"/>
                <a:cs typeface="Calibri" pitchFamily="34" charset="-120"/>
              </a:rPr>
              <a:t>Hotter summers</a:t>
            </a:r>
            <a:endParaRPr lang="en-US" sz="1700" dirty="0"/>
          </a:p>
        </p:txBody>
      </p:sp>
      <p:sp>
        <p:nvSpPr>
          <p:cNvPr id="17" name="Text 12"/>
          <p:cNvSpPr txBox="1"/>
          <p:nvPr/>
        </p:nvSpPr>
        <p:spPr>
          <a:xfrm>
            <a:off x="6355080" y="1920240"/>
            <a:ext cx="2194560" cy="50292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The demand for cooling keeps rising</a:t>
            </a:r>
            <a:endParaRPr lang="en-US" sz="1250" dirty="0"/>
          </a:p>
        </p:txBody>
      </p:sp>
      <p:pic>
        <p:nvPicPr>
          <p:cNvPr id="18" name="Image 3" descr="preencoded.png"/>
          <p:cNvPicPr>
            <a:picLocks noChangeAspect="1"/>
          </p:cNvPicPr>
          <p:nvPr/>
        </p:nvPicPr>
        <p:blipFill>
          <a:blip r:embed="rId6"/>
          <a:stretch>
            <a:fillRect/>
          </a:stretch>
        </p:blipFill>
        <p:spPr>
          <a:xfrm>
            <a:off x="457200" y="2743200"/>
            <a:ext cx="3840480" cy="1810512"/>
          </a:xfrm>
          <a:prstGeom prst="rect">
            <a:avLst/>
          </a:prstGeom>
        </p:spPr>
      </p:pic>
      <p:sp>
        <p:nvSpPr>
          <p:cNvPr id="19" name="Text 13"/>
          <p:cNvSpPr txBox="1"/>
          <p:nvPr/>
        </p:nvSpPr>
        <p:spPr>
          <a:xfrm>
            <a:off x="4663440" y="2971800"/>
            <a:ext cx="4023360" cy="274320"/>
          </a:xfrm>
          <a:prstGeom prst="rect">
            <a:avLst/>
          </a:prstGeom>
          <a:noFill/>
          <a:ln/>
        </p:spPr>
        <p:txBody>
          <a:bodyPr wrap="square" lIns="0" tIns="0" rIns="0" bIns="0" rtlCol="0" anchor="ctr"/>
          <a:lstStyle/>
          <a:p>
            <a:pPr marL="0" indent="0">
              <a:buNone/>
            </a:pPr>
            <a:r>
              <a:rPr lang="en-US" sz="1200" b="1" kern="0" spc="200" dirty="0">
                <a:solidFill>
                  <a:srgbClr val="B45F06"/>
                </a:solidFill>
                <a:latin typeface="Calibri" pitchFamily="34" charset="0"/>
                <a:ea typeface="Calibri" pitchFamily="34" charset="-122"/>
                <a:cs typeface="Calibri" pitchFamily="34" charset="-120"/>
              </a:rPr>
              <a:t>KEY INSIGHT</a:t>
            </a:r>
            <a:endParaRPr lang="en-US" sz="1200" dirty="0"/>
          </a:p>
        </p:txBody>
      </p:sp>
      <p:sp>
        <p:nvSpPr>
          <p:cNvPr id="20" name="Text 14"/>
          <p:cNvSpPr txBox="1"/>
          <p:nvPr/>
        </p:nvSpPr>
        <p:spPr>
          <a:xfrm>
            <a:off x="4663440" y="3291840"/>
            <a:ext cx="4023360" cy="1097280"/>
          </a:xfrm>
          <a:prstGeom prst="rect">
            <a:avLst/>
          </a:prstGeom>
          <a:noFill/>
          <a:ln/>
        </p:spPr>
        <p:txBody>
          <a:bodyPr wrap="square" lIns="0" tIns="0" rIns="0" bIns="0" rtlCol="0" anchor="t"/>
          <a:lstStyle/>
          <a:p>
            <a:pPr marL="0" indent="0">
              <a:buNone/>
            </a:pPr>
            <a:r>
              <a:rPr lang="en-US" sz="2400" b="1" dirty="0">
                <a:solidFill>
                  <a:srgbClr val="14213D"/>
                </a:solidFill>
                <a:latin typeface="Calibri" pitchFamily="34" charset="0"/>
                <a:ea typeface="Calibri" pitchFamily="34" charset="-122"/>
                <a:cs typeface="Calibri" pitchFamily="34" charset="-120"/>
              </a:rPr>
              <a:t>The sun shines strongest exactly when we need the most cooling.</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Our idea: the solar supermarket</a:t>
            </a:r>
            <a:endParaRPr lang="en-US" sz="3200" dirty="0"/>
          </a:p>
        </p:txBody>
      </p:sp>
      <p:pic>
        <p:nvPicPr>
          <p:cNvPr id="3" name="Image 0" descr="preencoded.png"/>
          <p:cNvPicPr>
            <a:picLocks noChangeAspect="1"/>
          </p:cNvPicPr>
          <p:nvPr/>
        </p:nvPicPr>
        <p:blipFill>
          <a:blip r:embed="rId3"/>
          <a:stretch>
            <a:fillRect/>
          </a:stretch>
        </p:blipFill>
        <p:spPr>
          <a:xfrm>
            <a:off x="457200" y="1051560"/>
            <a:ext cx="5029200" cy="2816352"/>
          </a:xfrm>
          <a:prstGeom prst="rect">
            <a:avLst/>
          </a:prstGeom>
        </p:spPr>
      </p:pic>
      <p:sp>
        <p:nvSpPr>
          <p:cNvPr id="4" name="Shape 1"/>
          <p:cNvSpPr/>
          <p:nvPr/>
        </p:nvSpPr>
        <p:spPr>
          <a:xfrm>
            <a:off x="754380" y="2213762"/>
            <a:ext cx="310896" cy="310896"/>
          </a:xfrm>
          <a:prstGeom prst="ellipse">
            <a:avLst/>
          </a:prstGeom>
          <a:solidFill>
            <a:srgbClr val="2A8C8A"/>
          </a:solidFill>
          <a:ln w="19050">
            <a:solidFill>
              <a:srgbClr val="FFFFFF"/>
            </a:solidFill>
            <a:prstDash val="solid"/>
          </a:ln>
        </p:spPr>
        <p:txBody>
          <a:bodyPr/>
          <a:lstStyle/>
          <a:p>
            <a:endParaRPr lang="de-DE"/>
          </a:p>
        </p:txBody>
      </p:sp>
      <p:sp>
        <p:nvSpPr>
          <p:cNvPr id="5" name="Text 2"/>
          <p:cNvSpPr txBox="1"/>
          <p:nvPr/>
        </p:nvSpPr>
        <p:spPr>
          <a:xfrm>
            <a:off x="754380" y="221376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Shape 3"/>
          <p:cNvSpPr/>
          <p:nvPr/>
        </p:nvSpPr>
        <p:spPr>
          <a:xfrm>
            <a:off x="3243834" y="2917850"/>
            <a:ext cx="310896" cy="310896"/>
          </a:xfrm>
          <a:prstGeom prst="ellipse">
            <a:avLst/>
          </a:prstGeom>
          <a:solidFill>
            <a:srgbClr val="2A8C8A"/>
          </a:solidFill>
          <a:ln w="19050">
            <a:solidFill>
              <a:srgbClr val="FFFFFF"/>
            </a:solidFill>
            <a:prstDash val="solid"/>
          </a:ln>
        </p:spPr>
        <p:txBody>
          <a:bodyPr/>
          <a:lstStyle/>
          <a:p>
            <a:endParaRPr lang="de-DE"/>
          </a:p>
        </p:txBody>
      </p:sp>
      <p:sp>
        <p:nvSpPr>
          <p:cNvPr id="7" name="Text 4"/>
          <p:cNvSpPr txBox="1"/>
          <p:nvPr/>
        </p:nvSpPr>
        <p:spPr>
          <a:xfrm>
            <a:off x="3243834" y="291785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8" name="Shape 5"/>
          <p:cNvSpPr/>
          <p:nvPr/>
        </p:nvSpPr>
        <p:spPr>
          <a:xfrm>
            <a:off x="4843120" y="2817266"/>
            <a:ext cx="310896" cy="310896"/>
          </a:xfrm>
          <a:prstGeom prst="ellipse">
            <a:avLst/>
          </a:prstGeom>
          <a:solidFill>
            <a:srgbClr val="2A8C8A"/>
          </a:solidFill>
          <a:ln w="19050">
            <a:solidFill>
              <a:srgbClr val="FFFFFF"/>
            </a:solidFill>
            <a:prstDash val="solid"/>
          </a:ln>
        </p:spPr>
        <p:txBody>
          <a:bodyPr/>
          <a:lstStyle/>
          <a:p>
            <a:endParaRPr lang="de-DE"/>
          </a:p>
        </p:txBody>
      </p:sp>
      <p:sp>
        <p:nvSpPr>
          <p:cNvPr id="9" name="Text 6"/>
          <p:cNvSpPr txBox="1"/>
          <p:nvPr/>
        </p:nvSpPr>
        <p:spPr>
          <a:xfrm>
            <a:off x="4843120" y="281726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Shape 9"/>
          <p:cNvSpPr/>
          <p:nvPr/>
        </p:nvSpPr>
        <p:spPr>
          <a:xfrm>
            <a:off x="5170018" y="1650492"/>
            <a:ext cx="310896" cy="310896"/>
          </a:xfrm>
          <a:prstGeom prst="ellipse">
            <a:avLst/>
          </a:prstGeom>
          <a:solidFill>
            <a:srgbClr val="2A8C8A"/>
          </a:solidFill>
          <a:ln w="19050">
            <a:solidFill>
              <a:srgbClr val="FFFFFF"/>
            </a:solidFill>
            <a:prstDash val="solid"/>
          </a:ln>
        </p:spPr>
        <p:txBody>
          <a:bodyPr/>
          <a:lstStyle/>
          <a:p>
            <a:endParaRPr lang="de-DE"/>
          </a:p>
        </p:txBody>
      </p:sp>
      <p:sp>
        <p:nvSpPr>
          <p:cNvPr id="13" name="Text 10"/>
          <p:cNvSpPr txBox="1"/>
          <p:nvPr/>
        </p:nvSpPr>
        <p:spPr>
          <a:xfrm>
            <a:off x="5170018" y="165049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cs typeface="Calibri" pitchFamily="34" charset="-120"/>
              </a:rPr>
              <a:t>4</a:t>
            </a:r>
            <a:endParaRPr lang="en-US" sz="1200" dirty="0"/>
          </a:p>
        </p:txBody>
      </p:sp>
      <p:sp>
        <p:nvSpPr>
          <p:cNvPr id="14" name="Shape 11"/>
          <p:cNvSpPr/>
          <p:nvPr/>
        </p:nvSpPr>
        <p:spPr>
          <a:xfrm>
            <a:off x="5760720" y="1133856"/>
            <a:ext cx="310896" cy="310896"/>
          </a:xfrm>
          <a:prstGeom prst="ellipse">
            <a:avLst/>
          </a:prstGeom>
          <a:solidFill>
            <a:srgbClr val="2A8C8A"/>
          </a:solidFill>
          <a:ln w="19050">
            <a:solidFill>
              <a:srgbClr val="FFFFFF"/>
            </a:solidFill>
            <a:prstDash val="solid"/>
          </a:ln>
        </p:spPr>
        <p:txBody>
          <a:bodyPr/>
          <a:lstStyle/>
          <a:p>
            <a:endParaRPr lang="de-DE"/>
          </a:p>
        </p:txBody>
      </p:sp>
      <p:sp>
        <p:nvSpPr>
          <p:cNvPr id="15" name="Text 12"/>
          <p:cNvSpPr txBox="1"/>
          <p:nvPr/>
        </p:nvSpPr>
        <p:spPr>
          <a:xfrm>
            <a:off x="5760720" y="113385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6" name="Text 13"/>
          <p:cNvSpPr txBox="1"/>
          <p:nvPr/>
        </p:nvSpPr>
        <p:spPr>
          <a:xfrm>
            <a:off x="6217920" y="1097280"/>
            <a:ext cx="2560320" cy="256032"/>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Tracking PV carport</a:t>
            </a:r>
            <a:endParaRPr lang="en-US" sz="1400" dirty="0"/>
          </a:p>
        </p:txBody>
      </p:sp>
      <p:sp>
        <p:nvSpPr>
          <p:cNvPr id="17" name="Text 14"/>
          <p:cNvSpPr txBox="1"/>
          <p:nvPr/>
        </p:nvSpPr>
        <p:spPr>
          <a:xfrm>
            <a:off x="6217920" y="1344168"/>
            <a:ext cx="2560320" cy="237744"/>
          </a:xfrm>
          <a:prstGeom prst="rect">
            <a:avLst/>
          </a:prstGeom>
          <a:noFill/>
          <a:ln/>
        </p:spPr>
        <p:txBody>
          <a:bodyPr wrap="square" lIns="0" tIns="0" rIns="0" bIns="0" rtlCol="0" anchor="ctr"/>
          <a:lstStyle/>
          <a:p>
            <a:pPr marL="0" indent="0">
              <a:buNone/>
            </a:pPr>
            <a:r>
              <a:rPr lang="en-US" sz="1150" dirty="0">
                <a:solidFill>
                  <a:srgbClr val="5C6B7A"/>
                </a:solidFill>
                <a:latin typeface="Calibri" pitchFamily="34" charset="0"/>
                <a:ea typeface="Calibri" pitchFamily="34" charset="-122"/>
                <a:cs typeface="Calibri" pitchFamily="34" charset="-120"/>
              </a:rPr>
              <a:t>Main power source, follows the sun</a:t>
            </a:r>
            <a:endParaRPr lang="en-US" sz="1150" dirty="0"/>
          </a:p>
        </p:txBody>
      </p:sp>
      <p:sp>
        <p:nvSpPr>
          <p:cNvPr id="18" name="Shape 15"/>
          <p:cNvSpPr/>
          <p:nvPr/>
        </p:nvSpPr>
        <p:spPr>
          <a:xfrm>
            <a:off x="5760720" y="1700784"/>
            <a:ext cx="310896" cy="310896"/>
          </a:xfrm>
          <a:prstGeom prst="ellipse">
            <a:avLst/>
          </a:prstGeom>
          <a:solidFill>
            <a:srgbClr val="2A8C8A"/>
          </a:solidFill>
          <a:ln w="19050">
            <a:solidFill>
              <a:srgbClr val="FFFFFF"/>
            </a:solidFill>
            <a:prstDash val="solid"/>
          </a:ln>
        </p:spPr>
        <p:txBody>
          <a:bodyPr/>
          <a:lstStyle/>
          <a:p>
            <a:endParaRPr lang="de-DE"/>
          </a:p>
        </p:txBody>
      </p:sp>
      <p:sp>
        <p:nvSpPr>
          <p:cNvPr id="19" name="Text 16"/>
          <p:cNvSpPr txBox="1"/>
          <p:nvPr/>
        </p:nvSpPr>
        <p:spPr>
          <a:xfrm>
            <a:off x="5760720" y="170078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0" name="Text 17"/>
          <p:cNvSpPr txBox="1"/>
          <p:nvPr/>
        </p:nvSpPr>
        <p:spPr>
          <a:xfrm>
            <a:off x="6217920" y="1664208"/>
            <a:ext cx="2560320" cy="256032"/>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PV facade</a:t>
            </a:r>
            <a:endParaRPr lang="en-US" sz="1400" dirty="0"/>
          </a:p>
        </p:txBody>
      </p:sp>
      <p:sp>
        <p:nvSpPr>
          <p:cNvPr id="21" name="Text 18"/>
          <p:cNvSpPr txBox="1"/>
          <p:nvPr/>
        </p:nvSpPr>
        <p:spPr>
          <a:xfrm>
            <a:off x="6217920" y="1911096"/>
            <a:ext cx="2560320" cy="237744"/>
          </a:xfrm>
          <a:prstGeom prst="rect">
            <a:avLst/>
          </a:prstGeom>
          <a:noFill/>
          <a:ln/>
        </p:spPr>
        <p:txBody>
          <a:bodyPr wrap="square" lIns="0" tIns="0" rIns="0" bIns="0" rtlCol="0" anchor="ctr"/>
          <a:lstStyle/>
          <a:p>
            <a:pPr marL="0" indent="0">
              <a:buNone/>
            </a:pPr>
            <a:r>
              <a:rPr lang="en-US" sz="1150" dirty="0">
                <a:solidFill>
                  <a:srgbClr val="5C6B7A"/>
                </a:solidFill>
                <a:latin typeface="Calibri" pitchFamily="34" charset="0"/>
                <a:ea typeface="Calibri" pitchFamily="34" charset="-122"/>
                <a:cs typeface="Calibri" pitchFamily="34" charset="-120"/>
              </a:rPr>
              <a:t>The winter booster</a:t>
            </a:r>
            <a:endParaRPr lang="en-US" sz="1150" dirty="0"/>
          </a:p>
        </p:txBody>
      </p:sp>
      <p:sp>
        <p:nvSpPr>
          <p:cNvPr id="22" name="Shape 19"/>
          <p:cNvSpPr/>
          <p:nvPr/>
        </p:nvSpPr>
        <p:spPr>
          <a:xfrm>
            <a:off x="5760720" y="2267712"/>
            <a:ext cx="310896" cy="310896"/>
          </a:xfrm>
          <a:prstGeom prst="ellipse">
            <a:avLst/>
          </a:prstGeom>
          <a:solidFill>
            <a:srgbClr val="2A8C8A"/>
          </a:solidFill>
          <a:ln w="19050">
            <a:solidFill>
              <a:srgbClr val="FFFFFF"/>
            </a:solidFill>
            <a:prstDash val="solid"/>
          </a:ln>
        </p:spPr>
        <p:txBody>
          <a:bodyPr/>
          <a:lstStyle/>
          <a:p>
            <a:endParaRPr lang="de-DE"/>
          </a:p>
        </p:txBody>
      </p:sp>
      <p:sp>
        <p:nvSpPr>
          <p:cNvPr id="23" name="Text 20"/>
          <p:cNvSpPr txBox="1"/>
          <p:nvPr/>
        </p:nvSpPr>
        <p:spPr>
          <a:xfrm>
            <a:off x="5760720" y="22677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4" name="Text 21"/>
          <p:cNvSpPr txBox="1"/>
          <p:nvPr/>
        </p:nvSpPr>
        <p:spPr>
          <a:xfrm>
            <a:off x="6217920" y="2231136"/>
            <a:ext cx="2560320" cy="256032"/>
          </a:xfrm>
          <a:prstGeom prst="rect">
            <a:avLst/>
          </a:prstGeom>
          <a:noFill/>
          <a:ln/>
        </p:spPr>
        <p:txBody>
          <a:bodyPr wrap="square" lIns="0" tIns="0" rIns="0" bIns="0" rtlCol="0" anchor="ctr"/>
          <a:lstStyle/>
          <a:p>
            <a:pPr marL="0" indent="0">
              <a:buNone/>
            </a:pPr>
            <a:r>
              <a:rPr lang="en-US" sz="1400" b="1" dirty="0">
                <a:solidFill>
                  <a:srgbClr val="14213D"/>
                </a:solidFill>
                <a:latin typeface="Calibri" pitchFamily="34" charset="0"/>
                <a:ea typeface="Calibri" pitchFamily="34" charset="-122"/>
                <a:cs typeface="Calibri" pitchFamily="34" charset="-120"/>
              </a:rPr>
              <a:t>Heat pump</a:t>
            </a:r>
            <a:endParaRPr lang="en-US" sz="1400" dirty="0"/>
          </a:p>
        </p:txBody>
      </p:sp>
      <p:sp>
        <p:nvSpPr>
          <p:cNvPr id="25" name="Text 22"/>
          <p:cNvSpPr txBox="1"/>
          <p:nvPr/>
        </p:nvSpPr>
        <p:spPr>
          <a:xfrm>
            <a:off x="6217920" y="2478024"/>
            <a:ext cx="2560320" cy="237744"/>
          </a:xfrm>
          <a:prstGeom prst="rect">
            <a:avLst/>
          </a:prstGeom>
          <a:noFill/>
          <a:ln/>
        </p:spPr>
        <p:txBody>
          <a:bodyPr wrap="square" lIns="0" tIns="0" rIns="0" bIns="0" rtlCol="0" anchor="ctr"/>
          <a:lstStyle/>
          <a:p>
            <a:pPr marL="0" indent="0">
              <a:buNone/>
            </a:pPr>
            <a:r>
              <a:rPr lang="en-US" sz="1150" dirty="0">
                <a:solidFill>
                  <a:srgbClr val="5C6B7A"/>
                </a:solidFill>
                <a:latin typeface="Calibri" pitchFamily="34" charset="0"/>
                <a:ea typeface="Calibri" pitchFamily="34" charset="-122"/>
                <a:cs typeface="Calibri" pitchFamily="34" charset="-120"/>
              </a:rPr>
              <a:t>Cools in summer, heats in winter</a:t>
            </a:r>
            <a:endParaRPr lang="en-US" sz="1150" dirty="0"/>
          </a:p>
        </p:txBody>
      </p:sp>
      <p:sp>
        <p:nvSpPr>
          <p:cNvPr id="26" name="Shape 23"/>
          <p:cNvSpPr/>
          <p:nvPr/>
        </p:nvSpPr>
        <p:spPr>
          <a:xfrm>
            <a:off x="5760720" y="2834640"/>
            <a:ext cx="310896" cy="310896"/>
          </a:xfrm>
          <a:prstGeom prst="ellipse">
            <a:avLst/>
          </a:prstGeom>
          <a:solidFill>
            <a:srgbClr val="2A8C8A"/>
          </a:solidFill>
          <a:ln w="19050">
            <a:solidFill>
              <a:srgbClr val="FFFFFF"/>
            </a:solidFill>
            <a:prstDash val="solid"/>
          </a:ln>
        </p:spPr>
        <p:txBody>
          <a:bodyPr/>
          <a:lstStyle/>
          <a:p>
            <a:endParaRPr lang="de-DE"/>
          </a:p>
        </p:txBody>
      </p:sp>
      <p:sp>
        <p:nvSpPr>
          <p:cNvPr id="27" name="Text 24"/>
          <p:cNvSpPr txBox="1"/>
          <p:nvPr/>
        </p:nvSpPr>
        <p:spPr>
          <a:xfrm>
            <a:off x="5760720" y="28346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txBox="1"/>
          <p:nvPr/>
        </p:nvSpPr>
        <p:spPr>
          <a:xfrm>
            <a:off x="6217920" y="2798064"/>
            <a:ext cx="2560320" cy="256032"/>
          </a:xfrm>
          <a:prstGeom prst="rect">
            <a:avLst/>
          </a:prstGeom>
          <a:noFill/>
          <a:ln/>
        </p:spPr>
        <p:txBody>
          <a:bodyPr wrap="square" lIns="0" tIns="0" rIns="0" bIns="0" rtlCol="0" anchor="ctr"/>
          <a:lstStyle/>
          <a:p>
            <a:r>
              <a:rPr lang="en-US" sz="1400" b="1" dirty="0">
                <a:solidFill>
                  <a:srgbClr val="14213D"/>
                </a:solidFill>
                <a:latin typeface="Calibri" pitchFamily="34" charset="0"/>
                <a:ea typeface="Calibri" pitchFamily="34" charset="-122"/>
                <a:cs typeface="Calibri" pitchFamily="34" charset="-120"/>
              </a:rPr>
              <a:t>Grid connection</a:t>
            </a:r>
            <a:endParaRPr lang="en-US" sz="1400" dirty="0"/>
          </a:p>
        </p:txBody>
      </p:sp>
      <p:sp>
        <p:nvSpPr>
          <p:cNvPr id="29" name="Text 26"/>
          <p:cNvSpPr txBox="1"/>
          <p:nvPr/>
        </p:nvSpPr>
        <p:spPr>
          <a:xfrm>
            <a:off x="6217920" y="3044952"/>
            <a:ext cx="2560320" cy="237744"/>
          </a:xfrm>
          <a:prstGeom prst="rect">
            <a:avLst/>
          </a:prstGeom>
          <a:noFill/>
          <a:ln/>
        </p:spPr>
        <p:txBody>
          <a:bodyPr wrap="square" lIns="0" tIns="0" rIns="0" bIns="0" rtlCol="0" anchor="ctr"/>
          <a:lstStyle/>
          <a:p>
            <a:r>
              <a:rPr lang="en-US" sz="1150" dirty="0">
                <a:solidFill>
                  <a:srgbClr val="5C6B7A"/>
                </a:solidFill>
                <a:latin typeface="Calibri" pitchFamily="34" charset="0"/>
                <a:ea typeface="Calibri" pitchFamily="34" charset="-122"/>
                <a:cs typeface="Calibri" pitchFamily="34" charset="-120"/>
              </a:rPr>
              <a:t>Backup when the sun is low</a:t>
            </a:r>
            <a:endParaRPr lang="en-US" sz="1150" dirty="0"/>
          </a:p>
        </p:txBody>
      </p:sp>
      <p:sp>
        <p:nvSpPr>
          <p:cNvPr id="34" name="Text 31"/>
          <p:cNvSpPr txBox="1"/>
          <p:nvPr/>
        </p:nvSpPr>
        <p:spPr>
          <a:xfrm>
            <a:off x="457200" y="4160520"/>
            <a:ext cx="8229600" cy="365760"/>
          </a:xfrm>
          <a:prstGeom prst="rect">
            <a:avLst/>
          </a:prstGeom>
          <a:noFill/>
          <a:ln/>
        </p:spPr>
        <p:txBody>
          <a:bodyPr wrap="square" lIns="0" tIns="0" rIns="0" bIns="0" rtlCol="0" anchor="ctr"/>
          <a:lstStyle/>
          <a:p>
            <a:pPr marL="0" indent="0">
              <a:buNone/>
            </a:pPr>
            <a:r>
              <a:rPr lang="en-US" sz="1500" i="1" dirty="0">
                <a:solidFill>
                  <a:srgbClr val="2A8C8A"/>
                </a:solidFill>
                <a:latin typeface="Calibri" pitchFamily="34" charset="0"/>
                <a:ea typeface="Calibri" pitchFamily="34" charset="-122"/>
                <a:cs typeface="Calibri" pitchFamily="34" charset="-120"/>
              </a:rPr>
              <a:t>Same building, same parking lot, but now it works with the sun.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How it works: summer vs. winter</a:t>
            </a:r>
            <a:endParaRPr lang="en-US" sz="3200" dirty="0"/>
          </a:p>
        </p:txBody>
      </p:sp>
      <p:sp>
        <p:nvSpPr>
          <p:cNvPr id="3" name="Shape 1"/>
          <p:cNvSpPr/>
          <p:nvPr/>
        </p:nvSpPr>
        <p:spPr>
          <a:xfrm>
            <a:off x="457200" y="1097280"/>
            <a:ext cx="4023360" cy="3429000"/>
          </a:xfrm>
          <a:prstGeom prst="roundRect">
            <a:avLst>
              <a:gd name="adj" fmla="val 4000"/>
            </a:avLst>
          </a:prstGeom>
          <a:solidFill>
            <a:srgbClr val="FFF3DF"/>
          </a:solidFill>
          <a:ln w="12700">
            <a:solidFill>
              <a:srgbClr val="FFF3DF"/>
            </a:solidFill>
            <a:prstDash val="solid"/>
          </a:ln>
        </p:spPr>
        <p:txBody>
          <a:bodyPr/>
          <a:lstStyle/>
          <a:p>
            <a:endParaRPr lang="de-DE"/>
          </a:p>
        </p:txBody>
      </p:sp>
      <p:sp>
        <p:nvSpPr>
          <p:cNvPr id="4" name="Shape 2"/>
          <p:cNvSpPr/>
          <p:nvPr/>
        </p:nvSpPr>
        <p:spPr>
          <a:xfrm>
            <a:off x="731520" y="1325880"/>
            <a:ext cx="566928" cy="566928"/>
          </a:xfrm>
          <a:prstGeom prst="ellipse">
            <a:avLst/>
          </a:prstGeom>
          <a:solidFill>
            <a:srgbClr val="F7A325"/>
          </a:solidFill>
          <a:ln w="12700">
            <a:solidFill>
              <a:srgbClr val="F7A325"/>
            </a:solidFill>
            <a:prstDash val="solid"/>
          </a:ln>
        </p:spPr>
        <p:txBody>
          <a:bodyPr/>
          <a:lstStyle/>
          <a:p>
            <a:endParaRPr lang="de-DE"/>
          </a:p>
        </p:txBody>
      </p:sp>
      <p:pic>
        <p:nvPicPr>
          <p:cNvPr id="5" name="Image 0" descr="preencoded.png"/>
          <p:cNvPicPr>
            <a:picLocks noChangeAspect="1"/>
          </p:cNvPicPr>
          <p:nvPr/>
        </p:nvPicPr>
        <p:blipFill>
          <a:blip r:embed="rId3"/>
          <a:stretch>
            <a:fillRect/>
          </a:stretch>
        </p:blipFill>
        <p:spPr>
          <a:xfrm>
            <a:off x="873252" y="1467612"/>
            <a:ext cx="283464" cy="283464"/>
          </a:xfrm>
          <a:prstGeom prst="rect">
            <a:avLst/>
          </a:prstGeom>
        </p:spPr>
      </p:pic>
      <p:sp>
        <p:nvSpPr>
          <p:cNvPr id="6" name="Text 3"/>
          <p:cNvSpPr txBox="1"/>
          <p:nvPr/>
        </p:nvSpPr>
        <p:spPr>
          <a:xfrm>
            <a:off x="1463040" y="1371600"/>
            <a:ext cx="2743200" cy="457200"/>
          </a:xfrm>
          <a:prstGeom prst="rect">
            <a:avLst/>
          </a:prstGeom>
          <a:noFill/>
          <a:ln/>
        </p:spPr>
        <p:txBody>
          <a:bodyPr wrap="square" lIns="0" tIns="0" rIns="0" bIns="0" rtlCol="0" anchor="ctr"/>
          <a:lstStyle/>
          <a:p>
            <a:pPr marL="0" indent="0">
              <a:buNone/>
            </a:pPr>
            <a:r>
              <a:rPr lang="en-US" sz="2400" b="1" dirty="0">
                <a:solidFill>
                  <a:srgbClr val="14213D"/>
                </a:solidFill>
                <a:latin typeface="Calibri" pitchFamily="34" charset="0"/>
                <a:ea typeface="Calibri" pitchFamily="34" charset="-122"/>
                <a:cs typeface="Calibri" pitchFamily="34" charset="-120"/>
              </a:rPr>
              <a:t>Summer</a:t>
            </a:r>
            <a:endParaRPr lang="en-US" sz="2400" dirty="0"/>
          </a:p>
        </p:txBody>
      </p:sp>
      <p:sp>
        <p:nvSpPr>
          <p:cNvPr id="7" name="Shape 4"/>
          <p:cNvSpPr/>
          <p:nvPr/>
        </p:nvSpPr>
        <p:spPr>
          <a:xfrm>
            <a:off x="777240" y="2148840"/>
            <a:ext cx="457200" cy="457200"/>
          </a:xfrm>
          <a:prstGeom prst="ellipse">
            <a:avLst/>
          </a:prstGeom>
          <a:solidFill>
            <a:srgbClr val="FFFFFF"/>
          </a:solidFill>
          <a:ln w="12700">
            <a:solidFill>
              <a:srgbClr val="FFFFFF"/>
            </a:solidFill>
            <a:prstDash val="solid"/>
          </a:ln>
        </p:spPr>
        <p:txBody>
          <a:bodyPr/>
          <a:lstStyle/>
          <a:p>
            <a:endParaRPr lang="de-DE"/>
          </a:p>
        </p:txBody>
      </p:sp>
      <p:pic>
        <p:nvPicPr>
          <p:cNvPr id="8" name="Image 1" descr="preencoded.png"/>
          <p:cNvPicPr>
            <a:picLocks noChangeAspect="1"/>
          </p:cNvPicPr>
          <p:nvPr/>
        </p:nvPicPr>
        <p:blipFill>
          <a:blip r:embed="rId4"/>
          <a:stretch>
            <a:fillRect/>
          </a:stretch>
        </p:blipFill>
        <p:spPr>
          <a:xfrm>
            <a:off x="891540" y="2263140"/>
            <a:ext cx="228600" cy="228600"/>
          </a:xfrm>
          <a:prstGeom prst="rect">
            <a:avLst/>
          </a:prstGeom>
        </p:spPr>
      </p:pic>
      <p:sp>
        <p:nvSpPr>
          <p:cNvPr id="9" name="Text 5"/>
          <p:cNvSpPr txBox="1"/>
          <p:nvPr/>
        </p:nvSpPr>
        <p:spPr>
          <a:xfrm>
            <a:off x="1417320" y="2103120"/>
            <a:ext cx="2834640" cy="54864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Carport delivers lots of solar power</a:t>
            </a:r>
            <a:endParaRPr lang="en-US" sz="1400" dirty="0"/>
          </a:p>
        </p:txBody>
      </p:sp>
      <p:sp>
        <p:nvSpPr>
          <p:cNvPr id="10" name="Shape 6"/>
          <p:cNvSpPr/>
          <p:nvPr/>
        </p:nvSpPr>
        <p:spPr>
          <a:xfrm>
            <a:off x="777240" y="2898648"/>
            <a:ext cx="457200" cy="457200"/>
          </a:xfrm>
          <a:prstGeom prst="ellipse">
            <a:avLst/>
          </a:prstGeom>
          <a:solidFill>
            <a:srgbClr val="FFFFFF"/>
          </a:solidFill>
          <a:ln w="12700">
            <a:solidFill>
              <a:srgbClr val="FFFFFF"/>
            </a:solidFill>
            <a:prstDash val="solid"/>
          </a:ln>
        </p:spPr>
        <p:txBody>
          <a:bodyPr/>
          <a:lstStyle/>
          <a:p>
            <a:endParaRPr lang="de-DE"/>
          </a:p>
        </p:txBody>
      </p:sp>
      <p:pic>
        <p:nvPicPr>
          <p:cNvPr id="11" name="Image 2" descr="preencoded.png"/>
          <p:cNvPicPr>
            <a:picLocks noChangeAspect="1"/>
          </p:cNvPicPr>
          <p:nvPr/>
        </p:nvPicPr>
        <p:blipFill>
          <a:blip r:embed="rId5"/>
          <a:stretch>
            <a:fillRect/>
          </a:stretch>
        </p:blipFill>
        <p:spPr>
          <a:xfrm>
            <a:off x="891540" y="3012948"/>
            <a:ext cx="228600" cy="228600"/>
          </a:xfrm>
          <a:prstGeom prst="rect">
            <a:avLst/>
          </a:prstGeom>
        </p:spPr>
      </p:pic>
      <p:sp>
        <p:nvSpPr>
          <p:cNvPr id="12" name="Text 7"/>
          <p:cNvSpPr txBox="1"/>
          <p:nvPr/>
        </p:nvSpPr>
        <p:spPr>
          <a:xfrm>
            <a:off x="1417320" y="2852928"/>
            <a:ext cx="2834640" cy="54864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Surplus is stored as cold, charges EVs or goes to the grid</a:t>
            </a:r>
            <a:endParaRPr lang="en-US" sz="1400" dirty="0"/>
          </a:p>
        </p:txBody>
      </p:sp>
      <p:sp>
        <p:nvSpPr>
          <p:cNvPr id="13" name="Shape 8"/>
          <p:cNvSpPr/>
          <p:nvPr/>
        </p:nvSpPr>
        <p:spPr>
          <a:xfrm>
            <a:off x="777240" y="3648456"/>
            <a:ext cx="457200" cy="457200"/>
          </a:xfrm>
          <a:prstGeom prst="ellipse">
            <a:avLst/>
          </a:prstGeom>
          <a:solidFill>
            <a:srgbClr val="FFFFFF"/>
          </a:solidFill>
          <a:ln w="12700">
            <a:solidFill>
              <a:srgbClr val="FFFFFF"/>
            </a:solidFill>
            <a:prstDash val="solid"/>
          </a:ln>
        </p:spPr>
        <p:txBody>
          <a:bodyPr/>
          <a:lstStyle/>
          <a:p>
            <a:endParaRPr lang="de-DE"/>
          </a:p>
        </p:txBody>
      </p:sp>
      <p:pic>
        <p:nvPicPr>
          <p:cNvPr id="14" name="Image 3" descr="preencoded.png"/>
          <p:cNvPicPr>
            <a:picLocks noChangeAspect="1"/>
          </p:cNvPicPr>
          <p:nvPr/>
        </p:nvPicPr>
        <p:blipFill>
          <a:blip r:embed="rId6"/>
          <a:stretch>
            <a:fillRect/>
          </a:stretch>
        </p:blipFill>
        <p:spPr>
          <a:xfrm>
            <a:off x="891540" y="3762756"/>
            <a:ext cx="228600" cy="228600"/>
          </a:xfrm>
          <a:prstGeom prst="rect">
            <a:avLst/>
          </a:prstGeom>
        </p:spPr>
      </p:pic>
      <p:sp>
        <p:nvSpPr>
          <p:cNvPr id="15" name="Text 9"/>
          <p:cNvSpPr txBox="1"/>
          <p:nvPr/>
        </p:nvSpPr>
        <p:spPr>
          <a:xfrm>
            <a:off x="1417320" y="3602736"/>
            <a:ext cx="2834640" cy="54864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Heat pump cools the building</a:t>
            </a:r>
            <a:endParaRPr lang="en-US" sz="1400" dirty="0"/>
          </a:p>
        </p:txBody>
      </p:sp>
      <p:sp>
        <p:nvSpPr>
          <p:cNvPr id="16" name="Shape 10"/>
          <p:cNvSpPr/>
          <p:nvPr/>
        </p:nvSpPr>
        <p:spPr>
          <a:xfrm>
            <a:off x="4663440" y="1097280"/>
            <a:ext cx="4023360" cy="3429000"/>
          </a:xfrm>
          <a:prstGeom prst="roundRect">
            <a:avLst>
              <a:gd name="adj" fmla="val 4000"/>
            </a:avLst>
          </a:prstGeom>
          <a:solidFill>
            <a:srgbClr val="E6F3F8"/>
          </a:solidFill>
          <a:ln w="12700">
            <a:solidFill>
              <a:srgbClr val="E6F3F8"/>
            </a:solidFill>
            <a:prstDash val="solid"/>
          </a:ln>
        </p:spPr>
        <p:txBody>
          <a:bodyPr/>
          <a:lstStyle/>
          <a:p>
            <a:endParaRPr lang="de-DE"/>
          </a:p>
        </p:txBody>
      </p:sp>
      <p:sp>
        <p:nvSpPr>
          <p:cNvPr id="17" name="Shape 11"/>
          <p:cNvSpPr/>
          <p:nvPr/>
        </p:nvSpPr>
        <p:spPr>
          <a:xfrm>
            <a:off x="4937760" y="1325880"/>
            <a:ext cx="566928" cy="566928"/>
          </a:xfrm>
          <a:prstGeom prst="ellipse">
            <a:avLst/>
          </a:prstGeom>
          <a:solidFill>
            <a:srgbClr val="2A8C8A"/>
          </a:solidFill>
          <a:ln w="12700">
            <a:solidFill>
              <a:srgbClr val="2A8C8A"/>
            </a:solidFill>
            <a:prstDash val="solid"/>
          </a:ln>
        </p:spPr>
        <p:txBody>
          <a:bodyPr/>
          <a:lstStyle/>
          <a:p>
            <a:endParaRPr lang="de-DE"/>
          </a:p>
        </p:txBody>
      </p:sp>
      <p:pic>
        <p:nvPicPr>
          <p:cNvPr id="18" name="Image 4" descr="preencoded.png"/>
          <p:cNvPicPr>
            <a:picLocks noChangeAspect="1"/>
          </p:cNvPicPr>
          <p:nvPr/>
        </p:nvPicPr>
        <p:blipFill>
          <a:blip r:embed="rId7"/>
          <a:stretch>
            <a:fillRect/>
          </a:stretch>
        </p:blipFill>
        <p:spPr>
          <a:xfrm>
            <a:off x="5079492" y="1467612"/>
            <a:ext cx="283464" cy="283464"/>
          </a:xfrm>
          <a:prstGeom prst="rect">
            <a:avLst/>
          </a:prstGeom>
        </p:spPr>
      </p:pic>
      <p:sp>
        <p:nvSpPr>
          <p:cNvPr id="19" name="Text 12"/>
          <p:cNvSpPr txBox="1"/>
          <p:nvPr/>
        </p:nvSpPr>
        <p:spPr>
          <a:xfrm>
            <a:off x="5669280" y="1371600"/>
            <a:ext cx="2743200" cy="457200"/>
          </a:xfrm>
          <a:prstGeom prst="rect">
            <a:avLst/>
          </a:prstGeom>
          <a:noFill/>
          <a:ln/>
        </p:spPr>
        <p:txBody>
          <a:bodyPr wrap="square" lIns="0" tIns="0" rIns="0" bIns="0" rtlCol="0" anchor="ctr"/>
          <a:lstStyle/>
          <a:p>
            <a:pPr marL="0" indent="0">
              <a:buNone/>
            </a:pPr>
            <a:r>
              <a:rPr lang="en-US" sz="2400" b="1" dirty="0">
                <a:solidFill>
                  <a:srgbClr val="14213D"/>
                </a:solidFill>
                <a:latin typeface="Calibri" pitchFamily="34" charset="0"/>
                <a:ea typeface="Calibri" pitchFamily="34" charset="-122"/>
                <a:cs typeface="Calibri" pitchFamily="34" charset="-120"/>
              </a:rPr>
              <a:t>Winter</a:t>
            </a:r>
            <a:endParaRPr lang="en-US" sz="2400" dirty="0"/>
          </a:p>
        </p:txBody>
      </p:sp>
      <p:sp>
        <p:nvSpPr>
          <p:cNvPr id="20" name="Shape 13"/>
          <p:cNvSpPr/>
          <p:nvPr/>
        </p:nvSpPr>
        <p:spPr>
          <a:xfrm>
            <a:off x="4983480" y="2148840"/>
            <a:ext cx="457200" cy="457200"/>
          </a:xfrm>
          <a:prstGeom prst="ellipse">
            <a:avLst/>
          </a:prstGeom>
          <a:solidFill>
            <a:srgbClr val="FFFFFF"/>
          </a:solidFill>
          <a:ln w="12700">
            <a:solidFill>
              <a:srgbClr val="FFFFFF"/>
            </a:solidFill>
            <a:prstDash val="solid"/>
          </a:ln>
        </p:spPr>
        <p:txBody>
          <a:bodyPr/>
          <a:lstStyle/>
          <a:p>
            <a:endParaRPr lang="de-DE"/>
          </a:p>
        </p:txBody>
      </p:sp>
      <p:pic>
        <p:nvPicPr>
          <p:cNvPr id="21" name="Image 5" descr="preencoded.png"/>
          <p:cNvPicPr>
            <a:picLocks noChangeAspect="1"/>
          </p:cNvPicPr>
          <p:nvPr/>
        </p:nvPicPr>
        <p:blipFill>
          <a:blip r:embed="rId8"/>
          <a:stretch>
            <a:fillRect/>
          </a:stretch>
        </p:blipFill>
        <p:spPr>
          <a:xfrm>
            <a:off x="5097780" y="2263140"/>
            <a:ext cx="228600" cy="228600"/>
          </a:xfrm>
          <a:prstGeom prst="rect">
            <a:avLst/>
          </a:prstGeom>
        </p:spPr>
      </p:pic>
      <p:sp>
        <p:nvSpPr>
          <p:cNvPr id="22" name="Text 14"/>
          <p:cNvSpPr txBox="1"/>
          <p:nvPr/>
        </p:nvSpPr>
        <p:spPr>
          <a:xfrm>
            <a:off x="5623560" y="2103120"/>
            <a:ext cx="2834640" cy="54864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Less sun overall</a:t>
            </a:r>
            <a:endParaRPr lang="en-US" sz="1400" dirty="0"/>
          </a:p>
        </p:txBody>
      </p:sp>
      <p:sp>
        <p:nvSpPr>
          <p:cNvPr id="23" name="Shape 15"/>
          <p:cNvSpPr/>
          <p:nvPr/>
        </p:nvSpPr>
        <p:spPr>
          <a:xfrm>
            <a:off x="4983480" y="2898648"/>
            <a:ext cx="457200" cy="457200"/>
          </a:xfrm>
          <a:prstGeom prst="ellipse">
            <a:avLst/>
          </a:prstGeom>
          <a:solidFill>
            <a:srgbClr val="FFFFFF"/>
          </a:solidFill>
          <a:ln w="12700">
            <a:solidFill>
              <a:srgbClr val="FFFFFF"/>
            </a:solidFill>
            <a:prstDash val="solid"/>
          </a:ln>
        </p:spPr>
        <p:txBody>
          <a:bodyPr/>
          <a:lstStyle/>
          <a:p>
            <a:endParaRPr lang="de-DE"/>
          </a:p>
        </p:txBody>
      </p:sp>
      <p:pic>
        <p:nvPicPr>
          <p:cNvPr id="24" name="Image 6" descr="preencoded.png"/>
          <p:cNvPicPr>
            <a:picLocks noChangeAspect="1"/>
          </p:cNvPicPr>
          <p:nvPr/>
        </p:nvPicPr>
        <p:blipFill>
          <a:blip r:embed="rId9"/>
          <a:stretch>
            <a:fillRect/>
          </a:stretch>
        </p:blipFill>
        <p:spPr>
          <a:xfrm>
            <a:off x="5097780" y="3012948"/>
            <a:ext cx="228600" cy="228600"/>
          </a:xfrm>
          <a:prstGeom prst="rect">
            <a:avLst/>
          </a:prstGeom>
        </p:spPr>
      </p:pic>
      <p:sp>
        <p:nvSpPr>
          <p:cNvPr id="25" name="Text 16"/>
          <p:cNvSpPr txBox="1"/>
          <p:nvPr/>
        </p:nvSpPr>
        <p:spPr>
          <a:xfrm>
            <a:off x="5623560" y="2852928"/>
            <a:ext cx="2834640" cy="54864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Facade and tilted carport panels catch the low sun</a:t>
            </a:r>
            <a:endParaRPr lang="en-US" sz="1400" dirty="0"/>
          </a:p>
        </p:txBody>
      </p:sp>
      <p:sp>
        <p:nvSpPr>
          <p:cNvPr id="26" name="Shape 17"/>
          <p:cNvSpPr/>
          <p:nvPr/>
        </p:nvSpPr>
        <p:spPr>
          <a:xfrm>
            <a:off x="4983480" y="3648456"/>
            <a:ext cx="457200" cy="457200"/>
          </a:xfrm>
          <a:prstGeom prst="ellipse">
            <a:avLst/>
          </a:prstGeom>
          <a:solidFill>
            <a:srgbClr val="FFFFFF"/>
          </a:solidFill>
          <a:ln w="12700">
            <a:solidFill>
              <a:srgbClr val="FFFFFF"/>
            </a:solidFill>
            <a:prstDash val="solid"/>
          </a:ln>
        </p:spPr>
        <p:txBody>
          <a:bodyPr/>
          <a:lstStyle/>
          <a:p>
            <a:endParaRPr lang="de-DE"/>
          </a:p>
        </p:txBody>
      </p:sp>
      <p:pic>
        <p:nvPicPr>
          <p:cNvPr id="27" name="Image 7" descr="preencoded.png"/>
          <p:cNvPicPr>
            <a:picLocks noChangeAspect="1"/>
          </p:cNvPicPr>
          <p:nvPr/>
        </p:nvPicPr>
        <p:blipFill>
          <a:blip r:embed="rId10"/>
          <a:stretch>
            <a:fillRect/>
          </a:stretch>
        </p:blipFill>
        <p:spPr>
          <a:xfrm>
            <a:off x="5097780" y="3762756"/>
            <a:ext cx="228600" cy="228600"/>
          </a:xfrm>
          <a:prstGeom prst="rect">
            <a:avLst/>
          </a:prstGeom>
        </p:spPr>
      </p:pic>
      <p:sp>
        <p:nvSpPr>
          <p:cNvPr id="28" name="Text 18"/>
          <p:cNvSpPr txBox="1"/>
          <p:nvPr/>
        </p:nvSpPr>
        <p:spPr>
          <a:xfrm>
            <a:off x="5623560" y="3602736"/>
            <a:ext cx="2834640" cy="548640"/>
          </a:xfrm>
          <a:prstGeom prst="rect">
            <a:avLst/>
          </a:prstGeom>
          <a:noFill/>
          <a:ln/>
        </p:spPr>
        <p:txBody>
          <a:bodyPr wrap="square" lIns="0" tIns="0" rIns="0" bIns="0" rtlCol="0" anchor="ctr"/>
          <a:lstStyle/>
          <a:p>
            <a:pPr marL="0" indent="0">
              <a:buNone/>
            </a:pPr>
            <a:r>
              <a:rPr lang="en-US" sz="1400" dirty="0">
                <a:solidFill>
                  <a:srgbClr val="1F2A37"/>
                </a:solidFill>
                <a:latin typeface="Calibri" pitchFamily="34" charset="0"/>
                <a:ea typeface="Calibri" pitchFamily="34" charset="-122"/>
                <a:cs typeface="Calibri" pitchFamily="34" charset="-120"/>
              </a:rPr>
              <a:t>Heat pump heats; the grid covers the rest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The right angle makes the difference</a:t>
            </a:r>
            <a:endParaRPr lang="en-US" sz="3200" dirty="0"/>
          </a:p>
        </p:txBody>
      </p:sp>
      <p:pic>
        <p:nvPicPr>
          <p:cNvPr id="3" name="Image 0" descr="preencoded.png"/>
          <p:cNvPicPr>
            <a:picLocks noChangeAspect="1"/>
          </p:cNvPicPr>
          <p:nvPr/>
        </p:nvPicPr>
        <p:blipFill>
          <a:blip r:embed="rId3"/>
          <a:stretch>
            <a:fillRect/>
          </a:stretch>
        </p:blipFill>
        <p:spPr>
          <a:xfrm>
            <a:off x="457200" y="1005840"/>
            <a:ext cx="5486400" cy="2578608"/>
          </a:xfrm>
          <a:prstGeom prst="rect">
            <a:avLst/>
          </a:prstGeom>
        </p:spPr>
      </p:pic>
      <p:sp>
        <p:nvSpPr>
          <p:cNvPr id="4" name="Text 1"/>
          <p:cNvSpPr txBox="1"/>
          <p:nvPr/>
        </p:nvSpPr>
        <p:spPr>
          <a:xfrm>
            <a:off x="457200" y="3639312"/>
            <a:ext cx="2743200" cy="274320"/>
          </a:xfrm>
          <a:prstGeom prst="rect">
            <a:avLst/>
          </a:prstGeom>
          <a:noFill/>
          <a:ln/>
        </p:spPr>
        <p:txBody>
          <a:bodyPr wrap="square" lIns="0" tIns="0" rIns="0" bIns="0" rtlCol="0" anchor="ctr"/>
          <a:lstStyle/>
          <a:p>
            <a:pPr marL="0" indent="0" algn="ctr">
              <a:buNone/>
            </a:pPr>
            <a:r>
              <a:rPr lang="en-US" sz="1300" b="1" dirty="0">
                <a:solidFill>
                  <a:srgbClr val="B45F06"/>
                </a:solidFill>
                <a:latin typeface="Calibri" pitchFamily="34" charset="0"/>
                <a:ea typeface="Calibri" pitchFamily="34" charset="-122"/>
                <a:cs typeface="Calibri" pitchFamily="34" charset="-120"/>
              </a:rPr>
              <a:t>Summer: sun high</a:t>
            </a:r>
            <a:endParaRPr lang="en-US" sz="1300" dirty="0"/>
          </a:p>
        </p:txBody>
      </p:sp>
      <p:sp>
        <p:nvSpPr>
          <p:cNvPr id="5" name="Text 2"/>
          <p:cNvSpPr txBox="1"/>
          <p:nvPr/>
        </p:nvSpPr>
        <p:spPr>
          <a:xfrm>
            <a:off x="3200400" y="3639312"/>
            <a:ext cx="2743200" cy="274320"/>
          </a:xfrm>
          <a:prstGeom prst="rect">
            <a:avLst/>
          </a:prstGeom>
          <a:noFill/>
          <a:ln/>
        </p:spPr>
        <p:txBody>
          <a:bodyPr wrap="square" lIns="0" tIns="0" rIns="0" bIns="0" rtlCol="0" anchor="ctr"/>
          <a:lstStyle/>
          <a:p>
            <a:pPr marL="0" indent="0" algn="ctr">
              <a:buNone/>
            </a:pPr>
            <a:r>
              <a:rPr lang="en-US" sz="1300" b="1" dirty="0">
                <a:solidFill>
                  <a:srgbClr val="2A8C8A"/>
                </a:solidFill>
                <a:latin typeface="Calibri" pitchFamily="34" charset="0"/>
                <a:ea typeface="Calibri" pitchFamily="34" charset="-122"/>
                <a:cs typeface="Calibri" pitchFamily="34" charset="-120"/>
              </a:rPr>
              <a:t>Winter: sun low</a:t>
            </a:r>
            <a:endParaRPr lang="en-US" sz="1300" dirty="0"/>
          </a:p>
        </p:txBody>
      </p:sp>
      <p:sp>
        <p:nvSpPr>
          <p:cNvPr id="6" name="Shape 3"/>
          <p:cNvSpPr/>
          <p:nvPr/>
        </p:nvSpPr>
        <p:spPr>
          <a:xfrm>
            <a:off x="6217920" y="1097280"/>
            <a:ext cx="457200" cy="457200"/>
          </a:xfrm>
          <a:prstGeom prst="ellipse">
            <a:avLst/>
          </a:prstGeom>
          <a:solidFill>
            <a:srgbClr val="F7A325"/>
          </a:solidFill>
          <a:ln w="12700">
            <a:solidFill>
              <a:srgbClr val="F7A325"/>
            </a:solidFill>
            <a:prstDash val="solid"/>
          </a:ln>
        </p:spPr>
        <p:txBody>
          <a:bodyPr/>
          <a:lstStyle/>
          <a:p>
            <a:endParaRPr lang="de-DE"/>
          </a:p>
        </p:txBody>
      </p:sp>
      <p:pic>
        <p:nvPicPr>
          <p:cNvPr id="7" name="Image 1" descr="preencoded.png"/>
          <p:cNvPicPr>
            <a:picLocks noChangeAspect="1"/>
          </p:cNvPicPr>
          <p:nvPr/>
        </p:nvPicPr>
        <p:blipFill>
          <a:blip r:embed="rId4"/>
          <a:stretch>
            <a:fillRect/>
          </a:stretch>
        </p:blipFill>
        <p:spPr>
          <a:xfrm>
            <a:off x="6332220" y="1211580"/>
            <a:ext cx="228600" cy="228600"/>
          </a:xfrm>
          <a:prstGeom prst="rect">
            <a:avLst/>
          </a:prstGeom>
        </p:spPr>
      </p:pic>
      <p:sp>
        <p:nvSpPr>
          <p:cNvPr id="8" name="Text 4"/>
          <p:cNvSpPr txBox="1"/>
          <p:nvPr/>
        </p:nvSpPr>
        <p:spPr>
          <a:xfrm>
            <a:off x="6812280" y="1115568"/>
            <a:ext cx="1920240" cy="411480"/>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Tracking carport</a:t>
            </a:r>
            <a:endParaRPr lang="en-US" sz="1600" dirty="0"/>
          </a:p>
        </p:txBody>
      </p:sp>
      <p:sp>
        <p:nvSpPr>
          <p:cNvPr id="9" name="Text 5"/>
          <p:cNvSpPr txBox="1"/>
          <p:nvPr/>
        </p:nvSpPr>
        <p:spPr>
          <a:xfrm>
            <a:off x="6217920" y="1645920"/>
            <a:ext cx="2514600" cy="5943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Panels tilt to face the sun, all day and all year</a:t>
            </a:r>
            <a:endParaRPr lang="en-US" sz="1250" dirty="0"/>
          </a:p>
        </p:txBody>
      </p:sp>
      <p:sp>
        <p:nvSpPr>
          <p:cNvPr id="10" name="Shape 6"/>
          <p:cNvSpPr/>
          <p:nvPr/>
        </p:nvSpPr>
        <p:spPr>
          <a:xfrm>
            <a:off x="6217920" y="2377440"/>
            <a:ext cx="457200" cy="457200"/>
          </a:xfrm>
          <a:prstGeom prst="ellipse">
            <a:avLst/>
          </a:prstGeom>
          <a:solidFill>
            <a:srgbClr val="2A8C8A"/>
          </a:solidFill>
          <a:ln w="12700">
            <a:solidFill>
              <a:srgbClr val="2A8C8A"/>
            </a:solidFill>
            <a:prstDash val="solid"/>
          </a:ln>
        </p:spPr>
        <p:txBody>
          <a:bodyPr/>
          <a:lstStyle/>
          <a:p>
            <a:endParaRPr lang="de-DE"/>
          </a:p>
        </p:txBody>
      </p:sp>
      <p:pic>
        <p:nvPicPr>
          <p:cNvPr id="11" name="Image 2" descr="preencoded.png"/>
          <p:cNvPicPr>
            <a:picLocks noChangeAspect="1"/>
          </p:cNvPicPr>
          <p:nvPr/>
        </p:nvPicPr>
        <p:blipFill>
          <a:blip r:embed="rId5"/>
          <a:stretch>
            <a:fillRect/>
          </a:stretch>
        </p:blipFill>
        <p:spPr>
          <a:xfrm>
            <a:off x="6332220" y="2491740"/>
            <a:ext cx="228600" cy="228600"/>
          </a:xfrm>
          <a:prstGeom prst="rect">
            <a:avLst/>
          </a:prstGeom>
        </p:spPr>
      </p:pic>
      <p:sp>
        <p:nvSpPr>
          <p:cNvPr id="12" name="Text 7"/>
          <p:cNvSpPr txBox="1"/>
          <p:nvPr/>
        </p:nvSpPr>
        <p:spPr>
          <a:xfrm>
            <a:off x="6812280" y="2395728"/>
            <a:ext cx="1920240" cy="411480"/>
          </a:xfrm>
          <a:prstGeom prst="rect">
            <a:avLst/>
          </a:prstGeom>
          <a:noFill/>
          <a:ln/>
        </p:spPr>
        <p:txBody>
          <a:bodyPr wrap="square" lIns="0" tIns="0" rIns="0" bIns="0" rtlCol="0" anchor="ctr"/>
          <a:lstStyle/>
          <a:p>
            <a:pPr marL="0" indent="0">
              <a:buNone/>
            </a:pPr>
            <a:r>
              <a:rPr lang="en-US" sz="1600" b="1" dirty="0">
                <a:solidFill>
                  <a:srgbClr val="14213D"/>
                </a:solidFill>
                <a:latin typeface="Calibri" pitchFamily="34" charset="0"/>
                <a:ea typeface="Calibri" pitchFamily="34" charset="-122"/>
                <a:cs typeface="Calibri" pitchFamily="34" charset="-120"/>
              </a:rPr>
              <a:t>PV facade</a:t>
            </a:r>
            <a:endParaRPr lang="en-US" sz="1600" dirty="0"/>
          </a:p>
        </p:txBody>
      </p:sp>
      <p:sp>
        <p:nvSpPr>
          <p:cNvPr id="13" name="Text 8"/>
          <p:cNvSpPr txBox="1"/>
          <p:nvPr/>
        </p:nvSpPr>
        <p:spPr>
          <a:xfrm>
            <a:off x="6217920" y="2926080"/>
            <a:ext cx="2514600" cy="594360"/>
          </a:xfrm>
          <a:prstGeom prst="rect">
            <a:avLst/>
          </a:prstGeom>
          <a:noFill/>
          <a:ln/>
        </p:spPr>
        <p:txBody>
          <a:bodyPr wrap="square" lIns="0" tIns="0" rIns="0" bIns="0" rtlCol="0" anchor="t"/>
          <a:lstStyle/>
          <a:p>
            <a:pPr marL="0" indent="0">
              <a:buNone/>
            </a:pPr>
            <a:r>
              <a:rPr lang="en-US" sz="1250" dirty="0">
                <a:solidFill>
                  <a:srgbClr val="5C6B7A"/>
                </a:solidFill>
                <a:latin typeface="Calibri" pitchFamily="34" charset="0"/>
                <a:ea typeface="Calibri" pitchFamily="34" charset="-122"/>
                <a:cs typeface="Calibri" pitchFamily="34" charset="-120"/>
              </a:rPr>
              <a:t>Low winter sun hits it almost head-on: more own power in winter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14213D"/>
                </a:solidFill>
                <a:latin typeface="Calibri" pitchFamily="34" charset="0"/>
                <a:ea typeface="Calibri" pitchFamily="34" charset="-122"/>
                <a:cs typeface="Calibri" pitchFamily="34" charset="-120"/>
              </a:rPr>
              <a:t>Costs &amp; benefits</a:t>
            </a:r>
            <a:endParaRPr lang="en-US" sz="3200" dirty="0"/>
          </a:p>
        </p:txBody>
      </p:sp>
      <p:sp>
        <p:nvSpPr>
          <p:cNvPr id="3" name="Shape 1"/>
          <p:cNvSpPr/>
          <p:nvPr/>
        </p:nvSpPr>
        <p:spPr>
          <a:xfrm>
            <a:off x="457200" y="1097280"/>
            <a:ext cx="3657600" cy="3429000"/>
          </a:xfrm>
          <a:prstGeom prst="roundRect">
            <a:avLst>
              <a:gd name="adj" fmla="val 4000"/>
            </a:avLst>
          </a:prstGeom>
          <a:solidFill>
            <a:srgbClr val="F4F7FA"/>
          </a:solidFill>
          <a:ln w="12700">
            <a:solidFill>
              <a:srgbClr val="F4F7FA"/>
            </a:solidFill>
            <a:prstDash val="solid"/>
          </a:ln>
        </p:spPr>
        <p:txBody>
          <a:bodyPr/>
          <a:lstStyle/>
          <a:p>
            <a:endParaRPr lang="de-DE"/>
          </a:p>
        </p:txBody>
      </p:sp>
      <p:sp>
        <p:nvSpPr>
          <p:cNvPr id="4" name="Shape 2"/>
          <p:cNvSpPr/>
          <p:nvPr/>
        </p:nvSpPr>
        <p:spPr>
          <a:xfrm>
            <a:off x="685800" y="1280160"/>
            <a:ext cx="502920" cy="502920"/>
          </a:xfrm>
          <a:prstGeom prst="ellipse">
            <a:avLst/>
          </a:prstGeom>
          <a:solidFill>
            <a:srgbClr val="14213D"/>
          </a:solidFill>
          <a:ln w="12700">
            <a:solidFill>
              <a:srgbClr val="14213D"/>
            </a:solidFill>
            <a:prstDash val="solid"/>
          </a:ln>
        </p:spPr>
        <p:txBody>
          <a:bodyPr/>
          <a:lstStyle/>
          <a:p>
            <a:endParaRPr lang="de-DE"/>
          </a:p>
        </p:txBody>
      </p:sp>
      <p:pic>
        <p:nvPicPr>
          <p:cNvPr id="5" name="Image 0" descr="preencoded.png"/>
          <p:cNvPicPr>
            <a:picLocks noChangeAspect="1"/>
          </p:cNvPicPr>
          <p:nvPr/>
        </p:nvPicPr>
        <p:blipFill>
          <a:blip r:embed="rId3"/>
          <a:stretch>
            <a:fillRect/>
          </a:stretch>
        </p:blipFill>
        <p:spPr>
          <a:xfrm>
            <a:off x="811530" y="1405890"/>
            <a:ext cx="251460" cy="251460"/>
          </a:xfrm>
          <a:prstGeom prst="rect">
            <a:avLst/>
          </a:prstGeom>
        </p:spPr>
      </p:pic>
      <p:sp>
        <p:nvSpPr>
          <p:cNvPr id="6" name="Text 3"/>
          <p:cNvSpPr txBox="1"/>
          <p:nvPr/>
        </p:nvSpPr>
        <p:spPr>
          <a:xfrm>
            <a:off x="1325880" y="1298448"/>
            <a:ext cx="2286000" cy="457200"/>
          </a:xfrm>
          <a:prstGeom prst="rect">
            <a:avLst/>
          </a:prstGeom>
          <a:noFill/>
          <a:ln/>
        </p:spPr>
        <p:txBody>
          <a:bodyPr wrap="square" lIns="0" tIns="0" rIns="0" bIns="0" rtlCol="0" anchor="ctr"/>
          <a:lstStyle/>
          <a:p>
            <a:pPr marL="0" indent="0">
              <a:buNone/>
            </a:pPr>
            <a:r>
              <a:rPr lang="en-US" sz="2000" b="1" dirty="0">
                <a:solidFill>
                  <a:srgbClr val="14213D"/>
                </a:solidFill>
                <a:latin typeface="Calibri" pitchFamily="34" charset="0"/>
                <a:ea typeface="Calibri" pitchFamily="34" charset="-122"/>
                <a:cs typeface="Calibri" pitchFamily="34" charset="-120"/>
              </a:rPr>
              <a:t>Costs</a:t>
            </a:r>
            <a:endParaRPr lang="en-US" sz="2000" dirty="0"/>
          </a:p>
        </p:txBody>
      </p:sp>
      <p:sp>
        <p:nvSpPr>
          <p:cNvPr id="7" name="Text 4"/>
          <p:cNvSpPr txBox="1"/>
          <p:nvPr/>
        </p:nvSpPr>
        <p:spPr>
          <a:xfrm>
            <a:off x="685800" y="1920240"/>
            <a:ext cx="3246120" cy="1600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A37"/>
                </a:solidFill>
                <a:latin typeface="Calibri" pitchFamily="34" charset="0"/>
                <a:ea typeface="Calibri" pitchFamily="34" charset="-122"/>
                <a:cs typeface="Calibri" pitchFamily="34" charset="-120"/>
              </a:rPr>
              <a:t>PV facade costs about the same as a quality facade, but it produces power</a:t>
            </a:r>
            <a:endParaRPr lang="en-US" sz="1300" dirty="0"/>
          </a:p>
          <a:p>
            <a:pPr marL="342900" indent="-342900">
              <a:spcAft>
                <a:spcPts val="800"/>
              </a:spcAft>
              <a:buSzPct val="100000"/>
              <a:buChar char="•"/>
            </a:pPr>
            <a:r>
              <a:rPr lang="en-US" sz="1300" dirty="0">
                <a:solidFill>
                  <a:srgbClr val="1F2A37"/>
                </a:solidFill>
                <a:latin typeface="Calibri" pitchFamily="34" charset="0"/>
                <a:ea typeface="Calibri" pitchFamily="34" charset="-122"/>
                <a:cs typeface="Calibri" pitchFamily="34" charset="-120"/>
              </a:rPr>
              <a:t>The carport uses space we already have</a:t>
            </a:r>
            <a:endParaRPr lang="en-US" sz="1300" dirty="0"/>
          </a:p>
          <a:p>
            <a:pPr marL="342900" indent="-342900">
              <a:spcAft>
                <a:spcPts val="800"/>
              </a:spcAft>
              <a:buSzPct val="100000"/>
              <a:buChar char="•"/>
            </a:pPr>
            <a:r>
              <a:rPr lang="en-US" sz="1300" dirty="0">
                <a:solidFill>
                  <a:srgbClr val="1F2A37"/>
                </a:solidFill>
                <a:latin typeface="Calibri" pitchFamily="34" charset="0"/>
                <a:ea typeface="Calibri" pitchFamily="34" charset="-122"/>
                <a:cs typeface="Calibri" pitchFamily="34" charset="-120"/>
              </a:rPr>
              <a:t>Tracking adds moving parts and maintenance</a:t>
            </a:r>
            <a:endParaRPr lang="en-US" sz="1300" dirty="0"/>
          </a:p>
        </p:txBody>
      </p:sp>
      <p:sp>
        <p:nvSpPr>
          <p:cNvPr id="8" name="Shape 5"/>
          <p:cNvSpPr/>
          <p:nvPr/>
        </p:nvSpPr>
        <p:spPr>
          <a:xfrm>
            <a:off x="685800" y="3703320"/>
            <a:ext cx="3200400" cy="594360"/>
          </a:xfrm>
          <a:prstGeom prst="roundRect">
            <a:avLst>
              <a:gd name="adj" fmla="val 12308"/>
            </a:avLst>
          </a:prstGeom>
          <a:solidFill>
            <a:srgbClr val="FFF3DF"/>
          </a:solidFill>
          <a:ln w="12700">
            <a:solidFill>
              <a:srgbClr val="FFF3DF"/>
            </a:solidFill>
            <a:prstDash val="solid"/>
          </a:ln>
        </p:spPr>
        <p:txBody>
          <a:bodyPr/>
          <a:lstStyle/>
          <a:p>
            <a:endParaRPr lang="de-DE"/>
          </a:p>
        </p:txBody>
      </p:sp>
      <p:sp>
        <p:nvSpPr>
          <p:cNvPr id="9" name="Text 6"/>
          <p:cNvSpPr txBox="1"/>
          <p:nvPr/>
        </p:nvSpPr>
        <p:spPr>
          <a:xfrm>
            <a:off x="822960" y="3703320"/>
            <a:ext cx="2971800" cy="594360"/>
          </a:xfrm>
          <a:prstGeom prst="rect">
            <a:avLst/>
          </a:prstGeom>
          <a:noFill/>
          <a:ln/>
        </p:spPr>
        <p:txBody>
          <a:bodyPr wrap="square" lIns="0" tIns="0" rIns="0" bIns="0" rtlCol="0" anchor="ctr"/>
          <a:lstStyle/>
          <a:p>
            <a:pPr marL="0" indent="0">
              <a:buNone/>
            </a:pPr>
            <a:r>
              <a:rPr lang="en-US" sz="1300" b="1" dirty="0">
                <a:solidFill>
                  <a:srgbClr val="B45F06"/>
                </a:solidFill>
                <a:latin typeface="Calibri" pitchFamily="34" charset="0"/>
                <a:ea typeface="Calibri" pitchFamily="34" charset="-122"/>
                <a:cs typeface="Calibri" pitchFamily="34" charset="-120"/>
              </a:rPr>
              <a:t>Trade-off: </a:t>
            </a:r>
            <a:r>
              <a:rPr lang="en-US" sz="1300" dirty="0">
                <a:solidFill>
                  <a:srgbClr val="1F2A37"/>
                </a:solidFill>
                <a:latin typeface="Calibri" pitchFamily="34" charset="0"/>
                <a:ea typeface="Calibri" pitchFamily="34" charset="-122"/>
                <a:cs typeface="Calibri" pitchFamily="34" charset="-120"/>
              </a:rPr>
              <a:t>in winter we still need the grid.</a:t>
            </a:r>
            <a:endParaRPr lang="en-US" sz="1300" dirty="0"/>
          </a:p>
        </p:txBody>
      </p:sp>
      <p:sp>
        <p:nvSpPr>
          <p:cNvPr id="10" name="Shape 7"/>
          <p:cNvSpPr/>
          <p:nvPr/>
        </p:nvSpPr>
        <p:spPr>
          <a:xfrm>
            <a:off x="4389120" y="1097280"/>
            <a:ext cx="2057400" cy="1645920"/>
          </a:xfrm>
          <a:prstGeom prst="roundRect">
            <a:avLst>
              <a:gd name="adj" fmla="val 6667"/>
            </a:avLst>
          </a:prstGeom>
          <a:solidFill>
            <a:srgbClr val="FFFFFF"/>
          </a:solidFill>
          <a:ln w="12700">
            <a:solidFill>
              <a:srgbClr val="D5DEE6"/>
            </a:solidFill>
            <a:prstDash val="solid"/>
          </a:ln>
        </p:spPr>
        <p:txBody>
          <a:bodyPr/>
          <a:lstStyle/>
          <a:p>
            <a:endParaRPr lang="de-DE"/>
          </a:p>
        </p:txBody>
      </p:sp>
      <p:sp>
        <p:nvSpPr>
          <p:cNvPr id="11" name="Shape 8"/>
          <p:cNvSpPr/>
          <p:nvPr/>
        </p:nvSpPr>
        <p:spPr>
          <a:xfrm>
            <a:off x="4572000" y="1280160"/>
            <a:ext cx="502920" cy="502920"/>
          </a:xfrm>
          <a:prstGeom prst="ellipse">
            <a:avLst/>
          </a:prstGeom>
          <a:solidFill>
            <a:srgbClr val="2A8C8A"/>
          </a:solidFill>
          <a:ln w="12700">
            <a:solidFill>
              <a:srgbClr val="2A8C8A"/>
            </a:solidFill>
            <a:prstDash val="solid"/>
          </a:ln>
        </p:spPr>
        <p:txBody>
          <a:bodyPr/>
          <a:lstStyle/>
          <a:p>
            <a:endParaRPr lang="de-DE"/>
          </a:p>
        </p:txBody>
      </p:sp>
      <p:pic>
        <p:nvPicPr>
          <p:cNvPr id="12" name="Image 1" descr="preencoded.png"/>
          <p:cNvPicPr>
            <a:picLocks noChangeAspect="1"/>
          </p:cNvPicPr>
          <p:nvPr/>
        </p:nvPicPr>
        <p:blipFill>
          <a:blip r:embed="rId4"/>
          <a:stretch>
            <a:fillRect/>
          </a:stretch>
        </p:blipFill>
        <p:spPr>
          <a:xfrm>
            <a:off x="4697730" y="1405890"/>
            <a:ext cx="251460" cy="251460"/>
          </a:xfrm>
          <a:prstGeom prst="rect">
            <a:avLst/>
          </a:prstGeom>
        </p:spPr>
      </p:pic>
      <p:sp>
        <p:nvSpPr>
          <p:cNvPr id="13" name="Text 9"/>
          <p:cNvSpPr txBox="1"/>
          <p:nvPr/>
        </p:nvSpPr>
        <p:spPr>
          <a:xfrm>
            <a:off x="4572000" y="1874520"/>
            <a:ext cx="1737360" cy="36576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Less CO₂</a:t>
            </a:r>
            <a:endParaRPr lang="en-US" sz="1400" dirty="0"/>
          </a:p>
        </p:txBody>
      </p:sp>
      <p:sp>
        <p:nvSpPr>
          <p:cNvPr id="14" name="Text 10"/>
          <p:cNvSpPr txBox="1"/>
          <p:nvPr/>
        </p:nvSpPr>
        <p:spPr>
          <a:xfrm>
            <a:off x="4572000" y="2212848"/>
            <a:ext cx="1737360" cy="41148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Clean power from our own surfaces</a:t>
            </a:r>
            <a:endParaRPr lang="en-US" sz="1150" dirty="0"/>
          </a:p>
        </p:txBody>
      </p:sp>
      <p:sp>
        <p:nvSpPr>
          <p:cNvPr id="15" name="Shape 11"/>
          <p:cNvSpPr/>
          <p:nvPr/>
        </p:nvSpPr>
        <p:spPr>
          <a:xfrm>
            <a:off x="6629400" y="1097280"/>
            <a:ext cx="2057400" cy="1645920"/>
          </a:xfrm>
          <a:prstGeom prst="roundRect">
            <a:avLst>
              <a:gd name="adj" fmla="val 6667"/>
            </a:avLst>
          </a:prstGeom>
          <a:solidFill>
            <a:srgbClr val="FFFFFF"/>
          </a:solidFill>
          <a:ln w="12700">
            <a:solidFill>
              <a:srgbClr val="D5DEE6"/>
            </a:solidFill>
            <a:prstDash val="solid"/>
          </a:ln>
        </p:spPr>
        <p:txBody>
          <a:bodyPr/>
          <a:lstStyle/>
          <a:p>
            <a:endParaRPr lang="de-DE"/>
          </a:p>
        </p:txBody>
      </p:sp>
      <p:sp>
        <p:nvSpPr>
          <p:cNvPr id="16" name="Shape 12"/>
          <p:cNvSpPr/>
          <p:nvPr/>
        </p:nvSpPr>
        <p:spPr>
          <a:xfrm>
            <a:off x="6812280" y="1280160"/>
            <a:ext cx="502920" cy="502920"/>
          </a:xfrm>
          <a:prstGeom prst="ellipse">
            <a:avLst/>
          </a:prstGeom>
          <a:solidFill>
            <a:srgbClr val="2A8C8A"/>
          </a:solidFill>
          <a:ln w="12700">
            <a:solidFill>
              <a:srgbClr val="2A8C8A"/>
            </a:solidFill>
            <a:prstDash val="solid"/>
          </a:ln>
        </p:spPr>
        <p:txBody>
          <a:bodyPr/>
          <a:lstStyle/>
          <a:p>
            <a:endParaRPr lang="de-DE"/>
          </a:p>
        </p:txBody>
      </p:sp>
      <p:pic>
        <p:nvPicPr>
          <p:cNvPr id="17" name="Image 2" descr="preencoded.png"/>
          <p:cNvPicPr>
            <a:picLocks noChangeAspect="1"/>
          </p:cNvPicPr>
          <p:nvPr/>
        </p:nvPicPr>
        <p:blipFill>
          <a:blip r:embed="rId5"/>
          <a:stretch>
            <a:fillRect/>
          </a:stretch>
        </p:blipFill>
        <p:spPr>
          <a:xfrm>
            <a:off x="6938010" y="1405890"/>
            <a:ext cx="251460" cy="251460"/>
          </a:xfrm>
          <a:prstGeom prst="rect">
            <a:avLst/>
          </a:prstGeom>
        </p:spPr>
      </p:pic>
      <p:sp>
        <p:nvSpPr>
          <p:cNvPr id="18" name="Text 13"/>
          <p:cNvSpPr txBox="1"/>
          <p:nvPr/>
        </p:nvSpPr>
        <p:spPr>
          <a:xfrm>
            <a:off x="6812280" y="1874520"/>
            <a:ext cx="1737360" cy="36576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EV charging</a:t>
            </a:r>
            <a:endParaRPr lang="en-US" sz="1400" dirty="0"/>
          </a:p>
        </p:txBody>
      </p:sp>
      <p:sp>
        <p:nvSpPr>
          <p:cNvPr id="19" name="Text 14"/>
          <p:cNvSpPr txBox="1"/>
          <p:nvPr/>
        </p:nvSpPr>
        <p:spPr>
          <a:xfrm>
            <a:off x="6812280" y="2212848"/>
            <a:ext cx="1737360" cy="41148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For customers and delivery vans</a:t>
            </a:r>
            <a:endParaRPr lang="en-US" sz="1150" dirty="0"/>
          </a:p>
        </p:txBody>
      </p:sp>
      <p:sp>
        <p:nvSpPr>
          <p:cNvPr id="20" name="Shape 15"/>
          <p:cNvSpPr/>
          <p:nvPr/>
        </p:nvSpPr>
        <p:spPr>
          <a:xfrm>
            <a:off x="4389120" y="2880360"/>
            <a:ext cx="2057400" cy="1645920"/>
          </a:xfrm>
          <a:prstGeom prst="roundRect">
            <a:avLst>
              <a:gd name="adj" fmla="val 6667"/>
            </a:avLst>
          </a:prstGeom>
          <a:solidFill>
            <a:srgbClr val="FFFFFF"/>
          </a:solidFill>
          <a:ln w="12700">
            <a:solidFill>
              <a:srgbClr val="D5DEE6"/>
            </a:solidFill>
            <a:prstDash val="solid"/>
          </a:ln>
        </p:spPr>
        <p:txBody>
          <a:bodyPr/>
          <a:lstStyle/>
          <a:p>
            <a:endParaRPr lang="de-DE"/>
          </a:p>
        </p:txBody>
      </p:sp>
      <p:sp>
        <p:nvSpPr>
          <p:cNvPr id="21" name="Shape 16"/>
          <p:cNvSpPr/>
          <p:nvPr/>
        </p:nvSpPr>
        <p:spPr>
          <a:xfrm>
            <a:off x="4572000" y="3063240"/>
            <a:ext cx="502920" cy="502920"/>
          </a:xfrm>
          <a:prstGeom prst="ellipse">
            <a:avLst/>
          </a:prstGeom>
          <a:solidFill>
            <a:srgbClr val="F7A325"/>
          </a:solidFill>
          <a:ln w="12700">
            <a:solidFill>
              <a:srgbClr val="F7A325"/>
            </a:solidFill>
            <a:prstDash val="solid"/>
          </a:ln>
        </p:spPr>
        <p:txBody>
          <a:bodyPr/>
          <a:lstStyle/>
          <a:p>
            <a:endParaRPr lang="de-DE"/>
          </a:p>
        </p:txBody>
      </p:sp>
      <p:pic>
        <p:nvPicPr>
          <p:cNvPr id="22" name="Image 3" descr="preencoded.png"/>
          <p:cNvPicPr>
            <a:picLocks noChangeAspect="1"/>
          </p:cNvPicPr>
          <p:nvPr/>
        </p:nvPicPr>
        <p:blipFill>
          <a:blip r:embed="rId6"/>
          <a:stretch>
            <a:fillRect/>
          </a:stretch>
        </p:blipFill>
        <p:spPr>
          <a:xfrm>
            <a:off x="4697730" y="3188970"/>
            <a:ext cx="251460" cy="251460"/>
          </a:xfrm>
          <a:prstGeom prst="rect">
            <a:avLst/>
          </a:prstGeom>
        </p:spPr>
      </p:pic>
      <p:sp>
        <p:nvSpPr>
          <p:cNvPr id="23" name="Text 17"/>
          <p:cNvSpPr txBox="1"/>
          <p:nvPr/>
        </p:nvSpPr>
        <p:spPr>
          <a:xfrm>
            <a:off x="4572000" y="3657600"/>
            <a:ext cx="1737360" cy="36576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Helps stabilize the grid</a:t>
            </a:r>
            <a:endParaRPr lang="en-US" sz="1400" dirty="0"/>
          </a:p>
        </p:txBody>
      </p:sp>
      <p:sp>
        <p:nvSpPr>
          <p:cNvPr id="24" name="Text 18"/>
          <p:cNvSpPr txBox="1"/>
          <p:nvPr/>
        </p:nvSpPr>
        <p:spPr>
          <a:xfrm>
            <a:off x="4572000" y="3995928"/>
            <a:ext cx="1737360" cy="41148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Stores cold when power is plentiful</a:t>
            </a:r>
            <a:endParaRPr lang="en-US" sz="1150" dirty="0"/>
          </a:p>
        </p:txBody>
      </p:sp>
      <p:sp>
        <p:nvSpPr>
          <p:cNvPr id="25" name="Shape 19"/>
          <p:cNvSpPr/>
          <p:nvPr/>
        </p:nvSpPr>
        <p:spPr>
          <a:xfrm>
            <a:off x="6629400" y="2880360"/>
            <a:ext cx="2057400" cy="1645920"/>
          </a:xfrm>
          <a:prstGeom prst="roundRect">
            <a:avLst>
              <a:gd name="adj" fmla="val 6667"/>
            </a:avLst>
          </a:prstGeom>
          <a:solidFill>
            <a:srgbClr val="FFFFFF"/>
          </a:solidFill>
          <a:ln w="12700">
            <a:solidFill>
              <a:srgbClr val="D5DEE6"/>
            </a:solidFill>
            <a:prstDash val="solid"/>
          </a:ln>
        </p:spPr>
        <p:txBody>
          <a:bodyPr/>
          <a:lstStyle/>
          <a:p>
            <a:endParaRPr lang="de-DE"/>
          </a:p>
        </p:txBody>
      </p:sp>
      <p:sp>
        <p:nvSpPr>
          <p:cNvPr id="26" name="Shape 20"/>
          <p:cNvSpPr/>
          <p:nvPr/>
        </p:nvSpPr>
        <p:spPr>
          <a:xfrm>
            <a:off x="6812280" y="3063240"/>
            <a:ext cx="502920" cy="502920"/>
          </a:xfrm>
          <a:prstGeom prst="ellipse">
            <a:avLst/>
          </a:prstGeom>
          <a:solidFill>
            <a:srgbClr val="F7A325"/>
          </a:solidFill>
          <a:ln w="12700">
            <a:solidFill>
              <a:srgbClr val="F7A325"/>
            </a:solidFill>
            <a:prstDash val="solid"/>
          </a:ln>
        </p:spPr>
        <p:txBody>
          <a:bodyPr/>
          <a:lstStyle/>
          <a:p>
            <a:endParaRPr lang="de-DE"/>
          </a:p>
        </p:txBody>
      </p:sp>
      <p:pic>
        <p:nvPicPr>
          <p:cNvPr id="27" name="Image 4" descr="preencoded.png"/>
          <p:cNvPicPr>
            <a:picLocks noChangeAspect="1"/>
          </p:cNvPicPr>
          <p:nvPr/>
        </p:nvPicPr>
        <p:blipFill>
          <a:blip r:embed="rId7"/>
          <a:stretch>
            <a:fillRect/>
          </a:stretch>
        </p:blipFill>
        <p:spPr>
          <a:xfrm>
            <a:off x="6938010" y="3188970"/>
            <a:ext cx="251460" cy="251460"/>
          </a:xfrm>
          <a:prstGeom prst="rect">
            <a:avLst/>
          </a:prstGeom>
        </p:spPr>
      </p:pic>
      <p:sp>
        <p:nvSpPr>
          <p:cNvPr id="28" name="Text 21"/>
          <p:cNvSpPr txBox="1"/>
          <p:nvPr/>
        </p:nvSpPr>
        <p:spPr>
          <a:xfrm>
            <a:off x="6812280" y="3657600"/>
            <a:ext cx="1737360" cy="365760"/>
          </a:xfrm>
          <a:prstGeom prst="rect">
            <a:avLst/>
          </a:prstGeom>
          <a:noFill/>
          <a:ln/>
        </p:spPr>
        <p:txBody>
          <a:bodyPr wrap="square" lIns="0" tIns="0" rIns="0" bIns="0" rtlCol="0" anchor="t"/>
          <a:lstStyle/>
          <a:p>
            <a:pPr marL="0" indent="0">
              <a:buNone/>
            </a:pPr>
            <a:r>
              <a:rPr lang="en-US" sz="1400" b="1" dirty="0">
                <a:solidFill>
                  <a:srgbClr val="14213D"/>
                </a:solidFill>
                <a:latin typeface="Calibri" pitchFamily="34" charset="0"/>
                <a:ea typeface="Calibri" pitchFamily="34" charset="-122"/>
                <a:cs typeface="Calibri" pitchFamily="34" charset="-120"/>
              </a:rPr>
              <a:t>Safe food &amp; medicine</a:t>
            </a:r>
            <a:endParaRPr lang="en-US" sz="1400" dirty="0"/>
          </a:p>
        </p:txBody>
      </p:sp>
      <p:sp>
        <p:nvSpPr>
          <p:cNvPr id="29" name="Text 22"/>
          <p:cNvSpPr txBox="1"/>
          <p:nvPr/>
        </p:nvSpPr>
        <p:spPr>
          <a:xfrm>
            <a:off x="6812280" y="3995928"/>
            <a:ext cx="1737360" cy="411480"/>
          </a:xfrm>
          <a:prstGeom prst="rect">
            <a:avLst/>
          </a:prstGeom>
          <a:noFill/>
          <a:ln/>
        </p:spPr>
        <p:txBody>
          <a:bodyPr wrap="square" lIns="0" tIns="0" rIns="0" bIns="0" rtlCol="0" anchor="t"/>
          <a:lstStyle/>
          <a:p>
            <a:pPr marL="0" indent="0">
              <a:buNone/>
            </a:pPr>
            <a:r>
              <a:rPr lang="en-US" sz="1150" dirty="0">
                <a:solidFill>
                  <a:srgbClr val="5C6B7A"/>
                </a:solidFill>
                <a:latin typeface="Calibri" pitchFamily="34" charset="0"/>
                <a:ea typeface="Calibri" pitchFamily="34" charset="-122"/>
                <a:cs typeface="Calibri" pitchFamily="34" charset="-120"/>
              </a:rPr>
              <a:t>Reliable cooling, even on hot days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Summary &amp; outlook</a:t>
            </a:r>
            <a:endParaRPr lang="en-US" sz="3200" dirty="0"/>
          </a:p>
        </p:txBody>
      </p:sp>
      <p:pic>
        <p:nvPicPr>
          <p:cNvPr id="3" name="Image 0" descr="preencoded.png"/>
          <p:cNvPicPr>
            <a:picLocks noChangeAspect="1"/>
          </p:cNvPicPr>
          <p:nvPr/>
        </p:nvPicPr>
        <p:blipFill>
          <a:blip r:embed="rId3"/>
          <a:stretch>
            <a:fillRect/>
          </a:stretch>
        </p:blipFill>
        <p:spPr>
          <a:xfrm>
            <a:off x="457200" y="1051560"/>
            <a:ext cx="3383280" cy="1892808"/>
          </a:xfrm>
          <a:prstGeom prst="rect">
            <a:avLst/>
          </a:prstGeom>
        </p:spPr>
      </p:pic>
      <p:pic>
        <p:nvPicPr>
          <p:cNvPr id="4" name="Image 1" descr="preencoded.png"/>
          <p:cNvPicPr>
            <a:picLocks noChangeAspect="1"/>
          </p:cNvPicPr>
          <p:nvPr/>
        </p:nvPicPr>
        <p:blipFill>
          <a:blip r:embed="rId4"/>
          <a:stretch>
            <a:fillRect/>
          </a:stretch>
        </p:blipFill>
        <p:spPr>
          <a:xfrm>
            <a:off x="5303520" y="1051560"/>
            <a:ext cx="3383280" cy="1892808"/>
          </a:xfrm>
          <a:prstGeom prst="rect">
            <a:avLst/>
          </a:prstGeom>
        </p:spPr>
      </p:pic>
      <p:pic>
        <p:nvPicPr>
          <p:cNvPr id="5" name="Image 2" descr="preencoded.png"/>
          <p:cNvPicPr>
            <a:picLocks noChangeAspect="1"/>
          </p:cNvPicPr>
          <p:nvPr/>
        </p:nvPicPr>
        <p:blipFill>
          <a:blip r:embed="rId5"/>
          <a:stretch>
            <a:fillRect/>
          </a:stretch>
        </p:blipFill>
        <p:spPr>
          <a:xfrm>
            <a:off x="4251960" y="1673352"/>
            <a:ext cx="640080" cy="640080"/>
          </a:xfrm>
          <a:prstGeom prst="rect">
            <a:avLst/>
          </a:prstGeom>
        </p:spPr>
      </p:pic>
      <p:sp>
        <p:nvSpPr>
          <p:cNvPr id="6" name="Text 1"/>
          <p:cNvSpPr txBox="1"/>
          <p:nvPr/>
        </p:nvSpPr>
        <p:spPr>
          <a:xfrm>
            <a:off x="457200" y="3017520"/>
            <a:ext cx="3383280" cy="274320"/>
          </a:xfrm>
          <a:prstGeom prst="rect">
            <a:avLst/>
          </a:prstGeom>
          <a:noFill/>
          <a:ln/>
        </p:spPr>
        <p:txBody>
          <a:bodyPr wrap="square" lIns="0" tIns="0" rIns="0" bIns="0" rtlCol="0" anchor="ctr"/>
          <a:lstStyle/>
          <a:p>
            <a:pPr marL="0" indent="0" algn="ctr">
              <a:buNone/>
            </a:pPr>
            <a:r>
              <a:rPr lang="en-US" sz="1300" dirty="0">
                <a:solidFill>
                  <a:srgbClr val="CFE3EE"/>
                </a:solidFill>
                <a:latin typeface="Calibri" pitchFamily="34" charset="0"/>
                <a:ea typeface="Calibri" pitchFamily="34" charset="-122"/>
                <a:cs typeface="Calibri" pitchFamily="34" charset="-120"/>
              </a:rPr>
              <a:t>Today: fights the sun</a:t>
            </a:r>
            <a:endParaRPr lang="en-US" sz="1300" dirty="0"/>
          </a:p>
        </p:txBody>
      </p:sp>
      <p:sp>
        <p:nvSpPr>
          <p:cNvPr id="7" name="Text 2"/>
          <p:cNvSpPr txBox="1"/>
          <p:nvPr/>
        </p:nvSpPr>
        <p:spPr>
          <a:xfrm>
            <a:off x="5303520" y="3017520"/>
            <a:ext cx="3383280" cy="274320"/>
          </a:xfrm>
          <a:prstGeom prst="rect">
            <a:avLst/>
          </a:prstGeom>
          <a:noFill/>
          <a:ln/>
        </p:spPr>
        <p:txBody>
          <a:bodyPr wrap="square" lIns="0" tIns="0" rIns="0" bIns="0" rtlCol="0" anchor="ctr"/>
          <a:lstStyle/>
          <a:p>
            <a:pPr marL="0" indent="0" algn="ctr">
              <a:buNone/>
            </a:pPr>
            <a:r>
              <a:rPr lang="en-US" sz="1300" dirty="0">
                <a:solidFill>
                  <a:srgbClr val="CFE3EE"/>
                </a:solidFill>
                <a:latin typeface="Calibri" pitchFamily="34" charset="0"/>
                <a:ea typeface="Calibri" pitchFamily="34" charset="-122"/>
                <a:cs typeface="Calibri" pitchFamily="34" charset="-120"/>
              </a:rPr>
              <a:t>Tomorrow: uses the sun</a:t>
            </a:r>
            <a:endParaRPr lang="en-US" sz="1300" dirty="0"/>
          </a:p>
        </p:txBody>
      </p:sp>
      <p:sp>
        <p:nvSpPr>
          <p:cNvPr id="8" name="Text 3"/>
          <p:cNvSpPr txBox="1"/>
          <p:nvPr/>
        </p:nvSpPr>
        <p:spPr>
          <a:xfrm>
            <a:off x="457200" y="3493008"/>
            <a:ext cx="640080" cy="329184"/>
          </a:xfrm>
          <a:prstGeom prst="rect">
            <a:avLst/>
          </a:prstGeom>
          <a:noFill/>
          <a:ln/>
        </p:spPr>
        <p:txBody>
          <a:bodyPr wrap="square" lIns="0" tIns="0" rIns="0" bIns="0" rtlCol="0" anchor="ctr"/>
          <a:lstStyle/>
          <a:p>
            <a:pPr marL="0" indent="0">
              <a:buNone/>
            </a:pPr>
            <a:r>
              <a:rPr lang="en-US" sz="1200" b="1" kern="0" spc="100" dirty="0">
                <a:solidFill>
                  <a:srgbClr val="F7A325"/>
                </a:solidFill>
                <a:latin typeface="Calibri" pitchFamily="34" charset="0"/>
                <a:ea typeface="Calibri" pitchFamily="34" charset="-122"/>
                <a:cs typeface="Calibri" pitchFamily="34" charset="-120"/>
              </a:rPr>
              <a:t>NEXT:</a:t>
            </a:r>
            <a:endParaRPr lang="en-US" sz="1200" dirty="0"/>
          </a:p>
        </p:txBody>
      </p:sp>
      <p:pic>
        <p:nvPicPr>
          <p:cNvPr id="9" name="Image 3" descr="preencoded.png"/>
          <p:cNvPicPr>
            <a:picLocks noChangeAspect="1"/>
          </p:cNvPicPr>
          <p:nvPr/>
        </p:nvPicPr>
        <p:blipFill>
          <a:blip r:embed="rId6"/>
          <a:stretch>
            <a:fillRect/>
          </a:stretch>
        </p:blipFill>
        <p:spPr>
          <a:xfrm>
            <a:off x="1143000" y="3529584"/>
            <a:ext cx="256032" cy="256032"/>
          </a:xfrm>
          <a:prstGeom prst="rect">
            <a:avLst/>
          </a:prstGeom>
        </p:spPr>
      </p:pic>
      <p:sp>
        <p:nvSpPr>
          <p:cNvPr id="10" name="Text 4"/>
          <p:cNvSpPr txBox="1"/>
          <p:nvPr/>
        </p:nvSpPr>
        <p:spPr>
          <a:xfrm>
            <a:off x="1490472" y="3493008"/>
            <a:ext cx="214884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Hospitals &amp; pharmacies</a:t>
            </a:r>
            <a:endParaRPr lang="en-US" sz="1300" dirty="0"/>
          </a:p>
        </p:txBody>
      </p:sp>
      <p:pic>
        <p:nvPicPr>
          <p:cNvPr id="11" name="Image 4" descr="preencoded.png"/>
          <p:cNvPicPr>
            <a:picLocks noChangeAspect="1"/>
          </p:cNvPicPr>
          <p:nvPr/>
        </p:nvPicPr>
        <p:blipFill>
          <a:blip r:embed="rId7"/>
          <a:stretch>
            <a:fillRect/>
          </a:stretch>
        </p:blipFill>
        <p:spPr>
          <a:xfrm>
            <a:off x="3703320" y="3529584"/>
            <a:ext cx="256032" cy="256032"/>
          </a:xfrm>
          <a:prstGeom prst="rect">
            <a:avLst/>
          </a:prstGeom>
        </p:spPr>
      </p:pic>
      <p:sp>
        <p:nvSpPr>
          <p:cNvPr id="12" name="Text 5"/>
          <p:cNvSpPr txBox="1"/>
          <p:nvPr/>
        </p:nvSpPr>
        <p:spPr>
          <a:xfrm>
            <a:off x="4050792" y="3493008"/>
            <a:ext cx="214884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Logistics centers</a:t>
            </a:r>
            <a:endParaRPr lang="en-US" sz="1300" dirty="0"/>
          </a:p>
        </p:txBody>
      </p:sp>
      <p:pic>
        <p:nvPicPr>
          <p:cNvPr id="13" name="Image 5" descr="preencoded.png"/>
          <p:cNvPicPr>
            <a:picLocks noChangeAspect="1"/>
          </p:cNvPicPr>
          <p:nvPr/>
        </p:nvPicPr>
        <p:blipFill>
          <a:blip r:embed="rId8"/>
          <a:stretch>
            <a:fillRect/>
          </a:stretch>
        </p:blipFill>
        <p:spPr>
          <a:xfrm>
            <a:off x="6263640" y="3529584"/>
            <a:ext cx="256032" cy="256032"/>
          </a:xfrm>
          <a:prstGeom prst="rect">
            <a:avLst/>
          </a:prstGeom>
        </p:spPr>
      </p:pic>
      <p:sp>
        <p:nvSpPr>
          <p:cNvPr id="14" name="Text 6"/>
          <p:cNvSpPr txBox="1"/>
          <p:nvPr/>
        </p:nvSpPr>
        <p:spPr>
          <a:xfrm>
            <a:off x="6611112" y="3493008"/>
            <a:ext cx="2148840"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Hot countries, weak grids</a:t>
            </a:r>
            <a:endParaRPr lang="en-US" sz="1300" dirty="0"/>
          </a:p>
        </p:txBody>
      </p:sp>
      <p:sp>
        <p:nvSpPr>
          <p:cNvPr id="15" name="Text 7"/>
          <p:cNvSpPr txBox="1"/>
          <p:nvPr/>
        </p:nvSpPr>
        <p:spPr>
          <a:xfrm>
            <a:off x="457200" y="3977640"/>
            <a:ext cx="8229600" cy="457200"/>
          </a:xfrm>
          <a:prstGeom prst="rect">
            <a:avLst/>
          </a:prstGeom>
          <a:noFill/>
          <a:ln/>
        </p:spPr>
        <p:txBody>
          <a:bodyPr wrap="square" lIns="0" tIns="0" rIns="0" bIns="0" rtlCol="0" anchor="ctr"/>
          <a:lstStyle/>
          <a:p>
            <a:pPr marL="0" indent="0" algn="ctr">
              <a:buNone/>
            </a:pPr>
            <a:r>
              <a:rPr lang="en-US" sz="2400" b="1" dirty="0">
                <a:solidFill>
                  <a:srgbClr val="F7A325"/>
                </a:solidFill>
                <a:latin typeface="Calibri" pitchFamily="34" charset="0"/>
                <a:ea typeface="Calibri" pitchFamily="34" charset="-122"/>
                <a:cs typeface="Calibri" pitchFamily="34" charset="-120"/>
              </a:rPr>
              <a:t>Today's supermarkets fight the sun. Tomorrow's use it.</a:t>
            </a:r>
            <a:endParaRPr lang="en-US" sz="2400" dirty="0"/>
          </a:p>
        </p:txBody>
      </p:sp>
      <p:sp>
        <p:nvSpPr>
          <p:cNvPr id="16" name="Text 8"/>
          <p:cNvSpPr txBox="1"/>
          <p:nvPr/>
        </p:nvSpPr>
        <p:spPr>
          <a:xfrm>
            <a:off x="457200" y="4434840"/>
            <a:ext cx="8229600" cy="320040"/>
          </a:xfrm>
          <a:prstGeom prst="rect">
            <a:avLst/>
          </a:prstGeom>
          <a:noFill/>
          <a:ln/>
        </p:spPr>
        <p:txBody>
          <a:bodyPr wrap="square" lIns="0" tIns="0" rIns="0" bIns="0" rtlCol="0" anchor="ctr"/>
          <a:lstStyle/>
          <a:p>
            <a:pPr marL="0" indent="0" algn="ctr">
              <a:buNone/>
            </a:pPr>
            <a:r>
              <a:rPr lang="en-US" sz="1500" i="1" dirty="0">
                <a:solidFill>
                  <a:srgbClr val="CFE3EE"/>
                </a:solidFill>
                <a:latin typeface="Calibri" pitchFamily="34" charset="0"/>
                <a:ea typeface="Calibri" pitchFamily="34" charset="-122"/>
                <a:cs typeface="Calibri" pitchFamily="34" charset="-120"/>
              </a:rPr>
              <a:t>In summer from above, in winter from the side.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778</Words>
  <Application>Microsoft Macintosh PowerPoint</Application>
  <PresentationFormat>Bildschirmpräsentation (16:9)</PresentationFormat>
  <Paragraphs>101</Paragraphs>
  <Slides>8</Slides>
  <Notes>8</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8</vt:i4>
      </vt:variant>
    </vt:vector>
  </HeadingPairs>
  <TitlesOfParts>
    <vt:vector size="11" baseType="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 In, Cold Out – Group 5</dc:title>
  <dc:subject>PptxGenJS Presentation</dc:subject>
  <dc:creator>PptxGenJS</dc:creator>
  <cp:lastModifiedBy>Marco Bach</cp:lastModifiedBy>
  <cp:revision>3</cp:revision>
  <dcterms:created xsi:type="dcterms:W3CDTF">2026-09-10T07:36:57Z</dcterms:created>
  <dcterms:modified xsi:type="dcterms:W3CDTF">2026-09-11T05:04:02Z</dcterms:modified>
</cp:coreProperties>
</file>