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2" r:id="rId4"/>
    <p:sldId id="268" r:id="rId5"/>
    <p:sldId id="259" r:id="rId6"/>
    <p:sldId id="266" r:id="rId7"/>
    <p:sldId id="263" r:id="rId8"/>
    <p:sldId id="267" r:id="rId9"/>
    <p:sldId id="264" r:id="rId10"/>
    <p:sldId id="261" r:id="rId11"/>
    <p:sldId id="265" r:id="rId12"/>
  </p:sldIdLst>
  <p:sldSz cx="12192000" cy="6858000"/>
  <p:notesSz cx="6858000" cy="12192000"/>
  <p:embeddedFontLst>
    <p:embeddedFont>
      <p:font typeface="Avenir Book" panose="02000503020000020003" pitchFamily="2" charset="0"/>
      <p:regular r:id="rId14"/>
      <p:italic r:id="rId15"/>
    </p:embeddedFont>
    <p:embeddedFont>
      <p:font typeface="Raleway" pitchFamily="2" charset="77"/>
      <p:regular r:id="rId16"/>
      <p:bold r:id="rId17"/>
    </p:embeddedFont>
    <p:embeddedFont>
      <p:font typeface="Roboto" panose="020F0502020204030204" pitchFamily="34" charset="0"/>
      <p:regular r:id="rId18"/>
      <p:bold r:id="rId19"/>
      <p:italic r:id="rId20"/>
      <p:boldItalic r:id="rId21"/>
    </p:embeddedFont>
    <p:embeddedFont>
      <p:font typeface="Roboto Bold" panose="02000000000000000000" pitchFamily="2" charset="0"/>
      <p:regular r:id="rId22"/>
      <p:bold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3688"/>
    <p:restoredTop sz="94610"/>
  </p:normalViewPr>
  <p:slideViewPr>
    <p:cSldViewPr snapToGrid="0" snapToObjects="1">
      <p:cViewPr>
        <p:scale>
          <a:sx n="109" d="100"/>
          <a:sy n="109" d="100"/>
        </p:scale>
        <p:origin x="81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053021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03AB5-FD5A-C5C1-B003-A9B3BBA89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1A7AFB-37BF-4C48-2EC6-59F7DF6A94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3953C0-7D24-CDF0-4209-A24851103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C0A686-92AE-1F54-01CE-63846838668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6779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1096568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Water–Energy Nexus in Hospitals and Communities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61475" y="2394247"/>
            <a:ext cx="6906444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Understanding the Interconnection Between Water and Energy Systems</a:t>
            </a:r>
            <a:endParaRPr lang="en-US" sz="145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09FB48-B18C-68B8-2185-7F092E3E1F32}"/>
              </a:ext>
            </a:extLst>
          </p:cNvPr>
          <p:cNvSpPr txBox="1"/>
          <p:nvPr/>
        </p:nvSpPr>
        <p:spPr>
          <a:xfrm>
            <a:off x="321110" y="3631062"/>
            <a:ext cx="674872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400" dirty="0"/>
              <a:t>Group 3: </a:t>
            </a:r>
            <a:br>
              <a:rPr lang="en-US" sz="1400" dirty="0"/>
            </a:br>
            <a:r>
              <a:rPr lang="en-US" sz="1400" dirty="0" err="1"/>
              <a:t>Farnoosh</a:t>
            </a:r>
            <a:r>
              <a:rPr lang="en-US" sz="1400" dirty="0"/>
              <a:t> Rostami, </a:t>
            </a:r>
            <a:r>
              <a:rPr lang="en-US" sz="1400" dirty="0" err="1"/>
              <a:t>Politecnico</a:t>
            </a:r>
            <a:r>
              <a:rPr lang="en-US" sz="1400" dirty="0"/>
              <a:t> di Milano</a:t>
            </a:r>
          </a:p>
          <a:p>
            <a:r>
              <a:rPr lang="en-US" sz="1400" dirty="0" err="1"/>
              <a:t>Junghwa</a:t>
            </a:r>
            <a:r>
              <a:rPr lang="en-US" sz="1400" dirty="0"/>
              <a:t> Kim KR Alumni-UCL</a:t>
            </a:r>
          </a:p>
          <a:p>
            <a:r>
              <a:rPr lang="en-US" sz="1400" dirty="0"/>
              <a:t>Marin </a:t>
            </a:r>
            <a:r>
              <a:rPr lang="en-US" sz="1400" dirty="0" err="1"/>
              <a:t>Andreea</a:t>
            </a:r>
            <a:r>
              <a:rPr lang="en-US" sz="1400" dirty="0"/>
              <a:t>-Raluca RO UNITBV</a:t>
            </a:r>
          </a:p>
          <a:p>
            <a:r>
              <a:rPr lang="en-US" sz="1400" dirty="0" err="1"/>
              <a:t>Līga</a:t>
            </a:r>
            <a:r>
              <a:rPr lang="en-US" sz="1400" dirty="0"/>
              <a:t> </a:t>
            </a:r>
            <a:r>
              <a:rPr lang="en-US" sz="1400" dirty="0" err="1"/>
              <a:t>Blumfelde</a:t>
            </a:r>
            <a:r>
              <a:rPr lang="en-US" sz="1400" dirty="0"/>
              <a:t>, University of Latvia (UL) and Riga Technical University (RTU)</a:t>
            </a:r>
            <a:br>
              <a:rPr lang="en-US" dirty="0"/>
            </a:br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FE4997-B7FE-8AD4-73B2-7FE67C0645AE}"/>
              </a:ext>
            </a:extLst>
          </p:cNvPr>
          <p:cNvSpPr txBox="1"/>
          <p:nvPr/>
        </p:nvSpPr>
        <p:spPr>
          <a:xfrm>
            <a:off x="321110" y="3311666"/>
            <a:ext cx="6097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" pitchFamily="34" charset="0"/>
                <a:ea typeface="Arial" pitchFamily="34" charset="-122"/>
                <a:cs typeface="Arial" pitchFamily="34" charset="-120"/>
              </a:rPr>
              <a:t>NBi3S Summer School 2026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FDD2691-2510-390C-07CA-3640120F161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963" b="60"/>
          <a:stretch/>
        </p:blipFill>
        <p:spPr>
          <a:xfrm>
            <a:off x="0" y="6012009"/>
            <a:ext cx="7619809" cy="84599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Water–Energy Nexus: A Bidirectional Relationship</a:t>
            </a:r>
            <a:endParaRPr lang="en-US" sz="1900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89F650-1DF2-B77C-F36E-A1C487239BA9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17" name="Image 1" descr="preencoded.png">
            <a:extLst>
              <a:ext uri="{FF2B5EF4-FFF2-40B4-BE49-F238E27FC236}">
                <a16:creationId xmlns:a16="http://schemas.microsoft.com/office/drawing/2014/main" id="{9071E67A-73F5-58CF-FD23-F7A57B58C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74820" y="961132"/>
            <a:ext cx="4255400" cy="1046063"/>
          </a:xfrm>
          <a:prstGeom prst="rect">
            <a:avLst/>
          </a:prstGeom>
        </p:spPr>
      </p:pic>
      <p:sp>
        <p:nvSpPr>
          <p:cNvPr id="18" name="Text 1">
            <a:extLst>
              <a:ext uri="{FF2B5EF4-FFF2-40B4-BE49-F238E27FC236}">
                <a16:creationId xmlns:a16="http://schemas.microsoft.com/office/drawing/2014/main" id="{B4D8795D-B8DC-6B82-3B62-A99955AF1DA0}"/>
              </a:ext>
            </a:extLst>
          </p:cNvPr>
          <p:cNvSpPr/>
          <p:nvPr/>
        </p:nvSpPr>
        <p:spPr>
          <a:xfrm>
            <a:off x="7511747" y="1121867"/>
            <a:ext cx="37826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Water Requires Energy</a:t>
            </a:r>
            <a:endParaRPr lang="en-US" sz="1350" dirty="0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83673807-C140-69D7-EC9B-DF78C1203B4F}"/>
              </a:ext>
            </a:extLst>
          </p:cNvPr>
          <p:cNvSpPr/>
          <p:nvPr/>
        </p:nvSpPr>
        <p:spPr>
          <a:xfrm>
            <a:off x="7511747" y="1449586"/>
            <a:ext cx="3782617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Extraction, treatment, heating, and distribution all demand significant energy input at every stage.</a:t>
            </a:r>
            <a:endParaRPr lang="en-US" sz="1100" dirty="0"/>
          </a:p>
        </p:txBody>
      </p:sp>
      <p:pic>
        <p:nvPicPr>
          <p:cNvPr id="20" name="Image 2" descr="preencoded.png">
            <a:extLst>
              <a:ext uri="{FF2B5EF4-FFF2-40B4-BE49-F238E27FC236}">
                <a16:creationId xmlns:a16="http://schemas.microsoft.com/office/drawing/2014/main" id="{1CFBF6E7-C55F-B09D-A7A0-094573E70F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4820" y="2113459"/>
            <a:ext cx="4255400" cy="1244501"/>
          </a:xfrm>
          <a:prstGeom prst="rect">
            <a:avLst/>
          </a:prstGeom>
        </p:spPr>
      </p:pic>
      <p:sp>
        <p:nvSpPr>
          <p:cNvPr id="21" name="Text 3">
            <a:extLst>
              <a:ext uri="{FF2B5EF4-FFF2-40B4-BE49-F238E27FC236}">
                <a16:creationId xmlns:a16="http://schemas.microsoft.com/office/drawing/2014/main" id="{B3B8F186-178E-BF0D-F05C-D529171E3F9E}"/>
              </a:ext>
            </a:extLst>
          </p:cNvPr>
          <p:cNvSpPr/>
          <p:nvPr/>
        </p:nvSpPr>
        <p:spPr>
          <a:xfrm>
            <a:off x="7511747" y="2274193"/>
            <a:ext cx="37826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Energy Requires Water</a:t>
            </a:r>
            <a:endParaRPr lang="en-US" sz="1350" dirty="0"/>
          </a:p>
        </p:txBody>
      </p:sp>
      <p:sp>
        <p:nvSpPr>
          <p:cNvPr id="22" name="Text 4">
            <a:extLst>
              <a:ext uri="{FF2B5EF4-FFF2-40B4-BE49-F238E27FC236}">
                <a16:creationId xmlns:a16="http://schemas.microsoft.com/office/drawing/2014/main" id="{67AFF0F2-33D2-955F-1693-9DEBA248EAF9}"/>
              </a:ext>
            </a:extLst>
          </p:cNvPr>
          <p:cNvSpPr/>
          <p:nvPr/>
        </p:nvSpPr>
        <p:spPr>
          <a:xfrm>
            <a:off x="7511747" y="2601913"/>
            <a:ext cx="378261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Power generation, cooling towers, and industrial processes consume vast quantities of water continuously.</a:t>
            </a:r>
            <a:endParaRPr lang="en-US" sz="1100" dirty="0"/>
          </a:p>
        </p:txBody>
      </p:sp>
      <p:pic>
        <p:nvPicPr>
          <p:cNvPr id="23" name="Image 3" descr="preencoded.png">
            <a:extLst>
              <a:ext uri="{FF2B5EF4-FFF2-40B4-BE49-F238E27FC236}">
                <a16:creationId xmlns:a16="http://schemas.microsoft.com/office/drawing/2014/main" id="{481553EF-935D-92CF-3BFE-49E44C13B4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74820" y="3464223"/>
            <a:ext cx="4255400" cy="1244501"/>
          </a:xfrm>
          <a:prstGeom prst="rect">
            <a:avLst/>
          </a:prstGeom>
        </p:spPr>
      </p:pic>
      <p:sp>
        <p:nvSpPr>
          <p:cNvPr id="24" name="Text 5">
            <a:extLst>
              <a:ext uri="{FF2B5EF4-FFF2-40B4-BE49-F238E27FC236}">
                <a16:creationId xmlns:a16="http://schemas.microsoft.com/office/drawing/2014/main" id="{2BC35C23-DE6F-DCF7-4CDA-05291C28F9E6}"/>
              </a:ext>
            </a:extLst>
          </p:cNvPr>
          <p:cNvSpPr/>
          <p:nvPr/>
        </p:nvSpPr>
        <p:spPr>
          <a:xfrm>
            <a:off x="7511747" y="3624957"/>
            <a:ext cx="378261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Opportunity</a:t>
            </a:r>
            <a:endParaRPr lang="en-US" sz="1350" dirty="0"/>
          </a:p>
        </p:txBody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A43E919A-9036-C46C-FDFF-3F2EA089EA76}"/>
              </a:ext>
            </a:extLst>
          </p:cNvPr>
          <p:cNvSpPr/>
          <p:nvPr/>
        </p:nvSpPr>
        <p:spPr>
          <a:xfrm>
            <a:off x="7511747" y="3952677"/>
            <a:ext cx="3782617" cy="5953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Wastewater contains recoverable heat that can be captured and reused instead of being lost to the environment.</a:t>
            </a:r>
            <a:endParaRPr lang="en-US" sz="1100" dirty="0"/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92D5BA2F-203A-53A2-216F-6CF0C8426AD2}"/>
              </a:ext>
            </a:extLst>
          </p:cNvPr>
          <p:cNvSpPr/>
          <p:nvPr/>
        </p:nvSpPr>
        <p:spPr>
          <a:xfrm>
            <a:off x="7274820" y="4828282"/>
            <a:ext cx="4255400" cy="1055886"/>
          </a:xfrm>
          <a:prstGeom prst="roundRect">
            <a:avLst>
              <a:gd name="adj" fmla="val 5639"/>
            </a:avLst>
          </a:prstGeom>
          <a:solidFill>
            <a:srgbClr val="E1E1EA"/>
          </a:solidFill>
          <a:ln/>
        </p:spPr>
      </p:sp>
      <p:pic>
        <p:nvPicPr>
          <p:cNvPr id="27" name="Image 4" descr="preencoded.png">
            <a:extLst>
              <a:ext uri="{FF2B5EF4-FFF2-40B4-BE49-F238E27FC236}">
                <a16:creationId xmlns:a16="http://schemas.microsoft.com/office/drawing/2014/main" id="{52FB1A1B-F5B5-8CCA-A352-20C9D43C267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16501" y="4991993"/>
            <a:ext cx="210676" cy="141684"/>
          </a:xfrm>
          <a:prstGeom prst="rect">
            <a:avLst/>
          </a:prstGeom>
        </p:spPr>
      </p:pic>
      <p:sp>
        <p:nvSpPr>
          <p:cNvPr id="28" name="Text 8">
            <a:extLst>
              <a:ext uri="{FF2B5EF4-FFF2-40B4-BE49-F238E27FC236}">
                <a16:creationId xmlns:a16="http://schemas.microsoft.com/office/drawing/2014/main" id="{10BCD3E4-B921-646A-17CE-7334C2015F28}"/>
              </a:ext>
            </a:extLst>
          </p:cNvPr>
          <p:cNvSpPr/>
          <p:nvPr/>
        </p:nvSpPr>
        <p:spPr>
          <a:xfrm>
            <a:off x="7735382" y="4959350"/>
            <a:ext cx="3539384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Key Insight:</a:t>
            </a:r>
            <a:r>
              <a:rPr lang="en-US" sz="11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Water and energy are fundamentally interconnected. Improving one without considering the other creates unintended consequences.</a:t>
            </a:r>
            <a:endParaRPr lang="en-US" sz="11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304B56C-A942-95AB-1108-D2E98D62C72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b="19578"/>
          <a:stretch/>
        </p:blipFill>
        <p:spPr>
          <a:xfrm>
            <a:off x="822296" y="961132"/>
            <a:ext cx="5978241" cy="48078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475" y="815380"/>
            <a:ext cx="6296860" cy="4705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Why Hospitals Are Critical Examples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61475" y="1465957"/>
            <a:ext cx="6296860" cy="1054199"/>
          </a:xfrm>
          <a:prstGeom prst="roundRect">
            <a:avLst>
              <a:gd name="adj" fmla="val 600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18435" y="1622921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⏱</a:t>
            </a: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24/7 Operation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818435" y="1930202"/>
            <a:ext cx="59829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Hospitals operate continuously with strict environmental control—unlike most commercial buildings.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661475" y="2640112"/>
            <a:ext cx="6296860" cy="1054199"/>
          </a:xfrm>
          <a:prstGeom prst="roundRect">
            <a:avLst>
              <a:gd name="adj" fmla="val 600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18435" y="2797076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Massive Consumption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818435" y="3104356"/>
            <a:ext cx="59829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10%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Europe commercial building energy and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3-8%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greenhouse gas emissions from hospitals alone.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61475" y="3814266"/>
            <a:ext cx="6296860" cy="1054199"/>
          </a:xfrm>
          <a:prstGeom prst="roundRect">
            <a:avLst>
              <a:gd name="adj" fmla="val 600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8435" y="3971230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🌡</a:t>
            </a: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HVAC Dominance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818435" y="4278511"/>
            <a:ext cx="59829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Heating, ventilation, and air conditioning consume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30–40%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hospital energy plus significant water for cooling.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61475" y="4988421"/>
            <a:ext cx="6296860" cy="1054199"/>
          </a:xfrm>
          <a:prstGeom prst="roundRect">
            <a:avLst>
              <a:gd name="adj" fmla="val 600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18435" y="5145385"/>
            <a:ext cx="5982939" cy="2353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💧</a:t>
            </a: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Wastewater Opportunity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818435" y="5452666"/>
            <a:ext cx="5982939" cy="432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Hospital wastewater is consistently warm from showers and sterilization—ideal for continuous heat recovery.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BCD7C35-5F6A-DA09-7022-9B1EDD5D2586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5" name="Text 0">
            <a:extLst>
              <a:ext uri="{FF2B5EF4-FFF2-40B4-BE49-F238E27FC236}">
                <a16:creationId xmlns:a16="http://schemas.microsoft.com/office/drawing/2014/main" id="{4FA1DFDC-8D0D-F4C5-460B-C4FDF1FD3D94}"/>
              </a:ext>
            </a:extLst>
          </p:cNvPr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Case Study 1: Mongolia and Fiji</a:t>
            </a:r>
            <a:endParaRPr lang="en-US" sz="1900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EBD4E3F-8E56-CAD2-2B47-2EDB38D45ACA}"/>
              </a:ext>
            </a:extLst>
          </p:cNvPr>
          <p:cNvSpPr txBox="1">
            <a:spLocks/>
          </p:cNvSpPr>
          <p:nvPr/>
        </p:nvSpPr>
        <p:spPr>
          <a:xfrm>
            <a:off x="1580585" y="1167519"/>
            <a:ext cx="3369235" cy="47783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500" b="1" dirty="0"/>
              <a:t>MONGOLIA</a:t>
            </a:r>
            <a:endParaRPr lang="en-KR" sz="15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E622A65-F114-757A-EE9A-8C57641C7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110" y="1450252"/>
            <a:ext cx="3175000" cy="423672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A40A69C-4B7C-83C1-B929-D3F24A2C00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8190" y="1450252"/>
            <a:ext cx="4711700" cy="423672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1713FCA0-6813-F112-6425-6E4FCA56CFEC}"/>
              </a:ext>
            </a:extLst>
          </p:cNvPr>
          <p:cNvSpPr>
            <a:spLocks noGrp="1"/>
          </p:cNvSpPr>
          <p:nvPr/>
        </p:nvSpPr>
        <p:spPr>
          <a:xfrm>
            <a:off x="1594992" y="5730786"/>
            <a:ext cx="3369235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1500" dirty="0"/>
              <a:t>Solar energy warms the water and the building</a:t>
            </a:r>
            <a:endParaRPr lang="en-KR" sz="1500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3504C025-E478-63C7-5949-05B72CE9E950}"/>
              </a:ext>
            </a:extLst>
          </p:cNvPr>
          <p:cNvSpPr>
            <a:spLocks noGrp="1"/>
          </p:cNvSpPr>
          <p:nvPr/>
        </p:nvSpPr>
        <p:spPr>
          <a:xfrm>
            <a:off x="6459422" y="5730786"/>
            <a:ext cx="3369235" cy="477837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defPPr>
              <a:defRPr lang="en-KR"/>
            </a:defPPr>
            <a:lvl1pPr marL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sz="1500" dirty="0"/>
              <a:t>Solar and rainwater for reliable water supply and less electricity required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23E5E90-BF50-10F5-DC07-4C0FCE364B3E}"/>
              </a:ext>
            </a:extLst>
          </p:cNvPr>
          <p:cNvSpPr txBox="1">
            <a:spLocks/>
          </p:cNvSpPr>
          <p:nvPr/>
        </p:nvSpPr>
        <p:spPr>
          <a:xfrm>
            <a:off x="6459421" y="1167518"/>
            <a:ext cx="3369235" cy="477837"/>
          </a:xfrm>
          <a:prstGeom prst="rect">
            <a:avLst/>
          </a:prstGeom>
        </p:spPr>
        <p:txBody>
          <a:bodyPr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1500" b="1" dirty="0"/>
              <a:t>Fiji</a:t>
            </a:r>
            <a:endParaRPr lang="en-KR" sz="1500" b="1" dirty="0"/>
          </a:p>
        </p:txBody>
      </p:sp>
    </p:spTree>
    <p:extLst>
      <p:ext uri="{BB962C8B-B14F-4D97-AF65-F5344CB8AC3E}">
        <p14:creationId xmlns:p14="http://schemas.microsoft.com/office/powerpoint/2010/main" val="1334131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352157"/>
            <a:ext cx="10868745" cy="86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Case Study 2: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PVT and Heat Pump System in a Tropical Hospital</a:t>
            </a:r>
            <a:endParaRPr lang="en-US" sz="30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3D20C2-2783-51D2-F191-691A3B9EBF85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Text 3">
            <a:extLst>
              <a:ext uri="{FF2B5EF4-FFF2-40B4-BE49-F238E27FC236}">
                <a16:creationId xmlns:a16="http://schemas.microsoft.com/office/drawing/2014/main" id="{2E83FDAE-487C-4876-6863-B20EB9A62C00}"/>
              </a:ext>
            </a:extLst>
          </p:cNvPr>
          <p:cNvSpPr/>
          <p:nvPr/>
        </p:nvSpPr>
        <p:spPr>
          <a:xfrm>
            <a:off x="661475" y="1644531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System</a:t>
            </a:r>
            <a:endParaRPr lang="en-US" sz="2800" dirty="0"/>
          </a:p>
        </p:txBody>
      </p:sp>
      <p:sp>
        <p:nvSpPr>
          <p:cNvPr id="17" name="Text 4">
            <a:extLst>
              <a:ext uri="{FF2B5EF4-FFF2-40B4-BE49-F238E27FC236}">
                <a16:creationId xmlns:a16="http://schemas.microsoft.com/office/drawing/2014/main" id="{27D6B221-0B4E-C5FF-0A7C-759B984A234D}"/>
              </a:ext>
            </a:extLst>
          </p:cNvPr>
          <p:cNvSpPr/>
          <p:nvPr/>
        </p:nvSpPr>
        <p:spPr>
          <a:xfrm>
            <a:off x="661475" y="2047657"/>
            <a:ext cx="523266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Photovoltaic thermal (PVT) panels produce both electricity and heat simultaneously. A heat pump uses this electricity to provide heating and cooling to hospital wards.</a:t>
            </a:r>
            <a:endParaRPr lang="en-US" sz="1600" dirty="0"/>
          </a:p>
        </p:txBody>
      </p:sp>
      <p:sp>
        <p:nvSpPr>
          <p:cNvPr id="18" name="Text 5">
            <a:extLst>
              <a:ext uri="{FF2B5EF4-FFF2-40B4-BE49-F238E27FC236}">
                <a16:creationId xmlns:a16="http://schemas.microsoft.com/office/drawing/2014/main" id="{033B3756-CB57-EFA8-A769-7A7E61485891}"/>
              </a:ext>
            </a:extLst>
          </p:cNvPr>
          <p:cNvSpPr/>
          <p:nvPr/>
        </p:nvSpPr>
        <p:spPr>
          <a:xfrm>
            <a:off x="661473" y="3690578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Innovation</a:t>
            </a:r>
            <a:endParaRPr lang="en-US" sz="28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DF00DAEB-8828-5309-56EF-A0CE091272B0}"/>
              </a:ext>
            </a:extLst>
          </p:cNvPr>
          <p:cNvSpPr/>
          <p:nvPr/>
        </p:nvSpPr>
        <p:spPr>
          <a:xfrm>
            <a:off x="589145" y="4074021"/>
            <a:ext cx="523266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Cooling the PVT panels improves their electrical efficiency </a:t>
            </a:r>
            <a:r>
              <a:rPr lang="en-US" sz="160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while simultaneously</a:t>
            </a:r>
            <a:r>
              <a:rPr lang="en-US" sz="16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providing useful space cooling—a genuine dual benefit from a single installation.</a:t>
            </a:r>
            <a:endParaRPr lang="en-US" sz="1600" dirty="0"/>
          </a:p>
        </p:txBody>
      </p:sp>
      <p:sp>
        <p:nvSpPr>
          <p:cNvPr id="20" name="Shape 7">
            <a:extLst>
              <a:ext uri="{FF2B5EF4-FFF2-40B4-BE49-F238E27FC236}">
                <a16:creationId xmlns:a16="http://schemas.microsoft.com/office/drawing/2014/main" id="{B22591FD-D253-E097-ABE0-B6227B3ED0D0}"/>
              </a:ext>
            </a:extLst>
          </p:cNvPr>
          <p:cNvSpPr/>
          <p:nvPr/>
        </p:nvSpPr>
        <p:spPr>
          <a:xfrm>
            <a:off x="6297554" y="1407815"/>
            <a:ext cx="5232666" cy="838994"/>
          </a:xfrm>
          <a:prstGeom prst="roundRect">
            <a:avLst>
              <a:gd name="adj" fmla="val 8279"/>
            </a:avLst>
          </a:prstGeom>
          <a:solidFill>
            <a:srgbClr val="E1E1EA"/>
          </a:solidFill>
          <a:ln/>
        </p:spPr>
      </p:sp>
      <p:sp>
        <p:nvSpPr>
          <p:cNvPr id="22" name="Text 8">
            <a:extLst>
              <a:ext uri="{FF2B5EF4-FFF2-40B4-BE49-F238E27FC236}">
                <a16:creationId xmlns:a16="http://schemas.microsoft.com/office/drawing/2014/main" id="{062242C2-C434-D637-8FDF-7861A13BBDCE}"/>
              </a:ext>
            </a:extLst>
          </p:cNvPr>
          <p:cNvSpPr/>
          <p:nvPr/>
        </p:nvSpPr>
        <p:spPr>
          <a:xfrm>
            <a:off x="6834810" y="1579265"/>
            <a:ext cx="45301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000000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Water–Energy Connection: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Renewable energy (water-free) replaces energy-intensive water-based cooling systems.</a:t>
            </a:r>
            <a:endParaRPr lang="en-US" sz="13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EC1F2348-BE92-0542-80BD-03E323A9B8CE}"/>
              </a:ext>
            </a:extLst>
          </p:cNvPr>
          <p:cNvSpPr/>
          <p:nvPr/>
        </p:nvSpPr>
        <p:spPr>
          <a:xfrm>
            <a:off x="6297861" y="2486422"/>
            <a:ext cx="2544004" cy="2131318"/>
          </a:xfrm>
          <a:prstGeom prst="roundRect">
            <a:avLst>
              <a:gd name="adj" fmla="val 32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Shape 10">
            <a:extLst>
              <a:ext uri="{FF2B5EF4-FFF2-40B4-BE49-F238E27FC236}">
                <a16:creationId xmlns:a16="http://schemas.microsoft.com/office/drawing/2014/main" id="{72DB44CE-5AC3-E856-0BD3-D846011F6947}"/>
              </a:ext>
            </a:extLst>
          </p:cNvPr>
          <p:cNvSpPr/>
          <p:nvPr/>
        </p:nvSpPr>
        <p:spPr>
          <a:xfrm>
            <a:off x="6469505" y="2658071"/>
            <a:ext cx="496081" cy="49609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25" name="Image 1" descr="preencoded.png">
            <a:extLst>
              <a:ext uri="{FF2B5EF4-FFF2-40B4-BE49-F238E27FC236}">
                <a16:creationId xmlns:a16="http://schemas.microsoft.com/office/drawing/2014/main" id="{DA0CD8E5-1FC5-63A7-1DB0-5D9E08F944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5928" y="2794397"/>
            <a:ext cx="223237" cy="223242"/>
          </a:xfrm>
          <a:prstGeom prst="rect">
            <a:avLst/>
          </a:prstGeom>
        </p:spPr>
      </p:pic>
      <p:sp>
        <p:nvSpPr>
          <p:cNvPr id="26" name="Text 11">
            <a:extLst>
              <a:ext uri="{FF2B5EF4-FFF2-40B4-BE49-F238E27FC236}">
                <a16:creationId xmlns:a16="http://schemas.microsoft.com/office/drawing/2014/main" id="{869D2B70-BA8D-1567-E67C-0200D6D4BCF1}"/>
              </a:ext>
            </a:extLst>
          </p:cNvPr>
          <p:cNvSpPr/>
          <p:nvPr/>
        </p:nvSpPr>
        <p:spPr>
          <a:xfrm>
            <a:off x="6469505" y="3298825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51–69%</a:t>
            </a:r>
            <a:endParaRPr lang="en-US" sz="1600" dirty="0"/>
          </a:p>
        </p:txBody>
      </p:sp>
      <p:sp>
        <p:nvSpPr>
          <p:cNvPr id="27" name="Text 12">
            <a:extLst>
              <a:ext uri="{FF2B5EF4-FFF2-40B4-BE49-F238E27FC236}">
                <a16:creationId xmlns:a16="http://schemas.microsoft.com/office/drawing/2014/main" id="{B24EA8C9-E635-4394-8E7C-643AACB99E63}"/>
              </a:ext>
            </a:extLst>
          </p:cNvPr>
          <p:cNvSpPr/>
          <p:nvPr/>
        </p:nvSpPr>
        <p:spPr>
          <a:xfrm>
            <a:off x="6469505" y="3701951"/>
            <a:ext cx="2200716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Overall system efficiency combining electrical and thermal output</a:t>
            </a:r>
            <a:endParaRPr lang="en-US" sz="1300" dirty="0"/>
          </a:p>
        </p:txBody>
      </p:sp>
      <p:sp>
        <p:nvSpPr>
          <p:cNvPr id="28" name="Shape 13">
            <a:extLst>
              <a:ext uri="{FF2B5EF4-FFF2-40B4-BE49-F238E27FC236}">
                <a16:creationId xmlns:a16="http://schemas.microsoft.com/office/drawing/2014/main" id="{63DBF726-FC86-716B-3FAA-FBD321625164}"/>
              </a:ext>
            </a:extLst>
          </p:cNvPr>
          <p:cNvSpPr/>
          <p:nvPr/>
        </p:nvSpPr>
        <p:spPr>
          <a:xfrm>
            <a:off x="8986523" y="2486422"/>
            <a:ext cx="2544004" cy="2131318"/>
          </a:xfrm>
          <a:prstGeom prst="roundRect">
            <a:avLst>
              <a:gd name="adj" fmla="val 3259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9" name="Shape 14">
            <a:extLst>
              <a:ext uri="{FF2B5EF4-FFF2-40B4-BE49-F238E27FC236}">
                <a16:creationId xmlns:a16="http://schemas.microsoft.com/office/drawing/2014/main" id="{F3C59709-AD08-C356-D7AA-88DE68526DB3}"/>
              </a:ext>
            </a:extLst>
          </p:cNvPr>
          <p:cNvSpPr/>
          <p:nvPr/>
        </p:nvSpPr>
        <p:spPr>
          <a:xfrm>
            <a:off x="9158167" y="2658071"/>
            <a:ext cx="496081" cy="49609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0" name="Image 2" descr="preencoded.png">
            <a:extLst>
              <a:ext uri="{FF2B5EF4-FFF2-40B4-BE49-F238E27FC236}">
                <a16:creationId xmlns:a16="http://schemas.microsoft.com/office/drawing/2014/main" id="{270BBF30-27F8-ED9B-B254-E7C8B6588E8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4589" y="2794397"/>
            <a:ext cx="223237" cy="223242"/>
          </a:xfrm>
          <a:prstGeom prst="rect">
            <a:avLst/>
          </a:prstGeom>
        </p:spPr>
      </p:pic>
      <p:sp>
        <p:nvSpPr>
          <p:cNvPr id="31" name="Text 15">
            <a:extLst>
              <a:ext uri="{FF2B5EF4-FFF2-40B4-BE49-F238E27FC236}">
                <a16:creationId xmlns:a16="http://schemas.microsoft.com/office/drawing/2014/main" id="{A28574EB-FBFD-826B-5C8F-AB19F68C213F}"/>
              </a:ext>
            </a:extLst>
          </p:cNvPr>
          <p:cNvSpPr/>
          <p:nvPr/>
        </p:nvSpPr>
        <p:spPr>
          <a:xfrm>
            <a:off x="9158167" y="3298825"/>
            <a:ext cx="220071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0.5–3.9°C</a:t>
            </a:r>
            <a:endParaRPr lang="en-US" sz="1600" dirty="0"/>
          </a:p>
        </p:txBody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F969F14E-5EF5-67EF-DB84-019DF8457CDE}"/>
              </a:ext>
            </a:extLst>
          </p:cNvPr>
          <p:cNvSpPr/>
          <p:nvPr/>
        </p:nvSpPr>
        <p:spPr>
          <a:xfrm>
            <a:off x="9158167" y="3701951"/>
            <a:ext cx="22007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Reduction in hospital ward temperature achieved</a:t>
            </a:r>
            <a:endParaRPr lang="en-US" sz="1300" dirty="0"/>
          </a:p>
        </p:txBody>
      </p:sp>
      <p:sp>
        <p:nvSpPr>
          <p:cNvPr id="33" name="Shape 17">
            <a:extLst>
              <a:ext uri="{FF2B5EF4-FFF2-40B4-BE49-F238E27FC236}">
                <a16:creationId xmlns:a16="http://schemas.microsoft.com/office/drawing/2014/main" id="{0C768878-1D32-2E5C-0E99-C66BEF178AF6}"/>
              </a:ext>
            </a:extLst>
          </p:cNvPr>
          <p:cNvSpPr/>
          <p:nvPr/>
        </p:nvSpPr>
        <p:spPr>
          <a:xfrm>
            <a:off x="6297861" y="4762401"/>
            <a:ext cx="5232666" cy="1883271"/>
          </a:xfrm>
          <a:prstGeom prst="roundRect">
            <a:avLst>
              <a:gd name="adj" fmla="val 368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4" name="Shape 18">
            <a:extLst>
              <a:ext uri="{FF2B5EF4-FFF2-40B4-BE49-F238E27FC236}">
                <a16:creationId xmlns:a16="http://schemas.microsoft.com/office/drawing/2014/main" id="{FC185DE3-667C-DFD1-38C7-F545A98E8E2E}"/>
              </a:ext>
            </a:extLst>
          </p:cNvPr>
          <p:cNvSpPr/>
          <p:nvPr/>
        </p:nvSpPr>
        <p:spPr>
          <a:xfrm>
            <a:off x="6469505" y="4934049"/>
            <a:ext cx="496081" cy="496094"/>
          </a:xfrm>
          <a:prstGeom prst="ellipse">
            <a:avLst/>
          </a:prstGeom>
          <a:solidFill>
            <a:srgbClr val="1B1B27"/>
          </a:solidFill>
          <a:ln/>
        </p:spPr>
      </p:sp>
      <p:pic>
        <p:nvPicPr>
          <p:cNvPr id="35" name="Image 3" descr="preencoded.png">
            <a:extLst>
              <a:ext uri="{FF2B5EF4-FFF2-40B4-BE49-F238E27FC236}">
                <a16:creationId xmlns:a16="http://schemas.microsoft.com/office/drawing/2014/main" id="{7109BE90-A46F-8276-4CF8-97DE35FE58C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05928" y="5070376"/>
            <a:ext cx="223237" cy="223242"/>
          </a:xfrm>
          <a:prstGeom prst="rect">
            <a:avLst/>
          </a:prstGeom>
        </p:spPr>
      </p:pic>
      <p:sp>
        <p:nvSpPr>
          <p:cNvPr id="36" name="Text 19">
            <a:extLst>
              <a:ext uri="{FF2B5EF4-FFF2-40B4-BE49-F238E27FC236}">
                <a16:creationId xmlns:a16="http://schemas.microsoft.com/office/drawing/2014/main" id="{C1AE5791-A5A2-EB15-00E3-0870E5375265}"/>
              </a:ext>
            </a:extLst>
          </p:cNvPr>
          <p:cNvSpPr/>
          <p:nvPr/>
        </p:nvSpPr>
        <p:spPr>
          <a:xfrm>
            <a:off x="6469505" y="5574804"/>
            <a:ext cx="488937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Solar Powered</a:t>
            </a:r>
            <a:endParaRPr lang="en-US" sz="1600" dirty="0"/>
          </a:p>
        </p:txBody>
      </p:sp>
      <p:sp>
        <p:nvSpPr>
          <p:cNvPr id="37" name="Text 20">
            <a:extLst>
              <a:ext uri="{FF2B5EF4-FFF2-40B4-BE49-F238E27FC236}">
                <a16:creationId xmlns:a16="http://schemas.microsoft.com/office/drawing/2014/main" id="{72B901E0-5E9B-D39E-E5A5-19A05E07D8A2}"/>
              </a:ext>
            </a:extLst>
          </p:cNvPr>
          <p:cNvSpPr/>
          <p:nvPr/>
        </p:nvSpPr>
        <p:spPr>
          <a:xfrm>
            <a:off x="6469505" y="5977930"/>
            <a:ext cx="4889378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Renewable energy drives both heating and cooling across the facility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E5B4F74-BDBD-8162-20EC-3BFA51B7DB67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n>
                  <a:solidFill>
                    <a:schemeClr val="bg1"/>
                  </a:solidFill>
                </a:ln>
                <a:solidFill>
                  <a:schemeClr val="bg1"/>
                </a:solidFill>
              </a:rPr>
              <a:t>Screenshot 2026-09-10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E7C10C-DD8D-0EC7-F7D0-528FF8852BD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472" r="6474"/>
          <a:stretch/>
        </p:blipFill>
        <p:spPr>
          <a:xfrm>
            <a:off x="6174294" y="1748987"/>
            <a:ext cx="5888669" cy="3797606"/>
          </a:xfrm>
          <a:prstGeom prst="rect">
            <a:avLst/>
          </a:prstGeom>
        </p:spPr>
      </p:pic>
      <p:sp>
        <p:nvSpPr>
          <p:cNvPr id="6" name="Text 0">
            <a:extLst>
              <a:ext uri="{FF2B5EF4-FFF2-40B4-BE49-F238E27FC236}">
                <a16:creationId xmlns:a16="http://schemas.microsoft.com/office/drawing/2014/main" id="{8F8EA0E2-5151-00CA-DFB0-6CC3D5BA525B}"/>
              </a:ext>
            </a:extLst>
          </p:cNvPr>
          <p:cNvSpPr/>
          <p:nvPr/>
        </p:nvSpPr>
        <p:spPr>
          <a:xfrm>
            <a:off x="661475" y="352157"/>
            <a:ext cx="10868745" cy="8675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Case Study 2: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Hybrid PVT and Heat Pump System in a Tropical Hospital</a:t>
            </a:r>
            <a:endParaRPr lang="en-US" sz="3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D6D23AC-1E80-08F6-E3CB-3350E2449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1748987"/>
            <a:ext cx="5061174" cy="3797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2927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Technical Concepts: Heat Pumps and Heat Recovery</a:t>
            </a:r>
            <a:endParaRPr lang="en-US" sz="3000" dirty="0"/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1A6048A-D9C8-944F-CC7A-C83617688DFD}"/>
              </a:ext>
            </a:extLst>
          </p:cNvPr>
          <p:cNvGrpSpPr/>
          <p:nvPr/>
        </p:nvGrpSpPr>
        <p:grpSpPr>
          <a:xfrm>
            <a:off x="589614" y="1575502"/>
            <a:ext cx="6293438" cy="4985237"/>
            <a:chOff x="6208359" y="2806799"/>
            <a:chExt cx="5328211" cy="1618060"/>
          </a:xfrm>
        </p:grpSpPr>
        <p:sp>
          <p:nvSpPr>
            <p:cNvPr id="4" name="Text 1"/>
            <p:cNvSpPr/>
            <p:nvPr/>
          </p:nvSpPr>
          <p:spPr>
            <a:xfrm>
              <a:off x="6221058" y="2806799"/>
              <a:ext cx="5315512" cy="1523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1B1B27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Core Components</a:t>
              </a:r>
              <a:endParaRPr lang="en-US" sz="2000" dirty="0"/>
            </a:p>
          </p:txBody>
        </p:sp>
        <p:pic>
          <p:nvPicPr>
            <p:cNvPr id="5" name="Image 1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208359" y="3002855"/>
              <a:ext cx="2639054" cy="464046"/>
            </a:xfrm>
            <a:prstGeom prst="rect">
              <a:avLst/>
            </a:prstGeom>
          </p:spPr>
        </p:pic>
        <p:sp>
          <p:nvSpPr>
            <p:cNvPr id="6" name="Text 2"/>
            <p:cNvSpPr/>
            <p:nvPr/>
          </p:nvSpPr>
          <p:spPr>
            <a:xfrm>
              <a:off x="6343888" y="3015555"/>
              <a:ext cx="2503524" cy="74834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3C3939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Heat Pump</a:t>
              </a:r>
              <a:endParaRPr lang="en-US" sz="2000" dirty="0"/>
            </a:p>
          </p:txBody>
        </p:sp>
        <p:sp>
          <p:nvSpPr>
            <p:cNvPr id="7" name="Text 3"/>
            <p:cNvSpPr/>
            <p:nvPr/>
          </p:nvSpPr>
          <p:spPr>
            <a:xfrm>
              <a:off x="6343888" y="3103088"/>
              <a:ext cx="2503524" cy="351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1000"/>
                </a:lnSpc>
                <a:buNone/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Moves thermal energy from a cooler source to a warmer application using electricity as the driving force.</a:t>
              </a:r>
              <a:endParaRPr lang="en-US" sz="1600" dirty="0"/>
            </a:p>
          </p:txBody>
        </p:sp>
        <p:pic>
          <p:nvPicPr>
            <p:cNvPr id="8" name="Image 2" descr="preencoded.png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8897516" y="3002855"/>
              <a:ext cx="2639054" cy="464046"/>
            </a:xfrm>
            <a:prstGeom prst="rect">
              <a:avLst/>
            </a:prstGeom>
          </p:spPr>
        </p:pic>
        <p:sp>
          <p:nvSpPr>
            <p:cNvPr id="9" name="Text 4"/>
            <p:cNvSpPr/>
            <p:nvPr/>
          </p:nvSpPr>
          <p:spPr>
            <a:xfrm>
              <a:off x="9033046" y="2997330"/>
              <a:ext cx="2503524" cy="87533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3C3939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Heat Exchanger</a:t>
              </a:r>
              <a:endParaRPr lang="en-US" sz="2000" dirty="0"/>
            </a:p>
          </p:txBody>
        </p:sp>
        <p:sp>
          <p:nvSpPr>
            <p:cNvPr id="10" name="Text 5"/>
            <p:cNvSpPr/>
            <p:nvPr/>
          </p:nvSpPr>
          <p:spPr>
            <a:xfrm>
              <a:off x="9033046" y="3103088"/>
              <a:ext cx="2503524" cy="3511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1000"/>
                </a:lnSpc>
                <a:buNone/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Transfers thermal energy between two fluids—like wastewater and a heating circuit—without mixing them.</a:t>
              </a:r>
              <a:endParaRPr lang="en-US" sz="1600" dirty="0"/>
            </a:p>
          </p:txBody>
        </p:sp>
        <p:pic>
          <p:nvPicPr>
            <p:cNvPr id="11" name="Image 3" descr="preencoded.png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208359" y="3542010"/>
              <a:ext cx="5328211" cy="464046"/>
            </a:xfrm>
            <a:prstGeom prst="rect">
              <a:avLst/>
            </a:prstGeom>
          </p:spPr>
        </p:pic>
        <p:sp>
          <p:nvSpPr>
            <p:cNvPr id="12" name="Text 6"/>
            <p:cNvSpPr/>
            <p:nvPr/>
          </p:nvSpPr>
          <p:spPr>
            <a:xfrm>
              <a:off x="6343888" y="3554710"/>
              <a:ext cx="5192682" cy="152301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 marL="0" indent="0" algn="l">
                <a:lnSpc>
                  <a:spcPct val="104000"/>
                </a:lnSpc>
                <a:buNone/>
              </a:pPr>
              <a:r>
                <a:rPr lang="en-US" sz="2000" dirty="0">
                  <a:solidFill>
                    <a:srgbClr val="3C3939"/>
                  </a:solidFill>
                  <a:latin typeface="Raleway" pitchFamily="34" charset="0"/>
                  <a:ea typeface="Raleway" pitchFamily="34" charset="-122"/>
                  <a:cs typeface="Raleway" pitchFamily="34" charset="-120"/>
                </a:rPr>
                <a:t>COP (Coefficient of Performance)</a:t>
              </a:r>
              <a:endParaRPr lang="en-US" sz="2000" dirty="0"/>
            </a:p>
          </p:txBody>
        </p:sp>
        <p:sp>
          <p:nvSpPr>
            <p:cNvPr id="13" name="Text 7"/>
            <p:cNvSpPr/>
            <p:nvPr/>
          </p:nvSpPr>
          <p:spPr>
            <a:xfrm>
              <a:off x="6343888" y="3757216"/>
              <a:ext cx="5192682" cy="2361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rmAutofit/>
            </a:bodyPr>
            <a:lstStyle/>
            <a:p>
              <a:pPr marL="0" indent="0" algn="l">
                <a:lnSpc>
                  <a:spcPct val="101000"/>
                </a:lnSpc>
                <a:buNone/>
              </a:pP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A COP of </a:t>
              </a:r>
              <a:r>
                <a:rPr lang="en-US" sz="1600" b="1" dirty="0">
                  <a:solidFill>
                    <a:srgbClr val="3C3939"/>
                  </a:solidFill>
                  <a:latin typeface="Roboto Bold" pitchFamily="34" charset="0"/>
                  <a:ea typeface="Roboto Bold" pitchFamily="34" charset="-122"/>
                  <a:cs typeface="Roboto Bold" pitchFamily="34" charset="-120"/>
                </a:rPr>
                <a:t>3.0</a:t>
              </a:r>
              <a:r>
                <a:rPr lang="en-US" sz="1600" dirty="0">
                  <a:solidFill>
                    <a:srgbClr val="3C3939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means 3 units of heat produced for every 1 unit of electricity consumed—three times more efficient than direct electric heating.</a:t>
              </a:r>
              <a:endParaRPr lang="en-US" sz="1600" dirty="0"/>
            </a:p>
          </p:txBody>
        </p:sp>
        <p:sp>
          <p:nvSpPr>
            <p:cNvPr id="14" name="Shape 8"/>
            <p:cNvSpPr/>
            <p:nvPr/>
          </p:nvSpPr>
          <p:spPr>
            <a:xfrm>
              <a:off x="6221058" y="4049812"/>
              <a:ext cx="5315512" cy="375047"/>
            </a:xfrm>
            <a:prstGeom prst="roundRect">
              <a:avLst>
                <a:gd name="adj" fmla="val 10914"/>
              </a:avLst>
            </a:prstGeom>
            <a:solidFill>
              <a:srgbClr val="E1E1EA"/>
            </a:solidFill>
            <a:ln/>
          </p:spPr>
        </p:sp>
        <p:sp>
          <p:nvSpPr>
            <p:cNvPr id="16" name="Text 9"/>
            <p:cNvSpPr/>
            <p:nvPr/>
          </p:nvSpPr>
          <p:spPr>
            <a:xfrm>
              <a:off x="6537658" y="4119265"/>
              <a:ext cx="4901482" cy="23614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>
              <a:noAutofit/>
            </a:bodyPr>
            <a:lstStyle/>
            <a:p>
              <a:pPr marL="0" indent="0" algn="l">
                <a:lnSpc>
                  <a:spcPct val="101000"/>
                </a:lnSpc>
                <a:buNone/>
              </a:pPr>
              <a:r>
                <a:rPr lang="en-US" sz="1600" b="1" dirty="0">
                  <a:solidFill>
                    <a:srgbClr val="000000"/>
                  </a:solidFill>
                  <a:latin typeface="Roboto Bold" pitchFamily="34" charset="0"/>
                  <a:ea typeface="Roboto Bold" pitchFamily="34" charset="-122"/>
                  <a:cs typeface="Roboto Bold" pitchFamily="34" charset="-120"/>
                </a:rPr>
                <a:t>Key Insight:</a:t>
              </a:r>
              <a:r>
                <a:rPr lang="en-US" sz="1600" dirty="0">
                  <a:solidFill>
                    <a:srgbClr val="000000"/>
                  </a:solidFill>
                  <a:latin typeface="Roboto" pitchFamily="34" charset="0"/>
                  <a:ea typeface="Roboto" pitchFamily="34" charset="-122"/>
                  <a:cs typeface="Roboto" pitchFamily="34" charset="-120"/>
                </a:rPr>
                <a:t> Heat pump technology is the bridge between waste heat sources and useful heating applications—making the nexus economically practical.</a:t>
              </a:r>
              <a:endParaRPr lang="en-US" sz="1600" dirty="0"/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FE745A98-12A8-FC23-9F6F-03C6971172A5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FA4179F-9765-772A-128C-95F0952F3E9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942232" y="1867962"/>
            <a:ext cx="5249768" cy="346070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F214FB-6A93-17C1-7EF5-EEEFFB1A8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AD91015-8B1A-C8EC-3628-665C3F968861}"/>
              </a:ext>
            </a:extLst>
          </p:cNvPr>
          <p:cNvSpPr/>
          <p:nvPr/>
        </p:nvSpPr>
        <p:spPr>
          <a:xfrm>
            <a:off x="654277" y="82099"/>
            <a:ext cx="10868745" cy="9598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Case Study:</a:t>
            </a:r>
          </a:p>
          <a:p>
            <a:pPr marL="0" indent="0" algn="l">
              <a:lnSpc>
                <a:spcPct val="104000"/>
              </a:lnSpc>
              <a:buNone/>
            </a:pPr>
            <a:r>
              <a:rPr lang="en-US" sz="30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District Heating from Wastewater — Neckarpark, Stuttgart</a:t>
            </a:r>
            <a:endParaRPr lang="en-US" sz="30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311E415-91B2-A1E3-3BC6-A873DA1DD6B2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16" name="AutoShape 2" descr="Site plan of the Neckarpark urban district ">
            <a:extLst>
              <a:ext uri="{FF2B5EF4-FFF2-40B4-BE49-F238E27FC236}">
                <a16:creationId xmlns:a16="http://schemas.microsoft.com/office/drawing/2014/main" id="{6DBB9513-6570-6BF0-B85B-BE05C7E9139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FF74046C-7639-D63C-B4B6-404D3202D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7088" y="2125043"/>
            <a:ext cx="7772400" cy="477273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454E646-93EB-360E-FCBB-3A6E227D2495}"/>
              </a:ext>
            </a:extLst>
          </p:cNvPr>
          <p:cNvSpPr txBox="1"/>
          <p:nvPr/>
        </p:nvSpPr>
        <p:spPr>
          <a:xfrm>
            <a:off x="-20281" y="5107367"/>
            <a:ext cx="18970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latin typeface="Avenir Book" panose="02000503020000020003" pitchFamily="2" charset="0"/>
              </a:rPr>
              <a:t>Wärmetauscher</a:t>
            </a:r>
            <a:r>
              <a:rPr lang="en-US" sz="900" b="1" dirty="0">
                <a:latin typeface="Avenir Book" panose="02000503020000020003" pitchFamily="2" charset="0"/>
              </a:rPr>
              <a:t> (Dark Blue Line):</a:t>
            </a:r>
            <a:r>
              <a:rPr lang="en-US" sz="900" dirty="0">
                <a:latin typeface="Avenir Book" panose="02000503020000020003" pitchFamily="2" charset="0"/>
              </a:rPr>
              <a:t> Heat exchanger, which is installed directly in the sewer system.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3FAEC1C-C854-F730-5C50-F636613BCA70}"/>
              </a:ext>
            </a:extLst>
          </p:cNvPr>
          <p:cNvSpPr txBox="1"/>
          <p:nvPr/>
        </p:nvSpPr>
        <p:spPr>
          <a:xfrm>
            <a:off x="0" y="2502823"/>
            <a:ext cx="18970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latin typeface="Avenir Book" panose="02000503020000020003" pitchFamily="2" charset="0"/>
              </a:rPr>
              <a:t>Heizzentrale</a:t>
            </a:r>
            <a:r>
              <a:rPr lang="en-US" sz="900" b="1" dirty="0">
                <a:latin typeface="Avenir Book" panose="02000503020000020003" pitchFamily="2" charset="0"/>
              </a:rPr>
              <a:t> (Red Square):</a:t>
            </a:r>
            <a:r>
              <a:rPr lang="en-US" sz="900" dirty="0">
                <a:latin typeface="Avenir Book" panose="02000503020000020003" pitchFamily="2" charset="0"/>
              </a:rPr>
              <a:t> Central heating plant.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37D0A16-0016-4655-2A93-FD39D6816545}"/>
              </a:ext>
            </a:extLst>
          </p:cNvPr>
          <p:cNvSpPr txBox="1"/>
          <p:nvPr/>
        </p:nvSpPr>
        <p:spPr>
          <a:xfrm>
            <a:off x="-20281" y="3071978"/>
            <a:ext cx="189708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latin typeface="Avenir Book" panose="02000503020000020003" pitchFamily="2" charset="0"/>
              </a:rPr>
              <a:t>Niedertemperatur-Wärmeleitung</a:t>
            </a:r>
            <a:r>
              <a:rPr lang="en-US" sz="900" b="1" dirty="0">
                <a:latin typeface="Avenir Book" panose="02000503020000020003" pitchFamily="2" charset="0"/>
              </a:rPr>
              <a:t> (Light Blue Lines):</a:t>
            </a:r>
            <a:r>
              <a:rPr lang="en-US" sz="900" dirty="0">
                <a:latin typeface="Avenir Book" panose="02000503020000020003" pitchFamily="2" charset="0"/>
              </a:rPr>
              <a:t> Trace these lines to show the low-temperature district heating network.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BD6E14D-D0DA-6E89-D184-850CBEF78644}"/>
              </a:ext>
            </a:extLst>
          </p:cNvPr>
          <p:cNvSpPr txBox="1"/>
          <p:nvPr/>
        </p:nvSpPr>
        <p:spPr>
          <a:xfrm>
            <a:off x="-20280" y="4012051"/>
            <a:ext cx="189708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latin typeface="Avenir Book" panose="02000503020000020003" pitchFamily="2" charset="0"/>
              </a:rPr>
              <a:t>Hausanschluss</a:t>
            </a:r>
            <a:r>
              <a:rPr lang="en-US" sz="900" b="1" dirty="0">
                <a:latin typeface="Avenir Book" panose="02000503020000020003" pitchFamily="2" charset="0"/>
              </a:rPr>
              <a:t> (Yellow Dots):</a:t>
            </a:r>
            <a:r>
              <a:rPr lang="en-US" sz="900" dirty="0">
                <a:latin typeface="Avenir Book" panose="02000503020000020003" pitchFamily="2" charset="0"/>
              </a:rPr>
              <a:t> These indicate the individual house connections where the thermal energy enters the buildings.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4560D27-B414-7EB6-ECA3-823FF77A1696}"/>
              </a:ext>
            </a:extLst>
          </p:cNvPr>
          <p:cNvSpPr txBox="1"/>
          <p:nvPr/>
        </p:nvSpPr>
        <p:spPr>
          <a:xfrm>
            <a:off x="-1" y="5897279"/>
            <a:ext cx="189708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b="1" dirty="0" err="1">
                <a:latin typeface="Avenir Book" panose="02000503020000020003" pitchFamily="2" charset="0"/>
              </a:rPr>
              <a:t>Hauptsammler</a:t>
            </a:r>
            <a:r>
              <a:rPr lang="en-US" sz="900" b="1" dirty="0">
                <a:latin typeface="Avenir Book" panose="02000503020000020003" pitchFamily="2" charset="0"/>
              </a:rPr>
              <a:t> (Bottom Left):</a:t>
            </a:r>
            <a:r>
              <a:rPr lang="en-US" sz="900" dirty="0">
                <a:latin typeface="Avenir Book" panose="02000503020000020003" pitchFamily="2" charset="0"/>
              </a:rPr>
              <a:t> This is the main municipal wastewater collector providing the continuous flow of energy.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ACDA384-C82C-BAED-319E-A7884B05CA24}"/>
              </a:ext>
            </a:extLst>
          </p:cNvPr>
          <p:cNvSpPr txBox="1"/>
          <p:nvPr/>
        </p:nvSpPr>
        <p:spPr>
          <a:xfrm>
            <a:off x="539645" y="1041941"/>
            <a:ext cx="10702977" cy="14101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1000"/>
              </a:lnSpc>
            </a:pPr>
            <a:r>
              <a:rPr lang="en-US" sz="1800" dirty="0">
                <a:solidFill>
                  <a:srgbClr val="3C3939"/>
                </a:solidFill>
                <a:latin typeface="Avenir Book" panose="02000503020000020003" pitchFamily="2" charset="0"/>
                <a:ea typeface="Roboto" pitchFamily="34" charset="-122"/>
                <a:cs typeface="Roboto" pitchFamily="34" charset="-120"/>
              </a:rPr>
              <a:t>Municipal wastewater becomes the </a:t>
            </a:r>
            <a:r>
              <a:rPr lang="en-US" sz="1800" b="1" dirty="0">
                <a:solidFill>
                  <a:srgbClr val="3C3939"/>
                </a:solidFill>
                <a:latin typeface="Avenir Book" panose="02000503020000020003" pitchFamily="2" charset="0"/>
                <a:ea typeface="Roboto Bold" pitchFamily="34" charset="-122"/>
                <a:cs typeface="Roboto Bold" pitchFamily="34" charset="-120"/>
              </a:rPr>
              <a:t>primary energy source</a:t>
            </a:r>
            <a:r>
              <a:rPr lang="en-US" sz="1800" dirty="0">
                <a:solidFill>
                  <a:srgbClr val="3C3939"/>
                </a:solidFill>
                <a:latin typeface="Avenir Book" panose="02000503020000020003" pitchFamily="2" charset="0"/>
                <a:ea typeface="Roboto" pitchFamily="34" charset="-122"/>
                <a:cs typeface="Roboto" pitchFamily="34" charset="-120"/>
              </a:rPr>
              <a:t> for an entire urban district's heating network. </a:t>
            </a:r>
            <a:r>
              <a:rPr lang="en-US" b="0" i="0" dirty="0">
                <a:solidFill>
                  <a:srgbClr val="555555"/>
                </a:solidFill>
                <a:effectLst/>
                <a:latin typeface="Avenir Book" panose="02000503020000020003" pitchFamily="2" charset="0"/>
              </a:rPr>
              <a:t>With a thermal extraction capacity of 2,100 kW from wastewater - was by far the largest wastewater heat recovery project in Germany.</a:t>
            </a:r>
            <a:endParaRPr lang="en-US" dirty="0">
              <a:latin typeface="Avenir Book" panose="02000503020000020003" pitchFamily="2" charset="0"/>
            </a:endParaRPr>
          </a:p>
          <a:p>
            <a:pPr marL="0" indent="0" algn="l">
              <a:lnSpc>
                <a:spcPct val="121000"/>
              </a:lnSpc>
              <a:buNone/>
            </a:pPr>
            <a:endParaRPr lang="en-US" sz="18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E896A0A-133A-D53F-BB2C-E62EBE3CC474}"/>
              </a:ext>
            </a:extLst>
          </p:cNvPr>
          <p:cNvSpPr txBox="1"/>
          <p:nvPr/>
        </p:nvSpPr>
        <p:spPr>
          <a:xfrm>
            <a:off x="2833140" y="192688"/>
            <a:ext cx="6115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Benchmark for sustainable energy supply in urban districts.</a:t>
            </a:r>
          </a:p>
        </p:txBody>
      </p:sp>
    </p:spTree>
    <p:extLst>
      <p:ext uri="{BB962C8B-B14F-4D97-AF65-F5344CB8AC3E}">
        <p14:creationId xmlns:p14="http://schemas.microsoft.com/office/powerpoint/2010/main" val="29505372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74179"/>
            <a:ext cx="6296860" cy="922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Designing for the Water–Energy Nexus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5233360" y="1670149"/>
            <a:ext cx="6296860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i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Design principle: Integrate water and energy systems from the beginning—separate design creates missed opportunities.</a:t>
            </a:r>
            <a:endParaRPr lang="en-US" sz="11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3360" y="2220615"/>
            <a:ext cx="738268" cy="101580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6086918" y="2368252"/>
            <a:ext cx="544330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Heat Recovery</a:t>
            </a:r>
            <a:endParaRPr lang="en-US" sz="1450" dirty="0"/>
          </a:p>
        </p:txBody>
      </p:sp>
      <p:sp>
        <p:nvSpPr>
          <p:cNvPr id="7" name="Text 3"/>
          <p:cNvSpPr/>
          <p:nvPr/>
        </p:nvSpPr>
        <p:spPr>
          <a:xfrm>
            <a:off x="6086918" y="2668091"/>
            <a:ext cx="544330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Heat exchangers in wastewater pipes and HVAC exhaust capture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30–50%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thermal energy</a:t>
            </a:r>
            <a:endParaRPr lang="en-US" sz="11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3360" y="3236416"/>
            <a:ext cx="738268" cy="101580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086918" y="3384054"/>
            <a:ext cx="544330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Efficient HVAC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6086918" y="3683893"/>
            <a:ext cx="544330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Variable air volume systems and demand-controlled ventilation cut energy by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20–40%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water by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30–50%</a:t>
            </a:r>
            <a:endParaRPr lang="en-US" sz="11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33360" y="4252218"/>
            <a:ext cx="738268" cy="101580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086918" y="4399855"/>
            <a:ext cx="544330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Water Recycling</a:t>
            </a:r>
            <a:endParaRPr lang="en-US" sz="1450" dirty="0"/>
          </a:p>
        </p:txBody>
      </p:sp>
      <p:sp>
        <p:nvSpPr>
          <p:cNvPr id="13" name="Text 7"/>
          <p:cNvSpPr/>
          <p:nvPr/>
        </p:nvSpPr>
        <p:spPr>
          <a:xfrm>
            <a:off x="6086918" y="4699695"/>
            <a:ext cx="544330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Wastewater reuse for flushing and cooling makeup reduces freshwater demand by </a:t>
            </a:r>
            <a:r>
              <a:rPr lang="en-US" sz="11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20–40%</a:t>
            </a:r>
            <a:endParaRPr lang="en-US" sz="11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233360" y="5268020"/>
            <a:ext cx="738268" cy="101580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086918" y="5415657"/>
            <a:ext cx="5443302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District Systems</a:t>
            </a:r>
            <a:endParaRPr lang="en-US" sz="1450" dirty="0"/>
          </a:p>
        </p:txBody>
      </p:sp>
      <p:sp>
        <p:nvSpPr>
          <p:cNvPr id="16" name="Text 9"/>
          <p:cNvSpPr/>
          <p:nvPr/>
        </p:nvSpPr>
        <p:spPr>
          <a:xfrm>
            <a:off x="6086918" y="5715496"/>
            <a:ext cx="5443302" cy="420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Centralized wastewater heat recovery supplies multiple buildings more efficiently than individual systems</a:t>
            </a:r>
            <a:endParaRPr lang="en-US" sz="115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4F093FA-C253-2EF8-F637-A6EBC36460F6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B1C34398-E0C4-2526-FA14-204B18090AAE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sp>
        <p:nvSpPr>
          <p:cNvPr id="22" name="Text 0">
            <a:extLst>
              <a:ext uri="{FF2B5EF4-FFF2-40B4-BE49-F238E27FC236}">
                <a16:creationId xmlns:a16="http://schemas.microsoft.com/office/drawing/2014/main" id="{75E2D62A-654B-B78A-4D34-0A68DDC45FC3}"/>
              </a:ext>
            </a:extLst>
          </p:cNvPr>
          <p:cNvSpPr/>
          <p:nvPr/>
        </p:nvSpPr>
        <p:spPr>
          <a:xfrm>
            <a:off x="661475" y="58886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Key Lessons and Path Forward</a:t>
            </a:r>
            <a:endParaRPr lang="en-US" sz="3100" dirty="0"/>
          </a:p>
        </p:txBody>
      </p:sp>
      <p:sp>
        <p:nvSpPr>
          <p:cNvPr id="23" name="Shape 1">
            <a:extLst>
              <a:ext uri="{FF2B5EF4-FFF2-40B4-BE49-F238E27FC236}">
                <a16:creationId xmlns:a16="http://schemas.microsoft.com/office/drawing/2014/main" id="{4403BE85-A0B8-55CA-91AA-7A0717302D02}"/>
              </a:ext>
            </a:extLst>
          </p:cNvPr>
          <p:cNvSpPr/>
          <p:nvPr/>
        </p:nvSpPr>
        <p:spPr>
          <a:xfrm>
            <a:off x="661475" y="1440359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4" name="Text 2">
            <a:extLst>
              <a:ext uri="{FF2B5EF4-FFF2-40B4-BE49-F238E27FC236}">
                <a16:creationId xmlns:a16="http://schemas.microsoft.com/office/drawing/2014/main" id="{328E0381-A30C-C20C-AA17-6338433F8E58}"/>
              </a:ext>
            </a:extLst>
          </p:cNvPr>
          <p:cNvSpPr/>
          <p:nvPr/>
        </p:nvSpPr>
        <p:spPr>
          <a:xfrm>
            <a:off x="721253" y="1470273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03B1ED73-958B-CFD9-1F28-4C0EEC2B0BE1}"/>
              </a:ext>
            </a:extLst>
          </p:cNvPr>
          <p:cNvSpPr/>
          <p:nvPr/>
        </p:nvSpPr>
        <p:spPr>
          <a:xfrm>
            <a:off x="1154778" y="1495127"/>
            <a:ext cx="474650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Integrated Design Is Essential</a:t>
            </a:r>
            <a:endParaRPr lang="en-US" sz="1550" dirty="0"/>
          </a:p>
        </p:txBody>
      </p:sp>
      <p:sp>
        <p:nvSpPr>
          <p:cNvPr id="26" name="Text 4">
            <a:extLst>
              <a:ext uri="{FF2B5EF4-FFF2-40B4-BE49-F238E27FC236}">
                <a16:creationId xmlns:a16="http://schemas.microsoft.com/office/drawing/2014/main" id="{10898FEC-81C8-28E8-2F32-03FE41C89EE4}"/>
              </a:ext>
            </a:extLst>
          </p:cNvPr>
          <p:cNvSpPr/>
          <p:nvPr/>
        </p:nvSpPr>
        <p:spPr>
          <a:xfrm>
            <a:off x="1154778" y="1878806"/>
            <a:ext cx="474650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Water and energy systems must be designed together to identify synergies and opportunities from the outset.</a:t>
            </a:r>
            <a:endParaRPr lang="en-US" sz="1250" dirty="0"/>
          </a:p>
        </p:txBody>
      </p:sp>
      <p:sp>
        <p:nvSpPr>
          <p:cNvPr id="27" name="Shape 5">
            <a:extLst>
              <a:ext uri="{FF2B5EF4-FFF2-40B4-BE49-F238E27FC236}">
                <a16:creationId xmlns:a16="http://schemas.microsoft.com/office/drawing/2014/main" id="{A4998B86-D67B-B72D-630D-C0C0A34D522B}"/>
              </a:ext>
            </a:extLst>
          </p:cNvPr>
          <p:cNvSpPr/>
          <p:nvPr/>
        </p:nvSpPr>
        <p:spPr>
          <a:xfrm>
            <a:off x="661475" y="2618184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28" name="Text 6">
            <a:extLst>
              <a:ext uri="{FF2B5EF4-FFF2-40B4-BE49-F238E27FC236}">
                <a16:creationId xmlns:a16="http://schemas.microsoft.com/office/drawing/2014/main" id="{B908A33C-EE4B-9914-3A14-F822B8750746}"/>
              </a:ext>
            </a:extLst>
          </p:cNvPr>
          <p:cNvSpPr/>
          <p:nvPr/>
        </p:nvSpPr>
        <p:spPr>
          <a:xfrm>
            <a:off x="721253" y="2648099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29" name="Text 7">
            <a:extLst>
              <a:ext uri="{FF2B5EF4-FFF2-40B4-BE49-F238E27FC236}">
                <a16:creationId xmlns:a16="http://schemas.microsoft.com/office/drawing/2014/main" id="{C269BD3A-9CA9-383F-9022-6281E3156B1D}"/>
              </a:ext>
            </a:extLst>
          </p:cNvPr>
          <p:cNvSpPr/>
          <p:nvPr/>
        </p:nvSpPr>
        <p:spPr>
          <a:xfrm>
            <a:off x="1154778" y="2672953"/>
            <a:ext cx="474650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Wastewater Is a Resource</a:t>
            </a:r>
            <a:endParaRPr lang="en-US" sz="1550" dirty="0"/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09885527-99D5-84EF-FF91-9E497406EF4E}"/>
              </a:ext>
            </a:extLst>
          </p:cNvPr>
          <p:cNvSpPr/>
          <p:nvPr/>
        </p:nvSpPr>
        <p:spPr>
          <a:xfrm>
            <a:off x="1154778" y="3056632"/>
            <a:ext cx="4746506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Heat exchangers and heat pumps can capture and upgrade thermal energy from warm wastewater—recovering </a:t>
            </a:r>
            <a:r>
              <a:rPr lang="en-US" sz="1250" b="1" dirty="0">
                <a:solidFill>
                  <a:srgbClr val="3C3939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30–50%</a:t>
            </a: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heat otherwise lost.</a:t>
            </a:r>
            <a:endParaRPr lang="en-US" sz="125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C8C836A9-5CF9-9A82-072D-012E72C06416}"/>
              </a:ext>
            </a:extLst>
          </p:cNvPr>
          <p:cNvSpPr/>
          <p:nvPr/>
        </p:nvSpPr>
        <p:spPr>
          <a:xfrm>
            <a:off x="661475" y="4031159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2" name="Text 10">
            <a:extLst>
              <a:ext uri="{FF2B5EF4-FFF2-40B4-BE49-F238E27FC236}">
                <a16:creationId xmlns:a16="http://schemas.microsoft.com/office/drawing/2014/main" id="{D7A52DC6-9A6E-6042-8965-1FD83257BBB7}"/>
              </a:ext>
            </a:extLst>
          </p:cNvPr>
          <p:cNvSpPr/>
          <p:nvPr/>
        </p:nvSpPr>
        <p:spPr>
          <a:xfrm>
            <a:off x="721253" y="4061073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341019E1-75DE-42D9-D614-F4ABDEF3106B}"/>
              </a:ext>
            </a:extLst>
          </p:cNvPr>
          <p:cNvSpPr/>
          <p:nvPr/>
        </p:nvSpPr>
        <p:spPr>
          <a:xfrm>
            <a:off x="1154778" y="4085927"/>
            <a:ext cx="474650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Scale Amplifies Benefits</a:t>
            </a:r>
            <a:endParaRPr lang="en-US" sz="1550" dirty="0"/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8CD2899A-B850-61A3-460A-06064E5EFF0C}"/>
              </a:ext>
            </a:extLst>
          </p:cNvPr>
          <p:cNvSpPr/>
          <p:nvPr/>
        </p:nvSpPr>
        <p:spPr>
          <a:xfrm>
            <a:off x="1154778" y="4469606"/>
            <a:ext cx="474650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District-scale systems like Neckarpark are more efficient than individual building systems and leverage shared infrastructure.</a:t>
            </a:r>
            <a:endParaRPr lang="en-US" sz="1250" dirty="0"/>
          </a:p>
        </p:txBody>
      </p:sp>
      <p:sp>
        <p:nvSpPr>
          <p:cNvPr id="35" name="Shape 13">
            <a:extLst>
              <a:ext uri="{FF2B5EF4-FFF2-40B4-BE49-F238E27FC236}">
                <a16:creationId xmlns:a16="http://schemas.microsoft.com/office/drawing/2014/main" id="{2575D672-4683-B6B0-80A1-3135BF3CD6AA}"/>
              </a:ext>
            </a:extLst>
          </p:cNvPr>
          <p:cNvSpPr/>
          <p:nvPr/>
        </p:nvSpPr>
        <p:spPr>
          <a:xfrm>
            <a:off x="661475" y="5208984"/>
            <a:ext cx="358766" cy="358775"/>
          </a:xfrm>
          <a:prstGeom prst="roundRect">
            <a:avLst>
              <a:gd name="adj" fmla="val 18671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</p:sp>
      <p:sp>
        <p:nvSpPr>
          <p:cNvPr id="36" name="Text 14">
            <a:extLst>
              <a:ext uri="{FF2B5EF4-FFF2-40B4-BE49-F238E27FC236}">
                <a16:creationId xmlns:a16="http://schemas.microsoft.com/office/drawing/2014/main" id="{D0D3A725-6D89-C6A0-DB11-921A8DA3E14A}"/>
              </a:ext>
            </a:extLst>
          </p:cNvPr>
          <p:cNvSpPr/>
          <p:nvPr/>
        </p:nvSpPr>
        <p:spPr>
          <a:xfrm>
            <a:off x="721253" y="5238899"/>
            <a:ext cx="239210" cy="29894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850" dirty="0"/>
          </a:p>
        </p:txBody>
      </p:sp>
      <p:sp>
        <p:nvSpPr>
          <p:cNvPr id="37" name="Text 15">
            <a:extLst>
              <a:ext uri="{FF2B5EF4-FFF2-40B4-BE49-F238E27FC236}">
                <a16:creationId xmlns:a16="http://schemas.microsoft.com/office/drawing/2014/main" id="{E9AA457D-E097-6DFB-9303-E2BF4D15496F}"/>
              </a:ext>
            </a:extLst>
          </p:cNvPr>
          <p:cNvSpPr/>
          <p:nvPr/>
        </p:nvSpPr>
        <p:spPr>
          <a:xfrm>
            <a:off x="1154778" y="5263753"/>
            <a:ext cx="4746506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Circular Economy Approach</a:t>
            </a:r>
            <a:endParaRPr lang="en-US" sz="1550" dirty="0"/>
          </a:p>
        </p:txBody>
      </p:sp>
      <p:sp>
        <p:nvSpPr>
          <p:cNvPr id="38" name="Text 16">
            <a:extLst>
              <a:ext uri="{FF2B5EF4-FFF2-40B4-BE49-F238E27FC236}">
                <a16:creationId xmlns:a16="http://schemas.microsoft.com/office/drawing/2014/main" id="{92DBAF9E-06FC-F84E-4BFD-1F24A64C6F58}"/>
              </a:ext>
            </a:extLst>
          </p:cNvPr>
          <p:cNvSpPr/>
          <p:nvPr/>
        </p:nvSpPr>
        <p:spPr>
          <a:xfrm>
            <a:off x="1154778" y="5647432"/>
            <a:ext cx="4746506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Treating wastewater and waste heat as resources aligns with sustainability principles and reduces environmental impact.</a:t>
            </a:r>
            <a:endParaRPr lang="en-US" sz="1250" dirty="0"/>
          </a:p>
        </p:txBody>
      </p:sp>
      <p:sp>
        <p:nvSpPr>
          <p:cNvPr id="39" name="Shape 17">
            <a:extLst>
              <a:ext uri="{FF2B5EF4-FFF2-40B4-BE49-F238E27FC236}">
                <a16:creationId xmlns:a16="http://schemas.microsoft.com/office/drawing/2014/main" id="{3E73010C-5BF2-9FB2-DADE-95D4CEC5D82A}"/>
              </a:ext>
            </a:extLst>
          </p:cNvPr>
          <p:cNvSpPr/>
          <p:nvPr/>
        </p:nvSpPr>
        <p:spPr>
          <a:xfrm>
            <a:off x="6181868" y="1289050"/>
            <a:ext cx="5469594" cy="4979988"/>
          </a:xfrm>
          <a:prstGeom prst="roundRect">
            <a:avLst>
              <a:gd name="adj" fmla="val 2306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A9E7EF62-0F30-E5D4-E765-92F219AD8C09}"/>
              </a:ext>
            </a:extLst>
          </p:cNvPr>
          <p:cNvSpPr/>
          <p:nvPr/>
        </p:nvSpPr>
        <p:spPr>
          <a:xfrm>
            <a:off x="6341309" y="1423591"/>
            <a:ext cx="515071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Opportunity</a:t>
            </a:r>
            <a:endParaRPr lang="en-US" sz="1550" dirty="0"/>
          </a:p>
        </p:txBody>
      </p:sp>
      <p:sp>
        <p:nvSpPr>
          <p:cNvPr id="41" name="Text 19">
            <a:extLst>
              <a:ext uri="{FF2B5EF4-FFF2-40B4-BE49-F238E27FC236}">
                <a16:creationId xmlns:a16="http://schemas.microsoft.com/office/drawing/2014/main" id="{994F2F26-9B16-E32A-B788-73562D864902}"/>
              </a:ext>
            </a:extLst>
          </p:cNvPr>
          <p:cNvSpPr/>
          <p:nvPr/>
        </p:nvSpPr>
        <p:spPr>
          <a:xfrm>
            <a:off x="6341309" y="1807270"/>
            <a:ext cx="5150713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By understanding and acting on the Water–Energy Nexus, hospitals and communities can:</a:t>
            </a:r>
            <a:endParaRPr lang="en-US" sz="1250" dirty="0"/>
          </a:p>
        </p:txBody>
      </p:sp>
      <p:sp>
        <p:nvSpPr>
          <p:cNvPr id="42" name="Text 20">
            <a:extLst>
              <a:ext uri="{FF2B5EF4-FFF2-40B4-BE49-F238E27FC236}">
                <a16:creationId xmlns:a16="http://schemas.microsoft.com/office/drawing/2014/main" id="{EE2BAD96-7765-4F3B-E475-26A41EDD58A8}"/>
              </a:ext>
            </a:extLst>
          </p:cNvPr>
          <p:cNvSpPr/>
          <p:nvPr/>
        </p:nvSpPr>
        <p:spPr>
          <a:xfrm>
            <a:off x="6341309" y="2398613"/>
            <a:ext cx="5150713" cy="1081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Dramatically reduce resource consumption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Lower operating costs over building lifetime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Advance sustainability and net-zero goals</a:t>
            </a:r>
            <a:endParaRPr lang="en-US" sz="1250" dirty="0"/>
          </a:p>
          <a:p>
            <a:pPr marL="254000" indent="-254000" algn="l">
              <a:lnSpc>
                <a:spcPct val="123000"/>
              </a:lnSpc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 liabilities into renewable assets</a:t>
            </a:r>
            <a:endParaRPr lang="en-US" sz="1250" dirty="0"/>
          </a:p>
        </p:txBody>
      </p:sp>
      <p:sp>
        <p:nvSpPr>
          <p:cNvPr id="43" name="Shape 21">
            <a:extLst>
              <a:ext uri="{FF2B5EF4-FFF2-40B4-BE49-F238E27FC236}">
                <a16:creationId xmlns:a16="http://schemas.microsoft.com/office/drawing/2014/main" id="{6BFC1563-E253-056E-0F17-956F5685C4A3}"/>
              </a:ext>
            </a:extLst>
          </p:cNvPr>
          <p:cNvSpPr/>
          <p:nvPr/>
        </p:nvSpPr>
        <p:spPr>
          <a:xfrm>
            <a:off x="6341309" y="3671391"/>
            <a:ext cx="5150713" cy="19050"/>
          </a:xfrm>
          <a:prstGeom prst="roundRect">
            <a:avLst>
              <a:gd name="adj" fmla="val 49999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44" name="Text 22">
            <a:extLst>
              <a:ext uri="{FF2B5EF4-FFF2-40B4-BE49-F238E27FC236}">
                <a16:creationId xmlns:a16="http://schemas.microsoft.com/office/drawing/2014/main" id="{ED95A885-96E9-5E92-49E4-623E244F9A7A}"/>
              </a:ext>
            </a:extLst>
          </p:cNvPr>
          <p:cNvSpPr/>
          <p:nvPr/>
        </p:nvSpPr>
        <p:spPr>
          <a:xfrm>
            <a:off x="6341309" y="3881537"/>
            <a:ext cx="5150713" cy="7054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Renewable energy integration</a:t>
            </a: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through solar thermal and photovoltaic systems can contribute </a:t>
            </a:r>
            <a:r>
              <a:rPr lang="en-US" sz="1250" b="1" dirty="0">
                <a:solidFill>
                  <a:srgbClr val="FFFFFF"/>
                </a:solidFill>
                <a:latin typeface="Roboto Bold" pitchFamily="34" charset="0"/>
                <a:ea typeface="Roboto Bold" pitchFamily="34" charset="-122"/>
                <a:cs typeface="Roboto Bold" pitchFamily="34" charset="-120"/>
              </a:rPr>
              <a:t>30–60%</a:t>
            </a:r>
            <a:r>
              <a:rPr lang="en-US" sz="12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building energy in sunny climates—complementing nexus strategies at every scale.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E19BA3-56CB-AD14-200C-F0408C8208EE}"/>
              </a:ext>
            </a:extLst>
          </p:cNvPr>
          <p:cNvSpPr txBox="1"/>
          <p:nvPr/>
        </p:nvSpPr>
        <p:spPr>
          <a:xfrm>
            <a:off x="522514" y="1684664"/>
            <a:ext cx="6386285" cy="27917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200000"/>
              </a:lnSpc>
            </a:pPr>
            <a:r>
              <a:rPr lang="en-US" dirty="0">
                <a:latin typeface="Avenir Book" panose="02000503020000020003" pitchFamily="2" charset="0"/>
              </a:rPr>
              <a:t>Thank you for your attention.</a:t>
            </a:r>
          </a:p>
          <a:p>
            <a:pPr algn="ctr">
              <a:lnSpc>
                <a:spcPct val="200000"/>
              </a:lnSpc>
            </a:pPr>
            <a:r>
              <a:rPr lang="fa-IR" dirty="0">
                <a:latin typeface="Avenir Book" panose="02000503020000020003" pitchFamily="2" charset="0"/>
              </a:rPr>
              <a:t>از توجه شما </a:t>
            </a:r>
            <a:r>
              <a:rPr lang="fa-IR" dirty="0" err="1">
                <a:latin typeface="Avenir Book" panose="02000503020000020003" pitchFamily="2" charset="0"/>
              </a:rPr>
              <a:t>ممنونم</a:t>
            </a:r>
            <a:r>
              <a:rPr lang="fa-IR" dirty="0">
                <a:latin typeface="Avenir Book" panose="02000503020000020003" pitchFamily="2" charset="0"/>
              </a:rPr>
              <a:t>.</a:t>
            </a:r>
            <a:endParaRPr lang="en-US" dirty="0">
              <a:latin typeface="Avenir Book" panose="02000503020000020003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ko-KR" altLang="en-US" dirty="0">
                <a:latin typeface="Avenir Book" panose="02000503020000020003" pitchFamily="2" charset="0"/>
              </a:rPr>
              <a:t>감사합니다</a:t>
            </a:r>
            <a:endParaRPr lang="en-US" dirty="0">
              <a:latin typeface="Avenir Book" panose="02000503020000020003" pitchFamily="2" charset="0"/>
            </a:endParaRPr>
          </a:p>
          <a:p>
            <a:pPr algn="ctr">
              <a:lnSpc>
                <a:spcPct val="200000"/>
              </a:lnSpc>
            </a:pPr>
            <a:r>
              <a:rPr lang="en-US" dirty="0" err="1">
                <a:latin typeface="Avenir Book" panose="02000503020000020003" pitchFamily="2" charset="0"/>
              </a:rPr>
              <a:t>Vă</a:t>
            </a:r>
            <a:r>
              <a:rPr lang="en-US" dirty="0">
                <a:latin typeface="Avenir Book" panose="02000503020000020003" pitchFamily="2" charset="0"/>
              </a:rPr>
              <a:t> </a:t>
            </a:r>
            <a:r>
              <a:rPr lang="en-US" dirty="0" err="1">
                <a:latin typeface="Avenir Book" panose="02000503020000020003" pitchFamily="2" charset="0"/>
              </a:rPr>
              <a:t>mulțumim</a:t>
            </a:r>
            <a:r>
              <a:rPr lang="en-US" dirty="0">
                <a:latin typeface="Avenir Book" panose="02000503020000020003" pitchFamily="2" charset="0"/>
              </a:rPr>
              <a:t> </a:t>
            </a:r>
            <a:r>
              <a:rPr lang="en-US" dirty="0" err="1">
                <a:latin typeface="Avenir Book" panose="02000503020000020003" pitchFamily="2" charset="0"/>
              </a:rPr>
              <a:t>pentru</a:t>
            </a:r>
            <a:r>
              <a:rPr lang="en-US" dirty="0">
                <a:latin typeface="Avenir Book" panose="02000503020000020003" pitchFamily="2" charset="0"/>
              </a:rPr>
              <a:t> </a:t>
            </a:r>
            <a:r>
              <a:rPr lang="en-US" dirty="0" err="1">
                <a:latin typeface="Avenir Book" panose="02000503020000020003" pitchFamily="2" charset="0"/>
              </a:rPr>
              <a:t>atenție</a:t>
            </a:r>
            <a:r>
              <a:rPr lang="en-US" dirty="0">
                <a:latin typeface="Avenir Book" panose="02000503020000020003" pitchFamily="2" charset="0"/>
              </a:rPr>
              <a:t>!</a:t>
            </a:r>
          </a:p>
          <a:p>
            <a:pPr algn="ctr">
              <a:lnSpc>
                <a:spcPct val="200000"/>
              </a:lnSpc>
            </a:pPr>
            <a:r>
              <a:rPr lang="en-US" dirty="0" err="1">
                <a:latin typeface="Avenir Book" panose="02000503020000020003" pitchFamily="2" charset="0"/>
              </a:rPr>
              <a:t>Paldies</a:t>
            </a:r>
            <a:r>
              <a:rPr lang="en-US" dirty="0">
                <a:latin typeface="Avenir Book" panose="02000503020000020003" pitchFamily="2" charset="0"/>
              </a:rPr>
              <a:t> par </a:t>
            </a:r>
            <a:r>
              <a:rPr lang="en-US" dirty="0" err="1">
                <a:latin typeface="Avenir Book" panose="02000503020000020003" pitchFamily="2" charset="0"/>
              </a:rPr>
              <a:t>uzmanību</a:t>
            </a:r>
            <a:r>
              <a:rPr lang="en-US" dirty="0">
                <a:latin typeface="Avenir Book" panose="02000503020000020003" pitchFamily="2" charset="0"/>
              </a:rPr>
              <a:t>!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3330827-8F9D-8A29-4F10-FFA5CBD7F3DB}"/>
              </a:ext>
            </a:extLst>
          </p:cNvPr>
          <p:cNvSpPr/>
          <p:nvPr/>
        </p:nvSpPr>
        <p:spPr>
          <a:xfrm>
            <a:off x="10854047" y="6388925"/>
            <a:ext cx="1337953" cy="46907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ln>
                <a:solidFill>
                  <a:schemeClr val="bg1"/>
                </a:solidFill>
              </a:ln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66430B-FB10-282C-9EF3-0C0CCE9099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291" t="28995" r="13006" b="4338"/>
          <a:stretch/>
        </p:blipFill>
        <p:spPr>
          <a:xfrm>
            <a:off x="6908799" y="783771"/>
            <a:ext cx="3945248" cy="4572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4031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911</Words>
  <Application>Microsoft Macintosh PowerPoint</Application>
  <PresentationFormat>Widescreen</PresentationFormat>
  <Paragraphs>106</Paragraphs>
  <Slides>11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Raleway</vt:lpstr>
      <vt:lpstr>Avenir Book</vt:lpstr>
      <vt:lpstr>Arial</vt:lpstr>
      <vt:lpstr>Roboto</vt:lpstr>
      <vt:lpstr>Roboto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Farnoosh Rostami</cp:lastModifiedBy>
  <cp:revision>25</cp:revision>
  <dcterms:created xsi:type="dcterms:W3CDTF">2026-09-10T06:49:50Z</dcterms:created>
  <dcterms:modified xsi:type="dcterms:W3CDTF">2026-09-10T22:11:16Z</dcterms:modified>
</cp:coreProperties>
</file>