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0B6E99">
                <a:alpha val="45000"/>
              </a:srgbClr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12700">
            <a:solidFill>
              <a:srgbClr val="1C93A3">
                <a:alpha val="45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0B6E99">
                <a:alpha val="4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12700">
            <a:solidFill>
              <a:srgbClr val="1C93A3">
                <a:alpha val="4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1051560"/>
            <a:ext cx="566928" cy="566928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600200" y="1051560"/>
            <a:ext cx="566928" cy="566928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377440" y="1051560"/>
            <a:ext cx="566928" cy="566928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🛴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566928" cy="566928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931920" y="1051560"/>
            <a:ext cx="566928" cy="566928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E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IN CITIES &amp; ON CAMPUS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Rethinking how we move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through five chapters of urban and campus transportation — Bike, Car, E-Scooters, Pedestrians, and Public Transportation.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chapters, one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5752490"/>
            <a:ext cx="914" cy="0"/>
          </a:xfrm>
          <a:prstGeom prst="line">
            <a:avLst/>
          </a:prstGeom>
          <a:noFill/>
          <a:ln w="28575">
            <a:solidFill>
              <a:srgbClr val="1C93A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5840" y="5706770"/>
            <a:ext cx="91440" cy="9144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6" name="Shape 4"/>
          <p:cNvSpPr/>
          <p:nvPr/>
        </p:nvSpPr>
        <p:spPr>
          <a:xfrm>
            <a:off x="1006754" y="5706770"/>
            <a:ext cx="91440" cy="9144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331720"/>
            <a:ext cx="0" cy="3364992"/>
          </a:xfrm>
          <a:prstGeom prst="line">
            <a:avLst/>
          </a:prstGeom>
          <a:noFill/>
          <a:ln w="28575">
            <a:solidFill>
              <a:srgbClr val="C7D6D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85800" y="1965960"/>
            <a:ext cx="731520" cy="7315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74520" y="1984248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14600" y="23500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Lanes, sharing, safety &amp; inclusion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2807208"/>
            <a:ext cx="731520" cy="73152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07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74520" y="2825496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514600" y="31912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Parking, sharing, charging, streets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648456"/>
            <a:ext cx="731520" cy="731520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🛴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874520" y="3666744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14600" y="3630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E-Scooters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514600" y="40325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order &amp; shared systems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489704"/>
            <a:ext cx="731520" cy="73152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897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874520" y="4507992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514600" y="44714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Pedestrians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514600" y="4873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Walkability &amp; climate comfort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5330952"/>
            <a:ext cx="731520" cy="7315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330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874520" y="534924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514600" y="5312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Transport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2514600" y="5715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affordable, frequent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B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 /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2011680" cy="0"/>
          </a:xfrm>
          <a:prstGeom prst="line">
            <a:avLst/>
          </a:prstGeom>
          <a:noFill/>
          <a:ln w="28575">
            <a:solidFill>
              <a:srgbClr val="0B6E9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1480" y="576072"/>
            <a:ext cx="91440" cy="9144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576072"/>
            <a:ext cx="91440" cy="9144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82296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07568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Lanes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protected lanes separating cyclists from car traffic.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07738" y="187452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8906" y="207568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6" name="Text 14"/>
          <p:cNvSpPr/>
          <p:nvPr/>
        </p:nvSpPr>
        <p:spPr>
          <a:xfrm>
            <a:off x="4508906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48986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Infrastructure Planning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08906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analysis of usage patterns to plan and prioritize new bike infrastructure.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58277" y="187452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9445" y="207568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21" name="Text 19"/>
          <p:cNvSpPr/>
          <p:nvPr/>
        </p:nvSpPr>
        <p:spPr>
          <a:xfrm>
            <a:off x="8359445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99525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Bike-Share Systems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59445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 and campus-wide shared bike networks for flexible, short trips.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22452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98448" y="419709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Laws Against Dangerous Behaviour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8368" y="479145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rules and enforcement against reckless or unsafe riding and driving near cyclists.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07738" y="402336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08906" y="422452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31" name="Text 29"/>
          <p:cNvSpPr/>
          <p:nvPr/>
        </p:nvSpPr>
        <p:spPr>
          <a:xfrm>
            <a:off x="4508906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148986" y="419709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Rickshaws for People with Disabilities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508906" y="479145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rickshaws providing inclusive, low-effort mobility options.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58277" y="402336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59445" y="422452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36" name="Text 34"/>
          <p:cNvSpPr/>
          <p:nvPr/>
        </p:nvSpPr>
        <p:spPr>
          <a:xfrm>
            <a:off x="8359445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999525" y="419709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Helmets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359445" y="479145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and, where sensible, requiring helmet use for rider safety.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B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 /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2011680" cy="0"/>
          </a:xfrm>
          <a:prstGeom prst="line">
            <a:avLst/>
          </a:prstGeom>
          <a:noFill/>
          <a:ln w="28575">
            <a:solidFill>
              <a:srgbClr val="1C93A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1480" y="576072"/>
            <a:ext cx="91440" cy="9144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576072"/>
            <a:ext cx="91440" cy="9144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82296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786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075688"/>
            <a:ext cx="502920" cy="50292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🅿️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2048256"/>
            <a:ext cx="443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 &amp; Ride at City Borders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2642616"/>
            <a:ext cx="50762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lots on the outskirts of the city to intercept cars before they enter the center.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5868" y="1874520"/>
            <a:ext cx="54786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7036" y="2075688"/>
            <a:ext cx="502920" cy="50292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457036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97116" y="2048256"/>
            <a:ext cx="443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Cars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7036" y="2642616"/>
            <a:ext cx="50762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Car-sharing fleets reducing the number of privately owned vehicles.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54786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087368"/>
            <a:ext cx="502920" cy="50292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98448" y="4059936"/>
            <a:ext cx="443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Stations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" y="4654296"/>
            <a:ext cx="50762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EV charging infrastructure to support the shift to electric mobility.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55868" y="3886200"/>
            <a:ext cx="54786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7036" y="4087368"/>
            <a:ext cx="502920" cy="502920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26" name="Text 24"/>
          <p:cNvSpPr/>
          <p:nvPr/>
        </p:nvSpPr>
        <p:spPr>
          <a:xfrm>
            <a:off x="6457036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97116" y="4059936"/>
            <a:ext cx="4436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Permeable Streets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57036" y="4654296"/>
            <a:ext cx="50762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Permeable pavement that lets rainwater seep through, reducing runoff and flooding.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B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3 /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2011680" cy="0"/>
          </a:xfrm>
          <a:prstGeom prst="line">
            <a:avLst/>
          </a:prstGeom>
          <a:noFill/>
          <a:ln w="28575">
            <a:solidFill>
              <a:srgbClr val="3EC1B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1480" y="576072"/>
            <a:ext cx="91440" cy="91440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576072"/>
            <a:ext cx="91440" cy="91440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822960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🛴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E-Scooters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557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075688"/>
            <a:ext cx="502920" cy="502920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🅿️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2048256"/>
            <a:ext cx="441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Organised Parking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2642616"/>
            <a:ext cx="5053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Designated, clearly marked parking zones keep scooters off sidewalks and out of the way of pedestrians and emergency access.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1874520"/>
            <a:ext cx="54557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9896" y="2075688"/>
            <a:ext cx="502920" cy="502920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16" name="Text 14"/>
          <p:cNvSpPr/>
          <p:nvPr/>
        </p:nvSpPr>
        <p:spPr>
          <a:xfrm>
            <a:off x="6479896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19976" y="2048256"/>
            <a:ext cx="441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System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79896" y="2642616"/>
            <a:ext cx="5053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 and campus-run shared scooter fleets offer flexible short-distance mobility without private ownership.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B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4 /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2011680" cy="0"/>
          </a:xfrm>
          <a:prstGeom prst="line">
            <a:avLst/>
          </a:prstGeom>
          <a:noFill/>
          <a:ln w="28575">
            <a:solidFill>
              <a:srgbClr val="F4A6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1480" y="576072"/>
            <a:ext cx="91440" cy="9144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576072"/>
            <a:ext cx="91440" cy="9144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82296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Pedestrians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075688"/>
            <a:ext cx="502920" cy="50292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Walkable Cities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mixed-use layouts that make walking the easiest way to get around.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07738" y="187452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8906" y="2075688"/>
            <a:ext cx="502920" cy="50292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08906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48986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 &amp; Underpasses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08906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crossings for people — and dedicated wildlife crossings for animals.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58277" y="187452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9445" y="2075688"/>
            <a:ext cx="502920" cy="50292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59445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99525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Adaptation — Shade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59445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and shading structures to keep walking routes cool.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82469" y="425196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83637" y="4453128"/>
            <a:ext cx="502920" cy="50292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26" name="Text 24"/>
          <p:cNvSpPr/>
          <p:nvPr/>
        </p:nvSpPr>
        <p:spPr>
          <a:xfrm>
            <a:off x="2583637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💦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23717" y="442569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Sprinklers &amp; Cooling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583637" y="502005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misting and sprinkler features for relief during heat waves.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33008" y="425196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34176" y="4453128"/>
            <a:ext cx="502920" cy="502920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4176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🚰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74256" y="442569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Water &amp; Open Spaces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34176" y="502005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spaces with no pressure to consume, plus free drinking water sources.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B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 /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2011680" cy="0"/>
          </a:xfrm>
          <a:prstGeom prst="line">
            <a:avLst/>
          </a:prstGeom>
          <a:noFill/>
          <a:ln w="28575">
            <a:solidFill>
              <a:srgbClr val="0B6E9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1480" y="576072"/>
            <a:ext cx="91440" cy="9144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576072"/>
            <a:ext cx="91440" cy="9144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82296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Transportation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07568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Conditioning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Comfortable, climate-controlled vehicles for hot summer months.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07738" y="187452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8906" y="207568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6" name="Text 14"/>
          <p:cNvSpPr/>
          <p:nvPr/>
        </p:nvSpPr>
        <p:spPr>
          <a:xfrm>
            <a:off x="4508906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48986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Maintenance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08906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Well-maintained vehicles and infrastructure to ensure reliability and safety.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58277" y="187452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9445" y="207568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21" name="Text 19"/>
          <p:cNvSpPr/>
          <p:nvPr/>
        </p:nvSpPr>
        <p:spPr>
          <a:xfrm>
            <a:off x="8359445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99525" y="204825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Pricing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59445" y="264261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fares so public transport remains accessible to everyone.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82469" y="425196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83637" y="445312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26" name="Text 24"/>
          <p:cNvSpPr/>
          <p:nvPr/>
        </p:nvSpPr>
        <p:spPr>
          <a:xfrm>
            <a:off x="2583637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23717" y="442569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Workforce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583637" y="502005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well-paid drivers, with migration recognised as part of the solution.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33008" y="4251960"/>
            <a:ext cx="35762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76200" dist="25400" dir="5400000">
              <a:srgbClr val="1F3B4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34176" y="4453128"/>
            <a:ext cx="502920" cy="502920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31" name="Text 29"/>
          <p:cNvSpPr/>
          <p:nvPr/>
        </p:nvSpPr>
        <p:spPr>
          <a:xfrm>
            <a:off x="6434176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74256" y="4425696"/>
            <a:ext cx="2533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Frequency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34176" y="5020056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departures to reduce waiting times and increase reliability.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B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0B6E99">
                <a:alpha val="45000"/>
              </a:srgbClr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12700">
            <a:solidFill>
              <a:srgbClr val="1C93A3">
                <a:alpha val="45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0B6E99">
                <a:alpha val="4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12700">
            <a:solidFill>
              <a:srgbClr val="1C93A3">
                <a:alpha val="45000"/>
              </a:srgbClr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E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cities and campuses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forward, together.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566928" cy="566928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600200" y="4480560"/>
            <a:ext cx="566928" cy="566928"/>
          </a:xfrm>
          <a:prstGeom prst="ellipse">
            <a:avLst/>
          </a:prstGeom>
          <a:solidFill>
            <a:srgbClr val="1C93A3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77440" y="4480560"/>
            <a:ext cx="566928" cy="566928"/>
          </a:xfrm>
          <a:prstGeom prst="ellipse">
            <a:avLst/>
          </a:prstGeom>
          <a:solidFill>
            <a:srgbClr val="3EC1B0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🛴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154680" y="4480560"/>
            <a:ext cx="566928" cy="566928"/>
          </a:xfrm>
          <a:prstGeom prst="ellipse">
            <a:avLst/>
          </a:prstGeom>
          <a:solidFill>
            <a:srgbClr val="F4A63A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931920" y="4480560"/>
            <a:ext cx="566928" cy="566928"/>
          </a:xfrm>
          <a:prstGeom prst="ellipse">
            <a:avLst/>
          </a:prstGeom>
          <a:solidFill>
            <a:srgbClr val="0B6E99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CAMPUS MOBILITY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2026-09-10T09:15:44Z</dcterms:created>
  <dcterms:modified xsi:type="dcterms:W3CDTF">2026-09-10T09:15:44Z</dcterms:modified>
</cp:coreProperties>
</file>